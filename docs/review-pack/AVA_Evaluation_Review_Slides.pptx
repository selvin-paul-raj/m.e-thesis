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a provisional review structure derived from my supplied thesis specification; I do not have an official KEC template or module titles. I will explain the research problem, proposed evaluation, current literature risks and next gates. The owl is a teaching analogy for careful observation only; it is not evidence or a method.”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eight provisional modules. Say explicitly that these titles are an explanatory sequence, not official college module names. The order moves from problem framing to evaluation and limits.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replicas receiving identical events is a delivery property. It does not decide whether conflicting values can both be true or which one is valid. The turtle is only an analogy for pausing before an unsafe merge, not a model component.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A is a standard mergeable collection, while Q is a one-valued assertion per key. The bee represents distinct roles in one ecosystem as an analogy only. The database example in the spec may encode different roles and must be fixed or treated as a different-key control.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four examples. Emphasize that soft vs hard needs an operational rule: time and policy context can turn a seeming conflict into a resolvable transition. The Fox is a friendly visual analogy for noticing differences, not a source of truth.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Verify is an intermediate action, not a terminal label. In convergence-bearing conditions, the evidence check must be deterministic and pure over canonical inputs. A model call in Verify is a separate non-convergence-safe benchmark condition unless decision caching/replay makes it deterministic.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specification’s arms mix different layers. Explain that B1 chooses a winner and B7 is a safety baseline, while B2–B6 generate semantic or structured judgments. AVA needs explicit mappings from classifier outputs into policy actions. Never compare them as though they were interchangeable.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is proposed, not already collected. A record should preserve key and temporal context so compatible statements are not mislabeled. Human annotation, agreement and adjudication are planned; sample size and annotation capacity are still open.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denominators. False-merge rate is restricted to actual conflicts and incorrect final Agree. False-conflict rate counts failure to safely resolve actual paraphrase/compatible cases. Unnecessary abstention is intentionally double-reported as its own mechanism and as part of FCR; they do not sum to 100%.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experimental scaffold: agents append immutable events; the network changes delivery timing/order; each replica builds a projection. The penguin group is a simple analogy for agents remaining in a group despite asynchronous movement, not a claim about protocol behavior. First test convergence with no semantic model.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condition carefully: eventual receipt of the same valid set is not enough unless canonicalization and resolution are deterministic. “State” must be defined—event set, status map, resolved semantic value, or retrieval view. This is a target to validate, not a completed proof.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map of partial evidence, not an exhaustive literature review. Explain the task boundaries: MELD uses distinct keys in its diagnostic pairs; SubtleMemory evaluates long-history downstream QA; S-Bus addresses structural concurrency; StateFuse/TOKI overlap preservation and resolution elements. No absence-of-prior-art claim follows. Sources: MELD https://arxiv.org/html/2608.16357v1 ; StateFuse https://arxiv.org/html/2607.05844v1 ; TOKI https://arxiv.org/html/2606.06240v1 ; SubtleMemory v3 https://arxiv.org/html/2606.05761v3 ; S-Bus https://arxiv.org/html/2605.17076v2 ; Semantic Consensus https://arxiv.org/html/2604.16339v1 ; ECon https://arxiv.org/html/2410.04068v1 ; RefNLI https://arxiv.org/html/2502.05793v1 ; ANLI https://arxiv.org/html/1910.14599v2.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qualification exactly. MELD’s pair count is not a strict same-key set. CodeCRDT’s range came from a small manual sample. SCF’s 65.2 is recall, not accuracy. Freshness results compare pipelines, and the executor-only result does not establish a strong isolated resolver advantage.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open design questions, not college questions to answer on the spot. The project has no supplied official module titles, supervisor requirements, deadline schedule, annotation budget or experimental results. Do not invent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sequence begins with research and design decisions, not coding. The project’s own finalized spec makes Pass 3 a precondition for implementation or thesis/paper drafting. If the candidate gap is not supported, narrow, reframe or abandon it; do not move goalposts after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“AVA is a testable question, not a claim that AI is better. I will compare safe resolution with careful abstention and preserve a negative result as valid. Today I am asking for feedback on scope and design; I am not presenting results or claiming the novelty gate has passed.”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F36"/>
        </a:solidFill>
        <a:effectLst/>
      </p:bgPr>
    </p:bg>
    <p:spTree>
      <p:nvGrpSpPr>
        <p:cNvPr id="1" name=""/>
        <p:cNvGrpSpPr/>
        <p:nvPr/>
      </p:nvGrpSpPr>
      <p:grpSpPr/>
      <p:sp>
        <p:nvSpPr>
          <p:cNvPr id="2" name="Rectangle 1"/>
          <p:cNvSpPr/>
          <p:nvPr/>
        </p:nvSpPr>
        <p:spPr>
          <a:xfrm>
            <a:off x="0" y="0"/>
            <a:ext cx="12191695" cy="146304"/>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94360"/>
            <a:ext cx="10698480" cy="274320"/>
          </a:xfrm>
          <a:prstGeom prst="rect">
            <a:avLst/>
          </a:prstGeom>
          <a:noFill/>
        </p:spPr>
        <p:txBody>
          <a:bodyPr wrap="square" lIns="73152" rIns="73152" tIns="73152" bIns="73152">
            <a:spAutoFit/>
          </a:bodyPr>
          <a:lstStyle/>
          <a:p>
            <a:pPr algn="l">
              <a:defRPr sz="1100" b="1">
                <a:solidFill>
                  <a:srgbClr val="A9D6C6"/>
                </a:solidFill>
                <a:latin typeface="Aptos"/>
              </a:defRPr>
            </a:pPr>
            <a:r>
              <a:t>M.E. MODEL PROJECT REVIEW • PROVISIONAL STRUCTURE</a:t>
            </a:r>
          </a:p>
        </p:txBody>
      </p:sp>
      <p:sp>
        <p:nvSpPr>
          <p:cNvPr id="4" name="TextBox 3"/>
          <p:cNvSpPr txBox="1"/>
          <p:nvPr/>
        </p:nvSpPr>
        <p:spPr>
          <a:xfrm>
            <a:off x="731520" y="1143000"/>
            <a:ext cx="7315200" cy="1188720"/>
          </a:xfrm>
          <a:prstGeom prst="rect">
            <a:avLst/>
          </a:prstGeom>
          <a:noFill/>
        </p:spPr>
        <p:txBody>
          <a:bodyPr wrap="square" lIns="73152" rIns="73152" tIns="73152" bIns="73152">
            <a:spAutoFit/>
          </a:bodyPr>
          <a:lstStyle/>
          <a:p>
            <a:pPr algn="l">
              <a:defRPr sz="3400" b="1">
                <a:solidFill>
                  <a:srgbClr val="FFFFFF"/>
                </a:solidFill>
                <a:latin typeface="Aptos"/>
              </a:defRPr>
            </a:pPr>
            <a:r>
              <a:t>AVA</a:t>
            </a:r>
            <a:br/>
            <a:r>
              <a:t>Evaluation</a:t>
            </a:r>
          </a:p>
        </p:txBody>
      </p:sp>
      <p:sp>
        <p:nvSpPr>
          <p:cNvPr id="5" name="TextBox 4"/>
          <p:cNvSpPr txBox="1"/>
          <p:nvPr/>
        </p:nvSpPr>
        <p:spPr>
          <a:xfrm>
            <a:off x="777240" y="2743200"/>
            <a:ext cx="7498079" cy="1097280"/>
          </a:xfrm>
          <a:prstGeom prst="rect">
            <a:avLst/>
          </a:prstGeom>
          <a:noFill/>
        </p:spPr>
        <p:txBody>
          <a:bodyPr wrap="square" lIns="73152" rIns="73152" tIns="73152" bIns="73152">
            <a:spAutoFit/>
          </a:bodyPr>
          <a:lstStyle/>
          <a:p>
            <a:pPr algn="l">
              <a:defRPr sz="1900" b="0">
                <a:solidFill>
                  <a:srgbClr val="E6EEE9"/>
                </a:solidFill>
                <a:latin typeface="Aptos"/>
              </a:defRPr>
            </a:pPr>
            <a:r>
              <a:t>An Empirical Study of Conflict Resolution for Assertional State in Multi-Agent AI Systems</a:t>
            </a:r>
          </a:p>
        </p:txBody>
      </p:sp>
      <p:sp>
        <p:nvSpPr>
          <p:cNvPr id="6" name="TextBox 5"/>
          <p:cNvSpPr txBox="1"/>
          <p:nvPr/>
        </p:nvSpPr>
        <p:spPr>
          <a:xfrm>
            <a:off x="777240" y="4160520"/>
            <a:ext cx="6766560" cy="502920"/>
          </a:xfrm>
          <a:prstGeom prst="rect">
            <a:avLst/>
          </a:prstGeom>
          <a:noFill/>
        </p:spPr>
        <p:txBody>
          <a:bodyPr wrap="square" lIns="73152" rIns="73152" tIns="73152" bIns="73152">
            <a:spAutoFit/>
          </a:bodyPr>
          <a:lstStyle/>
          <a:p>
            <a:pPr algn="l">
              <a:defRPr sz="1800" b="1">
                <a:solidFill>
                  <a:srgbClr val="E8B65A"/>
                </a:solidFill>
                <a:latin typeface="Aptos"/>
              </a:defRPr>
            </a:pPr>
            <a:r>
              <a:t>Agree · Verify · Abstain</a:t>
            </a:r>
          </a:p>
        </p:txBody>
      </p:sp>
      <p:sp>
        <p:nvSpPr>
          <p:cNvPr id="7" name="TextBox 6"/>
          <p:cNvSpPr txBox="1"/>
          <p:nvPr/>
        </p:nvSpPr>
        <p:spPr>
          <a:xfrm>
            <a:off x="777240" y="4892040"/>
            <a:ext cx="7863840" cy="640080"/>
          </a:xfrm>
          <a:prstGeom prst="rect">
            <a:avLst/>
          </a:prstGeom>
          <a:noFill/>
        </p:spPr>
        <p:txBody>
          <a:bodyPr wrap="square" lIns="73152" rIns="73152" tIns="73152" bIns="73152">
            <a:spAutoFit/>
          </a:bodyPr>
          <a:lstStyle/>
          <a:p>
            <a:pPr algn="l">
              <a:defRPr sz="1200" b="0">
                <a:solidFill>
                  <a:srgbClr val="D6E1DC"/>
                </a:solidFill>
                <a:latin typeface="Aptos"/>
              </a:defRPr>
            </a:pPr>
            <a:r>
              <a:t>Proposal/review aid — not an official KEC template, thesis chapter, or implementation report.</a:t>
            </a:r>
          </a:p>
        </p:txBody>
      </p:sp>
      <p:pic>
        <p:nvPicPr>
          <p:cNvPr id="8" name="Picture 7" descr="owl.png"/>
          <p:cNvPicPr>
            <a:picLocks noChangeAspect="1"/>
          </p:cNvPicPr>
          <p:nvPr/>
        </p:nvPicPr>
        <p:blipFill>
          <a:blip r:embed="rId2"/>
          <a:stretch>
            <a:fillRect/>
          </a:stretch>
        </p:blipFill>
        <p:spPr>
          <a:xfrm>
            <a:off x="8686800" y="1508760"/>
            <a:ext cx="2560320" cy="2560320"/>
          </a:xfrm>
          <a:prstGeom prst="rect">
            <a:avLst/>
          </a:prstGeom>
        </p:spPr>
      </p:pic>
      <p:sp>
        <p:nvSpPr>
          <p:cNvPr id="9" name="TextBox 8"/>
          <p:cNvSpPr txBox="1"/>
          <p:nvPr/>
        </p:nvSpPr>
        <p:spPr>
          <a:xfrm>
            <a:off x="8549640" y="4389120"/>
            <a:ext cx="2834640" cy="502920"/>
          </a:xfrm>
          <a:prstGeom prst="rect">
            <a:avLst/>
          </a:prstGeom>
          <a:noFill/>
        </p:spPr>
        <p:txBody>
          <a:bodyPr wrap="square" lIns="73152" rIns="73152" tIns="73152" bIns="73152">
            <a:spAutoFit/>
          </a:bodyPr>
          <a:lstStyle/>
          <a:p>
            <a:pPr algn="ctr">
              <a:defRPr sz="1000" b="1">
                <a:solidFill>
                  <a:srgbClr val="D6E1DC"/>
                </a:solidFill>
                <a:latin typeface="Aptos"/>
              </a:defRPr>
            </a:pPr>
            <a:r>
              <a:t>OWL ANALOGY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Eight provisional modules — a route through the proposal</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325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01</a:t>
            </a:r>
          </a:p>
        </p:txBody>
      </p:sp>
      <p:sp>
        <p:nvSpPr>
          <p:cNvPr id="9" name="TextBox 8"/>
          <p:cNvSpPr txBox="1"/>
          <p:nvPr/>
        </p:nvSpPr>
        <p:spPr>
          <a:xfrm>
            <a:off x="1362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Problem and background</a:t>
            </a:r>
          </a:p>
        </p:txBody>
      </p:sp>
      <p:sp>
        <p:nvSpPr>
          <p:cNvPr id="10" name="TextBox 9"/>
          <p:cNvSpPr txBox="1"/>
          <p:nvPr/>
        </p:nvSpPr>
        <p:spPr>
          <a:xfrm>
            <a:off x="1362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Why shared meaning can fail even when replicas agree</a:t>
            </a:r>
          </a:p>
        </p:txBody>
      </p:sp>
      <p:sp>
        <p:nvSpPr>
          <p:cNvPr id="11" name="Rounded Rectangle 10"/>
          <p:cNvSpPr/>
          <p:nvPr/>
        </p:nvSpPr>
        <p:spPr>
          <a:xfrm>
            <a:off x="6309360" y="1325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25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1435607"/>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02</a:t>
            </a:r>
          </a:p>
        </p:txBody>
      </p:sp>
      <p:sp>
        <p:nvSpPr>
          <p:cNvPr id="14" name="TextBox 13"/>
          <p:cNvSpPr txBox="1"/>
          <p:nvPr/>
        </p:nvSpPr>
        <p:spPr>
          <a:xfrm>
            <a:off x="7077456" y="1417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Scope and state model</a:t>
            </a:r>
          </a:p>
        </p:txBody>
      </p:sp>
      <p:sp>
        <p:nvSpPr>
          <p:cNvPr id="15" name="TextBox 14"/>
          <p:cNvSpPr txBox="1"/>
          <p:nvPr/>
        </p:nvSpPr>
        <p:spPr>
          <a:xfrm>
            <a:off x="7077456" y="1837943"/>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Separate additive facts from single-valued assertions</a:t>
            </a:r>
          </a:p>
        </p:txBody>
      </p:sp>
      <p:sp>
        <p:nvSpPr>
          <p:cNvPr id="16" name="Rounded Rectangle 15"/>
          <p:cNvSpPr/>
          <p:nvPr/>
        </p:nvSpPr>
        <p:spPr>
          <a:xfrm>
            <a:off x="594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 y="2468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03</a:t>
            </a:r>
          </a:p>
        </p:txBody>
      </p:sp>
      <p:sp>
        <p:nvSpPr>
          <p:cNvPr id="19" name="TextBox 18"/>
          <p:cNvSpPr txBox="1"/>
          <p:nvPr/>
        </p:nvSpPr>
        <p:spPr>
          <a:xfrm>
            <a:off x="1362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Relation classes</a:t>
            </a:r>
          </a:p>
        </p:txBody>
      </p:sp>
      <p:sp>
        <p:nvSpPr>
          <p:cNvPr id="20" name="TextBox 19"/>
          <p:cNvSpPr txBox="1"/>
          <p:nvPr/>
        </p:nvSpPr>
        <p:spPr>
          <a:xfrm>
            <a:off x="1362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Classify the relationship before choosing a policy action</a:t>
            </a:r>
          </a:p>
        </p:txBody>
      </p:sp>
      <p:sp>
        <p:nvSpPr>
          <p:cNvPr id="21" name="Rounded Rectangle 20"/>
          <p:cNvSpPr/>
          <p:nvPr/>
        </p:nvSpPr>
        <p:spPr>
          <a:xfrm>
            <a:off x="6309360" y="2468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9360" y="2468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28816" y="2578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04</a:t>
            </a:r>
          </a:p>
        </p:txBody>
      </p:sp>
      <p:sp>
        <p:nvSpPr>
          <p:cNvPr id="24" name="TextBox 23"/>
          <p:cNvSpPr txBox="1"/>
          <p:nvPr/>
        </p:nvSpPr>
        <p:spPr>
          <a:xfrm>
            <a:off x="7077456" y="2560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Agree / Verify / Abstain model</a:t>
            </a:r>
          </a:p>
        </p:txBody>
      </p:sp>
      <p:sp>
        <p:nvSpPr>
          <p:cNvPr id="25" name="TextBox 24"/>
          <p:cNvSpPr txBox="1"/>
          <p:nvPr/>
        </p:nvSpPr>
        <p:spPr>
          <a:xfrm>
            <a:off x="7077456" y="2980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Keep policy actions distinct from terminal outcomes</a:t>
            </a:r>
          </a:p>
        </p:txBody>
      </p:sp>
      <p:sp>
        <p:nvSpPr>
          <p:cNvPr id="26" name="Rounded Rectangle 25"/>
          <p:cNvSpPr/>
          <p:nvPr/>
        </p:nvSpPr>
        <p:spPr>
          <a:xfrm>
            <a:off x="594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 y="3611880"/>
            <a:ext cx="109728" cy="9144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05</a:t>
            </a:r>
          </a:p>
        </p:txBody>
      </p:sp>
      <p:sp>
        <p:nvSpPr>
          <p:cNvPr id="29" name="TextBox 28"/>
          <p:cNvSpPr txBox="1"/>
          <p:nvPr/>
        </p:nvSpPr>
        <p:spPr>
          <a:xfrm>
            <a:off x="1362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Research questions and comparison arms</a:t>
            </a:r>
          </a:p>
        </p:txBody>
      </p:sp>
      <p:sp>
        <p:nvSpPr>
          <p:cNvPr id="30" name="TextBox 29"/>
          <p:cNvSpPr txBox="1"/>
          <p:nvPr/>
        </p:nvSpPr>
        <p:spPr>
          <a:xfrm>
            <a:off x="1362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Compare strong baselines fairly, and separate classifier from policy</a:t>
            </a:r>
          </a:p>
        </p:txBody>
      </p:sp>
      <p:sp>
        <p:nvSpPr>
          <p:cNvPr id="31" name="Rounded Rectangle 30"/>
          <p:cNvSpPr/>
          <p:nvPr/>
        </p:nvSpPr>
        <p:spPr>
          <a:xfrm>
            <a:off x="6309360" y="3611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3611880"/>
            <a:ext cx="109728" cy="9144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28816" y="3721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06</a:t>
            </a:r>
          </a:p>
        </p:txBody>
      </p:sp>
      <p:sp>
        <p:nvSpPr>
          <p:cNvPr id="34" name="TextBox 33"/>
          <p:cNvSpPr txBox="1"/>
          <p:nvPr/>
        </p:nvSpPr>
        <p:spPr>
          <a:xfrm>
            <a:off x="7077456" y="3703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Dataset, annotation and metrics</a:t>
            </a:r>
          </a:p>
        </p:txBody>
      </p:sp>
      <p:sp>
        <p:nvSpPr>
          <p:cNvPr id="35" name="TextBox 34"/>
          <p:cNvSpPr txBox="1"/>
          <p:nvPr/>
        </p:nvSpPr>
        <p:spPr>
          <a:xfrm>
            <a:off x="7077456" y="4123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Build a trustworthy gold set; report safety errors separately</a:t>
            </a:r>
          </a:p>
        </p:txBody>
      </p:sp>
      <p:sp>
        <p:nvSpPr>
          <p:cNvPr id="36" name="Rounded Rectangle 35"/>
          <p:cNvSpPr/>
          <p:nvPr/>
        </p:nvSpPr>
        <p:spPr>
          <a:xfrm>
            <a:off x="594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94360" y="4754880"/>
            <a:ext cx="109728" cy="9144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3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07</a:t>
            </a:r>
          </a:p>
        </p:txBody>
      </p:sp>
      <p:sp>
        <p:nvSpPr>
          <p:cNvPr id="39" name="TextBox 38"/>
          <p:cNvSpPr txBox="1"/>
          <p:nvPr/>
        </p:nvSpPr>
        <p:spPr>
          <a:xfrm>
            <a:off x="1362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SCP-MA experiment and convergence target</a:t>
            </a:r>
          </a:p>
        </p:txBody>
      </p:sp>
      <p:sp>
        <p:nvSpPr>
          <p:cNvPr id="40" name="TextBox 39"/>
          <p:cNvSpPr txBox="1"/>
          <p:nvPr/>
        </p:nvSpPr>
        <p:spPr>
          <a:xfrm>
            <a:off x="1362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Use a minimal fault simulator only after the research gate</a:t>
            </a:r>
          </a:p>
        </p:txBody>
      </p:sp>
      <p:sp>
        <p:nvSpPr>
          <p:cNvPr id="41" name="Rounded Rectangle 40"/>
          <p:cNvSpPr/>
          <p:nvPr/>
        </p:nvSpPr>
        <p:spPr>
          <a:xfrm>
            <a:off x="6309360" y="4754880"/>
            <a:ext cx="5349240" cy="9144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09360" y="4754880"/>
            <a:ext cx="109728" cy="91440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28816" y="4864608"/>
            <a:ext cx="475488" cy="320040"/>
          </a:xfrm>
          <a:prstGeom prst="rect">
            <a:avLst/>
          </a:prstGeom>
          <a:noFill/>
        </p:spPr>
        <p:txBody>
          <a:bodyPr wrap="square" lIns="73152" rIns="73152" tIns="73152" bIns="73152">
            <a:spAutoFit/>
          </a:bodyPr>
          <a:lstStyle/>
          <a:p>
            <a:pPr algn="l">
              <a:defRPr sz="1400" b="1">
                <a:solidFill>
                  <a:srgbClr val="2F7775"/>
                </a:solidFill>
                <a:latin typeface="Aptos"/>
              </a:defRPr>
            </a:pPr>
            <a:r>
              <a:t>08</a:t>
            </a:r>
          </a:p>
        </p:txBody>
      </p:sp>
      <p:sp>
        <p:nvSpPr>
          <p:cNvPr id="44" name="TextBox 43"/>
          <p:cNvSpPr txBox="1"/>
          <p:nvPr/>
        </p:nvSpPr>
        <p:spPr>
          <a:xfrm>
            <a:off x="7077456" y="4846320"/>
            <a:ext cx="4370832" cy="384048"/>
          </a:xfrm>
          <a:prstGeom prst="rect">
            <a:avLst/>
          </a:prstGeom>
          <a:noFill/>
        </p:spPr>
        <p:txBody>
          <a:bodyPr wrap="square" lIns="73152" rIns="73152" tIns="73152" bIns="73152">
            <a:spAutoFit/>
          </a:bodyPr>
          <a:lstStyle/>
          <a:p>
            <a:pPr algn="l">
              <a:defRPr sz="1200" b="1">
                <a:solidFill>
                  <a:srgbClr val="173B43"/>
                </a:solidFill>
                <a:latin typeface="Aptos"/>
              </a:defRPr>
            </a:pPr>
            <a:r>
              <a:t>Risks, limitations and staged plan</a:t>
            </a:r>
          </a:p>
        </p:txBody>
      </p:sp>
      <p:sp>
        <p:nvSpPr>
          <p:cNvPr id="45" name="TextBox 44"/>
          <p:cNvSpPr txBox="1"/>
          <p:nvPr/>
        </p:nvSpPr>
        <p:spPr>
          <a:xfrm>
            <a:off x="7077456" y="5266944"/>
            <a:ext cx="4315968" cy="274320"/>
          </a:xfrm>
          <a:prstGeom prst="rect">
            <a:avLst/>
          </a:prstGeom>
          <a:noFill/>
        </p:spPr>
        <p:txBody>
          <a:bodyPr wrap="square" lIns="73152" rIns="73152" tIns="73152" bIns="73152">
            <a:spAutoFit/>
          </a:bodyPr>
          <a:lstStyle/>
          <a:p>
            <a:pPr algn="l">
              <a:defRPr sz="900" b="0">
                <a:solidFill>
                  <a:srgbClr val="64777A"/>
                </a:solidFill>
                <a:latin typeface="Aptos"/>
              </a:defRPr>
            </a:pPr>
            <a:r>
              <a:t>Protect the research gate and keep the M.E. scope manageable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Replicas can agree while meaning stays unsafe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280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2953512" cy="320040"/>
          </a:xfrm>
          <a:prstGeom prst="rect">
            <a:avLst/>
          </a:prstGeom>
          <a:noFill/>
        </p:spPr>
        <p:txBody>
          <a:bodyPr wrap="square" lIns="73152" rIns="73152" tIns="73152" bIns="73152">
            <a:spAutoFit/>
          </a:bodyPr>
          <a:lstStyle/>
          <a:p>
            <a:pPr algn="l">
              <a:defRPr sz="1500" b="1">
                <a:solidFill>
                  <a:srgbClr val="2F7775"/>
                </a:solidFill>
                <a:latin typeface="Aptos"/>
              </a:defRPr>
            </a:pPr>
            <a:r>
              <a:t>Agent A</a:t>
            </a:r>
          </a:p>
        </p:txBody>
      </p:sp>
      <p:sp>
        <p:nvSpPr>
          <p:cNvPr id="9" name="TextBox 8"/>
          <p:cNvSpPr txBox="1"/>
          <p:nvPr/>
        </p:nvSpPr>
        <p:spPr>
          <a:xfrm>
            <a:off x="822959"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PostgreSQL</a:t>
            </a:r>
          </a:p>
        </p:txBody>
      </p:sp>
      <p:sp>
        <p:nvSpPr>
          <p:cNvPr id="10" name="Rounded Rectangle 9"/>
          <p:cNvSpPr/>
          <p:nvPr/>
        </p:nvSpPr>
        <p:spPr>
          <a:xfrm>
            <a:off x="4069080" y="1417320"/>
            <a:ext cx="3246120" cy="12801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1417320"/>
            <a:ext cx="82296" cy="128016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60" y="1527048"/>
            <a:ext cx="2953512" cy="320040"/>
          </a:xfrm>
          <a:prstGeom prst="rect">
            <a:avLst/>
          </a:prstGeom>
          <a:noFill/>
        </p:spPr>
        <p:txBody>
          <a:bodyPr wrap="square" lIns="73152" rIns="73152" tIns="73152" bIns="73152">
            <a:spAutoFit/>
          </a:bodyPr>
          <a:lstStyle/>
          <a:p>
            <a:pPr algn="l">
              <a:defRPr sz="1500" b="1">
                <a:solidFill>
                  <a:srgbClr val="D97862"/>
                </a:solidFill>
                <a:latin typeface="Aptos"/>
              </a:defRPr>
            </a:pPr>
            <a:r>
              <a:t>Agent B</a:t>
            </a:r>
          </a:p>
        </p:txBody>
      </p:sp>
      <p:sp>
        <p:nvSpPr>
          <p:cNvPr id="13" name="TextBox 12"/>
          <p:cNvSpPr txBox="1"/>
          <p:nvPr/>
        </p:nvSpPr>
        <p:spPr>
          <a:xfrm>
            <a:off x="4251960" y="1901952"/>
            <a:ext cx="2935224" cy="713231"/>
          </a:xfrm>
          <a:prstGeom prst="rect">
            <a:avLst/>
          </a:prstGeom>
          <a:noFill/>
        </p:spPr>
        <p:txBody>
          <a:bodyPr wrap="square" lIns="73152" rIns="73152" tIns="73152" bIns="73152">
            <a:spAutoFit/>
          </a:bodyPr>
          <a:lstStyle/>
          <a:p>
            <a:pPr algn="l">
              <a:defRPr sz="1600" b="0">
                <a:solidFill>
                  <a:srgbClr val="203338"/>
                </a:solidFill>
                <a:latin typeface="Aptos"/>
              </a:defRPr>
            </a:pPr>
            <a:r>
              <a:t>database = DynamoDB</a:t>
            </a:r>
          </a:p>
        </p:txBody>
      </p:sp>
      <p:cxnSp>
        <p:nvCxnSpPr>
          <p:cNvPr id="14" name="Connector 13"/>
          <p:cNvCxnSpPr/>
          <p:nvPr/>
        </p:nvCxnSpPr>
        <p:spPr>
          <a:xfrm>
            <a:off x="3886200" y="2048256"/>
            <a:ext cx="155448"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240280" y="3063240"/>
            <a:ext cx="5029200" cy="96012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23160" y="3264408"/>
            <a:ext cx="4663440" cy="457200"/>
          </a:xfrm>
          <a:prstGeom prst="rect">
            <a:avLst/>
          </a:prstGeom>
          <a:noFill/>
        </p:spPr>
        <p:txBody>
          <a:bodyPr wrap="square" lIns="73152" rIns="73152" tIns="73152" bIns="73152">
            <a:spAutoFit/>
          </a:bodyPr>
          <a:lstStyle/>
          <a:p>
            <a:pPr algn="ctr">
              <a:defRPr sz="1800" b="1">
                <a:solidFill>
                  <a:srgbClr val="FFFFFF"/>
                </a:solidFill>
                <a:latin typeface="Aptos"/>
              </a:defRPr>
            </a:pPr>
            <a:r>
              <a:t>Both events reach every replica</a:t>
            </a:r>
          </a:p>
        </p:txBody>
      </p:sp>
      <p:cxnSp>
        <p:nvCxnSpPr>
          <p:cNvPr id="17" name="Connector 16"/>
          <p:cNvCxnSpPr/>
          <p:nvPr/>
        </p:nvCxnSpPr>
        <p:spPr>
          <a:xfrm>
            <a:off x="4754880" y="2697480"/>
            <a:ext cx="0" cy="338328"/>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772400" y="1417320"/>
            <a:ext cx="3520440" cy="26060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0" y="1417320"/>
            <a:ext cx="82296" cy="26060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What AVA asks</a:t>
            </a:r>
          </a:p>
        </p:txBody>
      </p:sp>
      <p:sp>
        <p:nvSpPr>
          <p:cNvPr id="21" name="TextBox 20"/>
          <p:cNvSpPr txBox="1"/>
          <p:nvPr/>
        </p:nvSpPr>
        <p:spPr>
          <a:xfrm>
            <a:off x="7955279" y="1901952"/>
            <a:ext cx="3209544" cy="2039112"/>
          </a:xfrm>
          <a:prstGeom prst="rect">
            <a:avLst/>
          </a:prstGeom>
          <a:noFill/>
        </p:spPr>
        <p:txBody>
          <a:bodyPr wrap="square" lIns="73152" rIns="73152" tIns="73152" bIns="73152">
            <a:spAutoFit/>
          </a:bodyPr>
          <a:lstStyle/>
          <a:p>
            <a:pPr algn="l">
              <a:defRPr sz="1500" b="0">
                <a:solidFill>
                  <a:srgbClr val="203338"/>
                </a:solidFill>
                <a:latin typeface="Aptos"/>
              </a:defRPr>
            </a:pPr>
            <a:r>
              <a:t>Are the claims paraphrases, compatible, soft conflict or hard conflict?</a:t>
            </a:r>
            <a:br/>
            <a:br/>
            <a:r>
              <a:t>Should the system agree, verify or abstain?</a:t>
            </a:r>
          </a:p>
        </p:txBody>
      </p:sp>
      <p:pic>
        <p:nvPicPr>
          <p:cNvPr id="22" name="Picture 21" descr="turtle.png"/>
          <p:cNvPicPr>
            <a:picLocks noChangeAspect="1"/>
          </p:cNvPicPr>
          <p:nvPr/>
        </p:nvPicPr>
        <p:blipFill>
          <a:blip r:embed="rId2"/>
          <a:stretch>
            <a:fillRect/>
          </a:stretch>
        </p:blipFill>
        <p:spPr>
          <a:xfrm>
            <a:off x="9235440" y="4160520"/>
            <a:ext cx="1234440" cy="1234440"/>
          </a:xfrm>
          <a:prstGeom prst="rect">
            <a:avLst/>
          </a:prstGeom>
        </p:spPr>
      </p:pic>
      <p:sp>
        <p:nvSpPr>
          <p:cNvPr id="23" name="TextBox 22"/>
          <p:cNvSpPr txBox="1"/>
          <p:nvPr/>
        </p:nvSpPr>
        <p:spPr>
          <a:xfrm>
            <a:off x="8595360" y="5486400"/>
            <a:ext cx="2560320" cy="365760"/>
          </a:xfrm>
          <a:prstGeom prst="rect">
            <a:avLst/>
          </a:prstGeom>
          <a:noFill/>
        </p:spPr>
        <p:txBody>
          <a:bodyPr wrap="square" lIns="73152" rIns="73152" tIns="73152" bIns="73152">
            <a:spAutoFit/>
          </a:bodyPr>
          <a:lstStyle/>
          <a:p>
            <a:pPr algn="ctr">
              <a:defRPr sz="900" b="1">
                <a:solidFill>
                  <a:srgbClr val="64777A"/>
                </a:solidFill>
                <a:latin typeface="Aptos"/>
              </a:defRPr>
            </a:pPr>
            <a:r>
              <a:t>TURTLE ANALOGY: pause before merging</a:t>
            </a:r>
          </a:p>
        </p:txBody>
      </p:sp>
      <p:sp>
        <p:nvSpPr>
          <p:cNvPr id="24" name="TextBox 23"/>
          <p:cNvSpPr txBox="1"/>
          <p:nvPr/>
        </p:nvSpPr>
        <p:spPr>
          <a:xfrm>
            <a:off x="777240" y="4572000"/>
            <a:ext cx="6583680" cy="731520"/>
          </a:xfrm>
          <a:prstGeom prst="rect">
            <a:avLst/>
          </a:prstGeom>
          <a:noFill/>
        </p:spPr>
        <p:txBody>
          <a:bodyPr wrap="square" lIns="73152" rIns="73152" tIns="73152" bIns="73152">
            <a:spAutoFit/>
          </a:bodyPr>
          <a:lstStyle/>
          <a:p>
            <a:pPr algn="ctr">
              <a:defRPr sz="2200" b="1">
                <a:solidFill>
                  <a:srgbClr val="173B43"/>
                </a:solidFill>
                <a:latin typeface="Aptos"/>
              </a:defRPr>
            </a:pPr>
            <a:r>
              <a:t>Mechanical replication ≠ semantic correctness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Scope: additive state versus assertional state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27048"/>
            <a:ext cx="3547872" cy="320040"/>
          </a:xfrm>
          <a:prstGeom prst="rect">
            <a:avLst/>
          </a:prstGeom>
          <a:noFill/>
        </p:spPr>
        <p:txBody>
          <a:bodyPr wrap="square" lIns="73152" rIns="73152" tIns="73152" bIns="73152">
            <a:spAutoFit/>
          </a:bodyPr>
          <a:lstStyle/>
          <a:p>
            <a:pPr algn="l">
              <a:defRPr sz="1500" b="1">
                <a:solidFill>
                  <a:srgbClr val="2F7775"/>
                </a:solidFill>
                <a:latin typeface="Aptos"/>
              </a:defRPr>
            </a:pPr>
            <a:r>
              <a:t>A • Additive state</a:t>
            </a:r>
          </a:p>
        </p:txBody>
      </p:sp>
      <p:sp>
        <p:nvSpPr>
          <p:cNvPr id="9" name="TextBox 8"/>
          <p:cNvSpPr txBox="1"/>
          <p:nvPr/>
        </p:nvSpPr>
        <p:spPr>
          <a:xfrm>
            <a:off x="86868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Logs, observations, discovered entities</a:t>
            </a:r>
            <a:br/>
            <a:r>
              <a:t>Mergeable facts; standard G-Set / OR-Set CRDTs</a:t>
            </a:r>
            <a:br/>
            <a:r>
              <a:t>Not claimed as novel</a:t>
            </a:r>
          </a:p>
        </p:txBody>
      </p:sp>
      <p:sp>
        <p:nvSpPr>
          <p:cNvPr id="10" name="Rounded Rectangle 9"/>
          <p:cNvSpPr/>
          <p:nvPr/>
        </p:nvSpPr>
        <p:spPr>
          <a:xfrm>
            <a:off x="4754880" y="1417320"/>
            <a:ext cx="384048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60" y="1527048"/>
            <a:ext cx="3547872" cy="320040"/>
          </a:xfrm>
          <a:prstGeom prst="rect">
            <a:avLst/>
          </a:prstGeom>
          <a:noFill/>
        </p:spPr>
        <p:txBody>
          <a:bodyPr wrap="square" lIns="73152" rIns="73152" tIns="73152" bIns="73152">
            <a:spAutoFit/>
          </a:bodyPr>
          <a:lstStyle/>
          <a:p>
            <a:pPr algn="l">
              <a:defRPr sz="1500" b="1">
                <a:solidFill>
                  <a:srgbClr val="D97862"/>
                </a:solidFill>
                <a:latin typeface="Aptos"/>
              </a:defRPr>
            </a:pPr>
            <a:r>
              <a:t>Q • Assertional state</a:t>
            </a:r>
          </a:p>
        </p:txBody>
      </p:sp>
      <p:sp>
        <p:nvSpPr>
          <p:cNvPr id="13" name="TextBox 12"/>
          <p:cNvSpPr txBox="1"/>
          <p:nvPr/>
        </p:nvSpPr>
        <p:spPr>
          <a:xfrm>
            <a:off x="4937760" y="1901952"/>
            <a:ext cx="3529584" cy="1261872"/>
          </a:xfrm>
          <a:prstGeom prst="rect">
            <a:avLst/>
          </a:prstGeom>
          <a:noFill/>
        </p:spPr>
        <p:txBody>
          <a:bodyPr wrap="square" lIns="73152" rIns="73152" tIns="73152" bIns="73152">
            <a:spAutoFit/>
          </a:bodyPr>
          <a:lstStyle/>
          <a:p>
            <a:pPr algn="l">
              <a:defRPr sz="1400" b="0">
                <a:solidFill>
                  <a:srgbClr val="203338"/>
                </a:solidFill>
                <a:latin typeface="Aptos"/>
              </a:defRPr>
            </a:pPr>
            <a:r>
              <a:t>Single-valued fact per declared key</a:t>
            </a:r>
            <a:br/>
            <a:r>
              <a:t>Competing values may conflict</a:t>
            </a:r>
            <a:br/>
            <a:r>
              <a:t>Primary research object</a:t>
            </a:r>
          </a:p>
        </p:txBody>
      </p:sp>
      <p:pic>
        <p:nvPicPr>
          <p:cNvPr id="14" name="Picture 13" descr="bee.png"/>
          <p:cNvPicPr>
            <a:picLocks noChangeAspect="1"/>
          </p:cNvPicPr>
          <p:nvPr/>
        </p:nvPicPr>
        <p:blipFill>
          <a:blip r:embed="rId2"/>
          <a:stretch>
            <a:fillRect/>
          </a:stretch>
        </p:blipFill>
        <p:spPr>
          <a:xfrm>
            <a:off x="9189720" y="1508760"/>
            <a:ext cx="1417320" cy="1417320"/>
          </a:xfrm>
          <a:prstGeom prst="rect">
            <a:avLst/>
          </a:prstGeom>
        </p:spPr>
      </p:pic>
      <p:sp>
        <p:nvSpPr>
          <p:cNvPr id="15" name="TextBox 14"/>
          <p:cNvSpPr txBox="1"/>
          <p:nvPr/>
        </p:nvSpPr>
        <p:spPr>
          <a:xfrm>
            <a:off x="8549640" y="2971800"/>
            <a:ext cx="2651760" cy="411480"/>
          </a:xfrm>
          <a:prstGeom prst="rect">
            <a:avLst/>
          </a:prstGeom>
          <a:noFill/>
        </p:spPr>
        <p:txBody>
          <a:bodyPr wrap="square" lIns="73152" rIns="73152" tIns="73152" bIns="73152">
            <a:spAutoFit/>
          </a:bodyPr>
          <a:lstStyle/>
          <a:p>
            <a:pPr algn="ctr">
              <a:defRPr sz="900" b="1">
                <a:solidFill>
                  <a:srgbClr val="64777A"/>
                </a:solidFill>
                <a:latin typeface="Aptos"/>
              </a:defRPr>
            </a:pPr>
            <a:r>
              <a:t>BEE ANALOGY: separate roles</a:t>
            </a:r>
          </a:p>
        </p:txBody>
      </p:sp>
      <p:sp>
        <p:nvSpPr>
          <p:cNvPr id="16" name="Rounded Rectangle 15"/>
          <p:cNvSpPr/>
          <p:nvPr/>
        </p:nvSpPr>
        <p:spPr>
          <a:xfrm>
            <a:off x="1005840" y="3886200"/>
            <a:ext cx="996696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61872" y="4096512"/>
            <a:ext cx="9418320" cy="320040"/>
          </a:xfrm>
          <a:prstGeom prst="rect">
            <a:avLst/>
          </a:prstGeom>
          <a:noFill/>
        </p:spPr>
        <p:txBody>
          <a:bodyPr wrap="square" lIns="73152" rIns="73152" tIns="73152" bIns="73152">
            <a:spAutoFit/>
          </a:bodyPr>
          <a:lstStyle/>
          <a:p>
            <a:pPr algn="ctr">
              <a:defRPr sz="1700" b="1">
                <a:solidFill>
                  <a:srgbClr val="173B43"/>
                </a:solidFill>
                <a:latin typeface="Aptos"/>
              </a:defRPr>
            </a:pPr>
            <a:r>
              <a:t>Assertion q = (key, value, source agent, causal metadata, logical timestamp)</a:t>
            </a:r>
          </a:p>
        </p:txBody>
      </p:sp>
      <p:sp>
        <p:nvSpPr>
          <p:cNvPr id="18" name="TextBox 17"/>
          <p:cNvSpPr txBox="1"/>
          <p:nvPr/>
        </p:nvSpPr>
        <p:spPr>
          <a:xfrm>
            <a:off x="1325880" y="4590288"/>
            <a:ext cx="9235440" cy="411480"/>
          </a:xfrm>
          <a:prstGeom prst="rect">
            <a:avLst/>
          </a:prstGeom>
          <a:noFill/>
        </p:spPr>
        <p:txBody>
          <a:bodyPr wrap="square" lIns="73152" rIns="73152" tIns="73152" bIns="73152">
            <a:spAutoFit/>
          </a:bodyPr>
          <a:lstStyle/>
          <a:p>
            <a:pPr algn="ctr">
              <a:defRPr sz="1300" b="0">
                <a:solidFill>
                  <a:srgbClr val="203338"/>
                </a:solidFill>
                <a:latin typeface="Aptos"/>
              </a:defRPr>
            </a:pPr>
            <a:r>
              <a:t>Same-key scope must be explicit: key type, role, temporal scope, and cardinality.</a:t>
            </a:r>
          </a:p>
        </p:txBody>
      </p:sp>
      <p:sp>
        <p:nvSpPr>
          <p:cNvPr id="19" name="TextBox 18"/>
          <p:cNvSpPr txBox="1"/>
          <p:nvPr/>
        </p:nvSpPr>
        <p:spPr>
          <a:xfrm>
            <a:off x="731520" y="5486400"/>
            <a:ext cx="10789920" cy="411480"/>
          </a:xfrm>
          <a:prstGeom prst="rect">
            <a:avLst/>
          </a:prstGeom>
          <a:noFill/>
        </p:spPr>
        <p:txBody>
          <a:bodyPr wrap="square" lIns="73152" rIns="73152" tIns="73152" bIns="73152">
            <a:spAutoFit/>
          </a:bodyPr>
          <a:lstStyle/>
          <a:p>
            <a:pPr algn="ctr">
              <a:defRPr sz="1100" b="0">
                <a:solidFill>
                  <a:srgbClr val="64777A"/>
                </a:solidFill>
                <a:latin typeface="Aptos"/>
              </a:defRPr>
            </a:pPr>
            <a:r>
              <a:t>Out of scope: Byzantine agents · permanent partitions · cross-key intent conflicts · general open-domain NLI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Four relation labels — before policy actions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94360"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600200"/>
            <a:ext cx="2670048" cy="16459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Paraphrase</a:t>
            </a:r>
          </a:p>
        </p:txBody>
      </p:sp>
      <p:sp>
        <p:nvSpPr>
          <p:cNvPr id="9" name="TextBox 8"/>
          <p:cNvSpPr txBox="1"/>
          <p:nvPr/>
        </p:nvSpPr>
        <p:spPr>
          <a:xfrm>
            <a:off x="777240"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Same fact, different wording</a:t>
            </a:r>
          </a:p>
        </p:txBody>
      </p:sp>
      <p:sp>
        <p:nvSpPr>
          <p:cNvPr id="10" name="Rounded Rectangle 9"/>
          <p:cNvSpPr/>
          <p:nvPr/>
        </p:nvSpPr>
        <p:spPr>
          <a:xfrm>
            <a:off x="758952"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PostgreSQL is selected / Project uses PostgreSQL</a:t>
            </a:r>
          </a:p>
        </p:txBody>
      </p:sp>
      <p:sp>
        <p:nvSpPr>
          <p:cNvPr id="12" name="Rounded Rectangle 11"/>
          <p:cNvSpPr/>
          <p:nvPr/>
        </p:nvSpPr>
        <p:spPr>
          <a:xfrm>
            <a:off x="3502152"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02152" y="1600200"/>
            <a:ext cx="2670048" cy="16459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Compatible</a:t>
            </a:r>
          </a:p>
        </p:txBody>
      </p:sp>
      <p:sp>
        <p:nvSpPr>
          <p:cNvPr id="15" name="TextBox 14"/>
          <p:cNvSpPr txBox="1"/>
          <p:nvPr/>
        </p:nvSpPr>
        <p:spPr>
          <a:xfrm>
            <a:off x="3685032"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Both can be true in declared scopes</a:t>
            </a:r>
          </a:p>
        </p:txBody>
      </p:sp>
      <p:sp>
        <p:nvSpPr>
          <p:cNvPr id="16" name="Rounded Rectangle 15"/>
          <p:cNvSpPr/>
          <p:nvPr/>
        </p:nvSpPr>
        <p:spPr>
          <a:xfrm>
            <a:off x="3666744"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758184"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Transactions use PostgreSQL / Sessions use DynamoDB</a:t>
            </a:r>
          </a:p>
        </p:txBody>
      </p:sp>
      <p:sp>
        <p:nvSpPr>
          <p:cNvPr id="18" name="Rounded Rectangle 17"/>
          <p:cNvSpPr/>
          <p:nvPr/>
        </p:nvSpPr>
        <p:spPr>
          <a:xfrm>
            <a:off x="6409944"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9944" y="1600200"/>
            <a:ext cx="2670048" cy="16459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Soft conflict</a:t>
            </a:r>
          </a:p>
        </p:txBody>
      </p:sp>
      <p:sp>
        <p:nvSpPr>
          <p:cNvPr id="21" name="TextBox 20"/>
          <p:cNvSpPr txBox="1"/>
          <p:nvPr/>
        </p:nvSpPr>
        <p:spPr>
          <a:xfrm>
            <a:off x="6592824"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Different claims; policy/time may resolve</a:t>
            </a:r>
          </a:p>
        </p:txBody>
      </p:sp>
      <p:sp>
        <p:nvSpPr>
          <p:cNvPr id="22" name="Rounded Rectangle 21"/>
          <p:cNvSpPr/>
          <p:nvPr/>
        </p:nvSpPr>
        <p:spPr>
          <a:xfrm>
            <a:off x="6574536"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65976"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API v1 active / migrating to API v2</a:t>
            </a:r>
          </a:p>
        </p:txBody>
      </p:sp>
      <p:sp>
        <p:nvSpPr>
          <p:cNvPr id="24" name="Rounded Rectangle 23"/>
          <p:cNvSpPr/>
          <p:nvPr/>
        </p:nvSpPr>
        <p:spPr>
          <a:xfrm>
            <a:off x="9317736" y="1600200"/>
            <a:ext cx="2670048" cy="34290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317736" y="1600200"/>
            <a:ext cx="2670048" cy="16459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73184" y="1901952"/>
            <a:ext cx="2359152" cy="411480"/>
          </a:xfrm>
          <a:prstGeom prst="rect">
            <a:avLst/>
          </a:prstGeom>
          <a:noFill/>
        </p:spPr>
        <p:txBody>
          <a:bodyPr wrap="square" lIns="73152" rIns="73152" tIns="73152" bIns="73152">
            <a:spAutoFit/>
          </a:bodyPr>
          <a:lstStyle/>
          <a:p>
            <a:pPr algn="ctr">
              <a:defRPr sz="1800" b="1">
                <a:solidFill>
                  <a:srgbClr val="173B43"/>
                </a:solidFill>
                <a:latin typeface="Aptos"/>
              </a:defRPr>
            </a:pPr>
            <a:r>
              <a:t>Hard conflict</a:t>
            </a:r>
          </a:p>
        </p:txBody>
      </p:sp>
      <p:sp>
        <p:nvSpPr>
          <p:cNvPr id="27" name="TextBox 26"/>
          <p:cNvSpPr txBox="1"/>
          <p:nvPr/>
        </p:nvSpPr>
        <p:spPr>
          <a:xfrm>
            <a:off x="9500616" y="2487168"/>
            <a:ext cx="2313432" cy="658368"/>
          </a:xfrm>
          <a:prstGeom prst="rect">
            <a:avLst/>
          </a:prstGeom>
          <a:noFill/>
        </p:spPr>
        <p:txBody>
          <a:bodyPr wrap="square" lIns="73152" rIns="73152" tIns="73152" bIns="73152">
            <a:spAutoFit/>
          </a:bodyPr>
          <a:lstStyle/>
          <a:p>
            <a:pPr algn="ctr">
              <a:defRPr sz="1200" b="0">
                <a:solidFill>
                  <a:srgbClr val="203338"/>
                </a:solidFill>
                <a:latin typeface="Aptos"/>
              </a:defRPr>
            </a:pPr>
            <a:r>
              <a:t>Mutually exclusive for same key/time</a:t>
            </a:r>
          </a:p>
        </p:txBody>
      </p:sp>
      <p:sp>
        <p:nvSpPr>
          <p:cNvPr id="28" name="Rounded Rectangle 27"/>
          <p:cNvSpPr/>
          <p:nvPr/>
        </p:nvSpPr>
        <p:spPr>
          <a:xfrm>
            <a:off x="9482328" y="3337560"/>
            <a:ext cx="2340864" cy="1243584"/>
          </a:xfrm>
          <a:prstGeom prst="roundRect">
            <a:avLst/>
          </a:prstGeom>
          <a:solidFill>
            <a:srgbClr val="F7F4EC"/>
          </a:solidFill>
          <a:ln>
            <a:solidFill>
              <a:srgbClr val="F7F4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73768" y="3493008"/>
            <a:ext cx="2157984" cy="950976"/>
          </a:xfrm>
          <a:prstGeom prst="rect">
            <a:avLst/>
          </a:prstGeom>
          <a:noFill/>
        </p:spPr>
        <p:txBody>
          <a:bodyPr wrap="square" lIns="73152" rIns="73152" tIns="73152" bIns="73152">
            <a:spAutoFit/>
          </a:bodyPr>
          <a:lstStyle/>
          <a:p>
            <a:pPr algn="ctr">
              <a:defRPr sz="1100" b="0">
                <a:solidFill>
                  <a:srgbClr val="64777A"/>
                </a:solidFill>
                <a:latin typeface="Aptos"/>
              </a:defRPr>
            </a:pPr>
            <a:r>
              <a:t>database=PostgreSQL / database=DynamoDB</a:t>
            </a:r>
          </a:p>
        </p:txBody>
      </p:sp>
      <p:pic>
        <p:nvPicPr>
          <p:cNvPr id="30" name="Picture 29" descr="fox.png"/>
          <p:cNvPicPr>
            <a:picLocks noChangeAspect="1"/>
          </p:cNvPicPr>
          <p:nvPr/>
        </p:nvPicPr>
        <p:blipFill>
          <a:blip r:embed="rId2"/>
          <a:stretch>
            <a:fillRect/>
          </a:stretch>
        </p:blipFill>
        <p:spPr>
          <a:xfrm>
            <a:off x="9692640" y="5166360"/>
            <a:ext cx="685800" cy="685800"/>
          </a:xfrm>
          <a:prstGeom prst="rect">
            <a:avLst/>
          </a:prstGeom>
        </p:spPr>
      </p:pic>
      <p:sp>
        <p:nvSpPr>
          <p:cNvPr id="31" name="TextBox 30"/>
          <p:cNvSpPr txBox="1"/>
          <p:nvPr/>
        </p:nvSpPr>
        <p:spPr>
          <a:xfrm>
            <a:off x="8503920" y="5806440"/>
            <a:ext cx="2834640" cy="320040"/>
          </a:xfrm>
          <a:prstGeom prst="rect">
            <a:avLst/>
          </a:prstGeom>
          <a:noFill/>
        </p:spPr>
        <p:txBody>
          <a:bodyPr wrap="square" lIns="73152" rIns="73152" tIns="73152" bIns="73152">
            <a:spAutoFit/>
          </a:bodyPr>
          <a:lstStyle/>
          <a:p>
            <a:pPr algn="ctr">
              <a:defRPr sz="800" b="1">
                <a:solidFill>
                  <a:srgbClr val="64777A"/>
                </a:solidFill>
                <a:latin typeface="Aptos"/>
              </a:defRPr>
            </a:pPr>
            <a:r>
              <a:t>FOX ANALOGY: notice subtle differences</a:t>
            </a:r>
          </a:p>
        </p:txBody>
      </p:sp>
      <p:sp>
        <p:nvSpPr>
          <p:cNvPr id="32" name="TextBox 31"/>
          <p:cNvSpPr txBox="1"/>
          <p:nvPr/>
        </p:nvSpPr>
        <p:spPr>
          <a:xfrm>
            <a:off x="777240" y="5349240"/>
            <a:ext cx="8046720" cy="731520"/>
          </a:xfrm>
          <a:prstGeom prst="rect">
            <a:avLst/>
          </a:prstGeom>
          <a:noFill/>
        </p:spPr>
        <p:txBody>
          <a:bodyPr wrap="square" lIns="73152" rIns="73152" tIns="73152" bIns="73152">
            <a:spAutoFit/>
          </a:bodyPr>
          <a:lstStyle/>
          <a:p>
            <a:pPr algn="ctr">
              <a:defRPr sz="1900" b="1">
                <a:solidFill>
                  <a:srgbClr val="173B43"/>
                </a:solidFill>
                <a:latin typeface="Aptos"/>
              </a:defRPr>
            </a:pPr>
            <a:r>
              <a:t>Label the relationship first. Choose system action second.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AVA policy: Agree, Verify, or preserve as Unresolved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3794760" y="1234440"/>
            <a:ext cx="45262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380744"/>
            <a:ext cx="4251960" cy="310896"/>
          </a:xfrm>
          <a:prstGeom prst="rect">
            <a:avLst/>
          </a:prstGeom>
          <a:noFill/>
        </p:spPr>
        <p:txBody>
          <a:bodyPr wrap="square" lIns="73152" rIns="73152" tIns="73152" bIns="73152">
            <a:spAutoFit/>
          </a:bodyPr>
          <a:lstStyle/>
          <a:p>
            <a:pPr algn="ctr">
              <a:defRPr sz="1600" b="1">
                <a:solidFill>
                  <a:srgbClr val="FFFFFF"/>
                </a:solidFill>
                <a:latin typeface="Aptos"/>
              </a:defRPr>
            </a:pPr>
            <a:r>
              <a:t>SAME-KEY ASSERTION PAIR</a:t>
            </a:r>
          </a:p>
        </p:txBody>
      </p:sp>
      <p:cxnSp>
        <p:nvCxnSpPr>
          <p:cNvPr id="8" name="Connector 7"/>
          <p:cNvCxnSpPr/>
          <p:nvPr/>
        </p:nvCxnSpPr>
        <p:spPr>
          <a:xfrm>
            <a:off x="6053328" y="1883664"/>
            <a:ext cx="0" cy="402336"/>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94760" y="2304288"/>
            <a:ext cx="45262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13632" y="2441448"/>
            <a:ext cx="4297680" cy="320040"/>
          </a:xfrm>
          <a:prstGeom prst="rect">
            <a:avLst/>
          </a:prstGeom>
          <a:noFill/>
        </p:spPr>
        <p:txBody>
          <a:bodyPr wrap="square" lIns="73152" rIns="73152" tIns="73152" bIns="73152">
            <a:spAutoFit/>
          </a:bodyPr>
          <a:lstStyle/>
          <a:p>
            <a:pPr algn="ctr">
              <a:defRPr sz="1600" b="1">
                <a:solidFill>
                  <a:srgbClr val="FFFFFF"/>
                </a:solidFill>
                <a:latin typeface="Aptos"/>
              </a:defRPr>
            </a:pPr>
            <a:r>
              <a:t>RELATION CLASSIFIER</a:t>
            </a:r>
          </a:p>
        </p:txBody>
      </p:sp>
      <p:cxnSp>
        <p:nvCxnSpPr>
          <p:cNvPr id="11" name="Connector 10"/>
          <p:cNvCxnSpPr/>
          <p:nvPr/>
        </p:nvCxnSpPr>
        <p:spPr>
          <a:xfrm flipH="1">
            <a:off x="2377440" y="2944368"/>
            <a:ext cx="3675888" cy="466344"/>
          </a:xfrm>
          <a:prstGeom prst="line">
            <a:avLst/>
          </a:prstGeom>
          <a:ln w="25400">
            <a:solidFill>
              <a:srgbClr val="9CB79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05840" y="3419856"/>
            <a:ext cx="2743200" cy="612648"/>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AGREE</a:t>
            </a:r>
          </a:p>
        </p:txBody>
      </p:sp>
      <p:sp>
        <p:nvSpPr>
          <p:cNvPr id="14" name="TextBox 13"/>
          <p:cNvSpPr txBox="1"/>
          <p:nvPr/>
        </p:nvSpPr>
        <p:spPr>
          <a:xfrm>
            <a:off x="107899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Direct safe reconciliation</a:t>
            </a:r>
            <a:br/>
            <a:r>
              <a:t>→ direct_agree</a:t>
            </a:r>
          </a:p>
        </p:txBody>
      </p:sp>
      <p:cxnSp>
        <p:nvCxnSpPr>
          <p:cNvPr id="15" name="Connector 14"/>
          <p:cNvCxnSpPr/>
          <p:nvPr/>
        </p:nvCxnSpPr>
        <p:spPr>
          <a:xfrm flipH="1">
            <a:off x="5989320" y="2944368"/>
            <a:ext cx="64008" cy="466344"/>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617720" y="3419856"/>
            <a:ext cx="2743200" cy="612648"/>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27448"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VERIFY</a:t>
            </a:r>
          </a:p>
        </p:txBody>
      </p:sp>
      <p:sp>
        <p:nvSpPr>
          <p:cNvPr id="18" name="TextBox 17"/>
          <p:cNvSpPr txBox="1"/>
          <p:nvPr/>
        </p:nvSpPr>
        <p:spPr>
          <a:xfrm>
            <a:off x="469087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Check provenance, time,</a:t>
            </a:r>
            <a:br/>
            <a:r>
              <a:t>causal evidence or rule</a:t>
            </a:r>
          </a:p>
        </p:txBody>
      </p:sp>
      <p:cxnSp>
        <p:nvCxnSpPr>
          <p:cNvPr id="19" name="Connector 18"/>
          <p:cNvCxnSpPr/>
          <p:nvPr/>
        </p:nvCxnSpPr>
        <p:spPr>
          <a:xfrm>
            <a:off x="6053328" y="2944368"/>
            <a:ext cx="3547872" cy="466344"/>
          </a:xfrm>
          <a:prstGeom prst="line">
            <a:avLst/>
          </a:prstGeom>
          <a:ln w="25400">
            <a:solidFill>
              <a:srgbClr val="D97862"/>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229600" y="3419856"/>
            <a:ext cx="2743200" cy="61264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7" y="3529584"/>
            <a:ext cx="2523744" cy="320040"/>
          </a:xfrm>
          <a:prstGeom prst="rect">
            <a:avLst/>
          </a:prstGeom>
          <a:noFill/>
        </p:spPr>
        <p:txBody>
          <a:bodyPr wrap="square" lIns="73152" rIns="73152" tIns="73152" bIns="73152">
            <a:spAutoFit/>
          </a:bodyPr>
          <a:lstStyle/>
          <a:p>
            <a:pPr algn="ctr">
              <a:defRPr sz="1600" b="1">
                <a:solidFill>
                  <a:srgbClr val="FFFFFF"/>
                </a:solidFill>
                <a:latin typeface="Aptos"/>
              </a:defRPr>
            </a:pPr>
            <a:r>
              <a:t>ABSTAIN</a:t>
            </a:r>
          </a:p>
        </p:txBody>
      </p:sp>
      <p:sp>
        <p:nvSpPr>
          <p:cNvPr id="22" name="TextBox 21"/>
          <p:cNvSpPr txBox="1"/>
          <p:nvPr/>
        </p:nvSpPr>
        <p:spPr>
          <a:xfrm>
            <a:off x="8302752" y="4114800"/>
            <a:ext cx="2596896" cy="621792"/>
          </a:xfrm>
          <a:prstGeom prst="rect">
            <a:avLst/>
          </a:prstGeom>
          <a:noFill/>
        </p:spPr>
        <p:txBody>
          <a:bodyPr wrap="square" lIns="73152" rIns="73152" tIns="73152" bIns="73152">
            <a:spAutoFit/>
          </a:bodyPr>
          <a:lstStyle/>
          <a:p>
            <a:pPr algn="ctr">
              <a:defRPr sz="1200" b="0">
                <a:solidFill>
                  <a:srgbClr val="203338"/>
                </a:solidFill>
                <a:latin typeface="Aptos"/>
              </a:defRPr>
            </a:pPr>
            <a:r>
              <a:t>Preserve claims</a:t>
            </a:r>
            <a:br/>
            <a:r>
              <a:t>→ UNRESOLVED</a:t>
            </a:r>
          </a:p>
        </p:txBody>
      </p:sp>
      <p:cxnSp>
        <p:nvCxnSpPr>
          <p:cNvPr id="23" name="Connector 22"/>
          <p:cNvCxnSpPr/>
          <p:nvPr/>
        </p:nvCxnSpPr>
        <p:spPr>
          <a:xfrm flipH="1">
            <a:off x="5394960" y="4736592"/>
            <a:ext cx="59436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89320" y="4736592"/>
            <a:ext cx="640080" cy="493776"/>
          </a:xfrm>
          <a:prstGeom prst="line">
            <a:avLst/>
          </a:prstGeom>
          <a:ln w="25400">
            <a:solidFill>
              <a:srgbClr val="E8B65A"/>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389120" y="5230368"/>
            <a:ext cx="2057400" cy="603504"/>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89704" y="5340096"/>
            <a:ext cx="1856231" cy="310896"/>
          </a:xfrm>
          <a:prstGeom prst="rect">
            <a:avLst/>
          </a:prstGeom>
          <a:noFill/>
        </p:spPr>
        <p:txBody>
          <a:bodyPr wrap="square" lIns="73152" rIns="73152" tIns="73152" bIns="73152">
            <a:spAutoFit/>
          </a:bodyPr>
          <a:lstStyle/>
          <a:p>
            <a:pPr algn="ctr">
              <a:defRPr sz="1100" b="1">
                <a:solidFill>
                  <a:srgbClr val="FFFFFF"/>
                </a:solidFill>
                <a:latin typeface="Aptos"/>
              </a:defRPr>
            </a:pPr>
            <a:r>
              <a:t>Evidence YES → agree</a:t>
            </a:r>
          </a:p>
        </p:txBody>
      </p:sp>
      <p:sp>
        <p:nvSpPr>
          <p:cNvPr id="27" name="Rounded Rectangle 26"/>
          <p:cNvSpPr/>
          <p:nvPr/>
        </p:nvSpPr>
        <p:spPr>
          <a:xfrm>
            <a:off x="6583680" y="5230368"/>
            <a:ext cx="2057400" cy="603504"/>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0" y="5340096"/>
            <a:ext cx="1883664" cy="310896"/>
          </a:xfrm>
          <a:prstGeom prst="rect">
            <a:avLst/>
          </a:prstGeom>
          <a:noFill/>
        </p:spPr>
        <p:txBody>
          <a:bodyPr wrap="square" lIns="73152" rIns="73152" tIns="73152" bIns="73152">
            <a:spAutoFit/>
          </a:bodyPr>
          <a:lstStyle/>
          <a:p>
            <a:pPr algn="ctr">
              <a:defRPr sz="1000" b="1">
                <a:solidFill>
                  <a:srgbClr val="FFFFFF"/>
                </a:solidFill>
                <a:latin typeface="Aptos"/>
              </a:defRPr>
            </a:pPr>
            <a:r>
              <a:t>Evidence NO → abstain</a:t>
            </a:r>
          </a:p>
        </p:txBody>
      </p:sp>
      <p:pic>
        <p:nvPicPr>
          <p:cNvPr id="29" name="Picture 28" descr="owl.png"/>
          <p:cNvPicPr>
            <a:picLocks noChangeAspect="1"/>
          </p:cNvPicPr>
          <p:nvPr/>
        </p:nvPicPr>
        <p:blipFill>
          <a:blip r:embed="rId2"/>
          <a:stretch>
            <a:fillRect/>
          </a:stretch>
        </p:blipFill>
        <p:spPr>
          <a:xfrm>
            <a:off x="9875520" y="4892040"/>
            <a:ext cx="731520" cy="731520"/>
          </a:xfrm>
          <a:prstGeom prst="rect">
            <a:avLst/>
          </a:prstGeom>
        </p:spPr>
      </p:pic>
      <p:sp>
        <p:nvSpPr>
          <p:cNvPr id="30" name="TextBox 29"/>
          <p:cNvSpPr txBox="1"/>
          <p:nvPr/>
        </p:nvSpPr>
        <p:spPr>
          <a:xfrm>
            <a:off x="9235440" y="5797296"/>
            <a:ext cx="2057400" cy="256032"/>
          </a:xfrm>
          <a:prstGeom prst="rect">
            <a:avLst/>
          </a:prstGeom>
          <a:noFill/>
        </p:spPr>
        <p:txBody>
          <a:bodyPr wrap="square" lIns="73152" rIns="73152" tIns="73152" bIns="73152">
            <a:spAutoFit/>
          </a:bodyPr>
          <a:lstStyle/>
          <a:p>
            <a:pPr algn="ctr">
              <a:defRPr sz="800" b="1">
                <a:solidFill>
                  <a:srgbClr val="64777A"/>
                </a:solidFill>
                <a:latin typeface="Aptos"/>
              </a:defRPr>
            </a:pPr>
            <a:r>
              <a:t>OWL ANALOGY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Seven arms — two different layers to compare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371600"/>
            <a:ext cx="5120640" cy="4206240"/>
          </a:xfrm>
          <a:prstGeom prst="roundRect">
            <a:avLst/>
          </a:prstGeom>
          <a:solidFill>
            <a:srgbClr val="E7F0EB"/>
          </a:solidFill>
          <a:ln>
            <a:solidFill>
              <a:srgbClr val="E7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00200"/>
            <a:ext cx="4572000" cy="365760"/>
          </a:xfrm>
          <a:prstGeom prst="rect">
            <a:avLst/>
          </a:prstGeom>
          <a:noFill/>
        </p:spPr>
        <p:txBody>
          <a:bodyPr wrap="square" lIns="73152" rIns="73152" tIns="73152" bIns="73152">
            <a:spAutoFit/>
          </a:bodyPr>
          <a:lstStyle/>
          <a:p>
            <a:pPr algn="ctr">
              <a:defRPr sz="1500" b="1">
                <a:solidFill>
                  <a:srgbClr val="2F7775"/>
                </a:solidFill>
                <a:latin typeface="Aptos"/>
              </a:defRPr>
            </a:pPr>
            <a:r>
              <a:t>RELATION / CLASSIFICATION SIGNALS</a:t>
            </a:r>
          </a:p>
        </p:txBody>
      </p:sp>
      <p:sp>
        <p:nvSpPr>
          <p:cNvPr id="8" name="TextBox 7"/>
          <p:cNvSpPr txBox="1"/>
          <p:nvPr/>
        </p:nvSpPr>
        <p:spPr>
          <a:xfrm>
            <a:off x="1005840" y="2121408"/>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B2 Embedding</a:t>
            </a:r>
          </a:p>
        </p:txBody>
      </p:sp>
      <p:sp>
        <p:nvSpPr>
          <p:cNvPr id="9" name="TextBox 8"/>
          <p:cNvSpPr txBox="1"/>
          <p:nvPr/>
        </p:nvSpPr>
        <p:spPr>
          <a:xfrm>
            <a:off x="2560320" y="2121408"/>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similarity</a:t>
            </a:r>
          </a:p>
        </p:txBody>
      </p:sp>
      <p:sp>
        <p:nvSpPr>
          <p:cNvPr id="10" name="TextBox 9"/>
          <p:cNvSpPr txBox="1"/>
          <p:nvPr/>
        </p:nvSpPr>
        <p:spPr>
          <a:xfrm>
            <a:off x="1005840" y="2688336"/>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B3 NLI</a:t>
            </a:r>
          </a:p>
        </p:txBody>
      </p:sp>
      <p:sp>
        <p:nvSpPr>
          <p:cNvPr id="11" name="TextBox 10"/>
          <p:cNvSpPr txBox="1"/>
          <p:nvPr/>
        </p:nvSpPr>
        <p:spPr>
          <a:xfrm>
            <a:off x="2560320" y="2688336"/>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entail / contradict / neutral</a:t>
            </a:r>
          </a:p>
        </p:txBody>
      </p:sp>
      <p:sp>
        <p:nvSpPr>
          <p:cNvPr id="12" name="TextBox 11"/>
          <p:cNvSpPr txBox="1"/>
          <p:nvPr/>
        </p:nvSpPr>
        <p:spPr>
          <a:xfrm>
            <a:off x="1005840" y="3255263"/>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B4 Hybrid SCS</a:t>
            </a:r>
          </a:p>
        </p:txBody>
      </p:sp>
      <p:sp>
        <p:nvSpPr>
          <p:cNvPr id="13" name="TextBox 12"/>
          <p:cNvSpPr txBox="1"/>
          <p:nvPr/>
        </p:nvSpPr>
        <p:spPr>
          <a:xfrm>
            <a:off x="2560320" y="3255263"/>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weighted semantic signals</a:t>
            </a:r>
          </a:p>
        </p:txBody>
      </p:sp>
      <p:sp>
        <p:nvSpPr>
          <p:cNvPr id="14" name="TextBox 13"/>
          <p:cNvSpPr txBox="1"/>
          <p:nvPr/>
        </p:nvSpPr>
        <p:spPr>
          <a:xfrm>
            <a:off x="1005840" y="3822191"/>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B5 LLM Judge</a:t>
            </a:r>
          </a:p>
        </p:txBody>
      </p:sp>
      <p:sp>
        <p:nvSpPr>
          <p:cNvPr id="15" name="TextBox 14"/>
          <p:cNvSpPr txBox="1"/>
          <p:nvPr/>
        </p:nvSpPr>
        <p:spPr>
          <a:xfrm>
            <a:off x="2560320" y="3822191"/>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fixed prompt/model; repeated trials</a:t>
            </a:r>
          </a:p>
        </p:txBody>
      </p:sp>
      <p:sp>
        <p:nvSpPr>
          <p:cNvPr id="16" name="TextBox 15"/>
          <p:cNvSpPr txBox="1"/>
          <p:nvPr/>
        </p:nvSpPr>
        <p:spPr>
          <a:xfrm>
            <a:off x="1005840" y="4389120"/>
            <a:ext cx="1417320" cy="292608"/>
          </a:xfrm>
          <a:prstGeom prst="rect">
            <a:avLst/>
          </a:prstGeom>
          <a:noFill/>
        </p:spPr>
        <p:txBody>
          <a:bodyPr wrap="square" lIns="73152" rIns="73152" tIns="73152" bIns="73152">
            <a:spAutoFit/>
          </a:bodyPr>
          <a:lstStyle/>
          <a:p>
            <a:pPr algn="l">
              <a:defRPr sz="1200" b="1">
                <a:solidFill>
                  <a:srgbClr val="173B43"/>
                </a:solidFill>
                <a:latin typeface="Aptos"/>
              </a:defRPr>
            </a:pPr>
            <a:r>
              <a:t>B6 Jev</a:t>
            </a:r>
          </a:p>
        </p:txBody>
      </p:sp>
      <p:sp>
        <p:nvSpPr>
          <p:cNvPr id="17" name="TextBox 16"/>
          <p:cNvSpPr txBox="1"/>
          <p:nvPr/>
        </p:nvSpPr>
        <p:spPr>
          <a:xfrm>
            <a:off x="2560320" y="4389120"/>
            <a:ext cx="2834640" cy="292608"/>
          </a:xfrm>
          <a:prstGeom prst="rect">
            <a:avLst/>
          </a:prstGeom>
          <a:noFill/>
        </p:spPr>
        <p:txBody>
          <a:bodyPr wrap="square" lIns="73152" rIns="73152" tIns="73152" bIns="73152">
            <a:spAutoFit/>
          </a:bodyPr>
          <a:lstStyle/>
          <a:p>
            <a:pPr algn="l">
              <a:defRPr sz="1100" b="0">
                <a:solidFill>
                  <a:srgbClr val="203338"/>
                </a:solidFill>
                <a:latin typeface="Aptos"/>
              </a:defRPr>
            </a:pPr>
            <a:r>
              <a:t>structured System-One questions</a:t>
            </a:r>
          </a:p>
        </p:txBody>
      </p:sp>
      <p:sp>
        <p:nvSpPr>
          <p:cNvPr id="18" name="Rounded Rectangle 17"/>
          <p:cNvSpPr/>
          <p:nvPr/>
        </p:nvSpPr>
        <p:spPr>
          <a:xfrm>
            <a:off x="6263640" y="1371600"/>
            <a:ext cx="5212080" cy="4206240"/>
          </a:xfrm>
          <a:prstGeom prst="roundRect">
            <a:avLst/>
          </a:prstGeom>
          <a:solidFill>
            <a:srgbClr val="F7E9E2"/>
          </a:solidFill>
          <a:ln>
            <a:solidFill>
              <a:srgbClr val="F7E9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1600200"/>
            <a:ext cx="4572000" cy="365760"/>
          </a:xfrm>
          <a:prstGeom prst="rect">
            <a:avLst/>
          </a:prstGeom>
          <a:noFill/>
        </p:spPr>
        <p:txBody>
          <a:bodyPr wrap="square" lIns="73152" rIns="73152" tIns="73152" bIns="73152">
            <a:spAutoFit/>
          </a:bodyPr>
          <a:lstStyle/>
          <a:p>
            <a:pPr algn="ctr">
              <a:defRPr sz="1500" b="1">
                <a:solidFill>
                  <a:srgbClr val="D97862"/>
                </a:solidFill>
                <a:latin typeface="Aptos"/>
              </a:defRPr>
            </a:pPr>
            <a:r>
              <a:t>RESOLUTION / SAFETY POLICIES</a:t>
            </a:r>
          </a:p>
        </p:txBody>
      </p:sp>
      <p:sp>
        <p:nvSpPr>
          <p:cNvPr id="20" name="TextBox 19"/>
          <p:cNvSpPr txBox="1"/>
          <p:nvPr/>
        </p:nvSpPr>
        <p:spPr>
          <a:xfrm>
            <a:off x="6629400" y="23317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B1 Deterministic</a:t>
            </a:r>
          </a:p>
        </p:txBody>
      </p:sp>
      <p:sp>
        <p:nvSpPr>
          <p:cNvPr id="21" name="TextBox 20"/>
          <p:cNvSpPr txBox="1"/>
          <p:nvPr/>
        </p:nvSpPr>
        <p:spPr>
          <a:xfrm>
            <a:off x="8686800" y="23317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argmax(timestamp, agent_id)</a:t>
            </a:r>
          </a:p>
        </p:txBody>
      </p:sp>
      <p:sp>
        <p:nvSpPr>
          <p:cNvPr id="22" name="TextBox 21"/>
          <p:cNvSpPr txBox="1"/>
          <p:nvPr/>
        </p:nvSpPr>
        <p:spPr>
          <a:xfrm>
            <a:off x="6629400" y="32461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B7 Preserve / abstain</a:t>
            </a:r>
          </a:p>
        </p:txBody>
      </p:sp>
      <p:sp>
        <p:nvSpPr>
          <p:cNvPr id="23" name="TextBox 22"/>
          <p:cNvSpPr txBox="1"/>
          <p:nvPr/>
        </p:nvSpPr>
        <p:spPr>
          <a:xfrm>
            <a:off x="8686800" y="32461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non-identical remains unresolved</a:t>
            </a:r>
          </a:p>
        </p:txBody>
      </p:sp>
      <p:sp>
        <p:nvSpPr>
          <p:cNvPr id="24" name="TextBox 23"/>
          <p:cNvSpPr txBox="1"/>
          <p:nvPr/>
        </p:nvSpPr>
        <p:spPr>
          <a:xfrm>
            <a:off x="6629400" y="4160520"/>
            <a:ext cx="1965960" cy="347472"/>
          </a:xfrm>
          <a:prstGeom prst="rect">
            <a:avLst/>
          </a:prstGeom>
          <a:noFill/>
        </p:spPr>
        <p:txBody>
          <a:bodyPr wrap="square" lIns="73152" rIns="73152" tIns="73152" bIns="73152">
            <a:spAutoFit/>
          </a:bodyPr>
          <a:lstStyle/>
          <a:p>
            <a:pPr algn="l">
              <a:defRPr sz="1300" b="1">
                <a:solidFill>
                  <a:srgbClr val="173B43"/>
                </a:solidFill>
                <a:latin typeface="Aptos"/>
              </a:defRPr>
            </a:pPr>
            <a:r>
              <a:t>AVA Verify stage</a:t>
            </a:r>
          </a:p>
        </p:txBody>
      </p:sp>
      <p:sp>
        <p:nvSpPr>
          <p:cNvPr id="25" name="TextBox 24"/>
          <p:cNvSpPr txBox="1"/>
          <p:nvPr/>
        </p:nvSpPr>
        <p:spPr>
          <a:xfrm>
            <a:off x="8686800" y="4160520"/>
            <a:ext cx="2468880" cy="457200"/>
          </a:xfrm>
          <a:prstGeom prst="rect">
            <a:avLst/>
          </a:prstGeom>
          <a:noFill/>
        </p:spPr>
        <p:txBody>
          <a:bodyPr wrap="square" lIns="73152" rIns="73152" tIns="73152" bIns="73152">
            <a:spAutoFit/>
          </a:bodyPr>
          <a:lstStyle/>
          <a:p>
            <a:pPr algn="l">
              <a:defRPr sz="1100" b="0">
                <a:solidFill>
                  <a:srgbClr val="203338"/>
                </a:solidFill>
                <a:latin typeface="Aptos"/>
              </a:defRPr>
            </a:pPr>
            <a:r>
              <a:t>evidence-based intermediate check</a:t>
            </a:r>
          </a:p>
        </p:txBody>
      </p:sp>
      <p:cxnSp>
        <p:nvCxnSpPr>
          <p:cNvPr id="26" name="Connector 25"/>
          <p:cNvCxnSpPr/>
          <p:nvPr/>
        </p:nvCxnSpPr>
        <p:spPr>
          <a:xfrm>
            <a:off x="5623560" y="3520440"/>
            <a:ext cx="594360" cy="0"/>
          </a:xfrm>
          <a:prstGeom prst="line">
            <a:avLst/>
          </a:prstGeom>
          <a:ln w="25400">
            <a:solidFill>
              <a:srgbClr val="64777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914400" y="5852160"/>
            <a:ext cx="10058400" cy="411480"/>
          </a:xfrm>
          <a:prstGeom prst="rect">
            <a:avLst/>
          </a:prstGeom>
          <a:noFill/>
        </p:spPr>
        <p:txBody>
          <a:bodyPr wrap="square" lIns="73152" rIns="73152" tIns="73152" bIns="73152">
            <a:spAutoFit/>
          </a:bodyPr>
          <a:lstStyle/>
          <a:p>
            <a:pPr algn="ctr">
              <a:defRPr sz="1400" b="1">
                <a:solidFill>
                  <a:srgbClr val="173B43"/>
                </a:solidFill>
                <a:latin typeface="Aptos"/>
              </a:defRPr>
            </a:pPr>
            <a:r>
              <a:t>Fairness rule: report classifier accuracy separately from final safety and resolution outcomes.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Dataset: human-labelled pairs, context and evidence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73152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1440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1</a:t>
            </a:r>
          </a:p>
        </p:txBody>
      </p:sp>
      <p:sp>
        <p:nvSpPr>
          <p:cNvPr id="9" name="TextBox 8"/>
          <p:cNvSpPr txBox="1"/>
          <p:nvPr/>
        </p:nvSpPr>
        <p:spPr>
          <a:xfrm>
            <a:off x="152704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Controlled synthetic</a:t>
            </a:r>
          </a:p>
        </p:txBody>
      </p:sp>
      <p:sp>
        <p:nvSpPr>
          <p:cNvPr id="10" name="TextBox 9"/>
          <p:cNvSpPr txBox="1"/>
          <p:nvPr/>
        </p:nvSpPr>
        <p:spPr>
          <a:xfrm>
            <a:off x="152704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balanced edge cases</a:t>
            </a:r>
          </a:p>
        </p:txBody>
      </p:sp>
      <p:cxnSp>
        <p:nvCxnSpPr>
          <p:cNvPr id="11" name="Connector 10"/>
          <p:cNvCxnSpPr/>
          <p:nvPr/>
        </p:nvCxnSpPr>
        <p:spPr>
          <a:xfrm>
            <a:off x="409651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2628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1700784"/>
            <a:ext cx="475488" cy="475488"/>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2</a:t>
            </a:r>
          </a:p>
        </p:txBody>
      </p:sp>
      <p:sp>
        <p:nvSpPr>
          <p:cNvPr id="15" name="TextBox 14"/>
          <p:cNvSpPr txBox="1"/>
          <p:nvPr/>
        </p:nvSpPr>
        <p:spPr>
          <a:xfrm>
            <a:off x="532180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LLM-generated realistic</a:t>
            </a:r>
          </a:p>
        </p:txBody>
      </p:sp>
      <p:sp>
        <p:nvSpPr>
          <p:cNvPr id="16" name="TextBox 15"/>
          <p:cNvSpPr txBox="1"/>
          <p:nvPr/>
        </p:nvSpPr>
        <p:spPr>
          <a:xfrm>
            <a:off x="532180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human checked</a:t>
            </a:r>
          </a:p>
        </p:txBody>
      </p:sp>
      <p:cxnSp>
        <p:nvCxnSpPr>
          <p:cNvPr id="17" name="Connector 16"/>
          <p:cNvCxnSpPr/>
          <p:nvPr/>
        </p:nvCxnSpPr>
        <p:spPr>
          <a:xfrm>
            <a:off x="7891272" y="2240280"/>
            <a:ext cx="338328"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321040" y="1508760"/>
            <a:ext cx="3337560" cy="150876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00784"/>
            <a:ext cx="475488" cy="475488"/>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1792224"/>
            <a:ext cx="384048" cy="256032"/>
          </a:xfrm>
          <a:prstGeom prst="rect">
            <a:avLst/>
          </a:prstGeom>
          <a:noFill/>
        </p:spPr>
        <p:txBody>
          <a:bodyPr wrap="square" lIns="73152" rIns="73152" tIns="73152" bIns="73152">
            <a:spAutoFit/>
          </a:bodyPr>
          <a:lstStyle/>
          <a:p>
            <a:pPr algn="ctr">
              <a:defRPr sz="1400" b="1">
                <a:solidFill>
                  <a:srgbClr val="FFFFFF"/>
                </a:solidFill>
                <a:latin typeface="Aptos"/>
              </a:defRPr>
            </a:pPr>
            <a:r>
              <a:t>3</a:t>
            </a:r>
          </a:p>
        </p:txBody>
      </p:sp>
      <p:sp>
        <p:nvSpPr>
          <p:cNvPr id="21" name="TextBox 20"/>
          <p:cNvSpPr txBox="1"/>
          <p:nvPr/>
        </p:nvSpPr>
        <p:spPr>
          <a:xfrm>
            <a:off x="9116568" y="1719072"/>
            <a:ext cx="2286000" cy="310896"/>
          </a:xfrm>
          <a:prstGeom prst="rect">
            <a:avLst/>
          </a:prstGeom>
          <a:noFill/>
        </p:spPr>
        <p:txBody>
          <a:bodyPr wrap="square" lIns="73152" rIns="73152" tIns="73152" bIns="73152">
            <a:spAutoFit/>
          </a:bodyPr>
          <a:lstStyle/>
          <a:p>
            <a:pPr algn="l">
              <a:defRPr sz="1300" b="1">
                <a:solidFill>
                  <a:srgbClr val="173B43"/>
                </a:solidFill>
                <a:latin typeface="Aptos"/>
              </a:defRPr>
            </a:pPr>
            <a:r>
              <a:t>Real traces (if feasible)</a:t>
            </a:r>
          </a:p>
        </p:txBody>
      </p:sp>
      <p:sp>
        <p:nvSpPr>
          <p:cNvPr id="22" name="TextBox 21"/>
          <p:cNvSpPr txBox="1"/>
          <p:nvPr/>
        </p:nvSpPr>
        <p:spPr>
          <a:xfrm>
            <a:off x="9116568" y="2148840"/>
            <a:ext cx="2286000" cy="594360"/>
          </a:xfrm>
          <a:prstGeom prst="rect">
            <a:avLst/>
          </a:prstGeom>
          <a:noFill/>
        </p:spPr>
        <p:txBody>
          <a:bodyPr wrap="square" lIns="73152" rIns="73152" tIns="73152" bIns="73152">
            <a:spAutoFit/>
          </a:bodyPr>
          <a:lstStyle/>
          <a:p>
            <a:pPr algn="l">
              <a:defRPr sz="1200" b="0">
                <a:solidFill>
                  <a:srgbClr val="203338"/>
                </a:solidFill>
                <a:latin typeface="Aptos"/>
              </a:defRPr>
            </a:pPr>
            <a:r>
              <a:t>legal/practical access</a:t>
            </a:r>
          </a:p>
        </p:txBody>
      </p:sp>
      <p:sp>
        <p:nvSpPr>
          <p:cNvPr id="23" name="Rounded Rectangle 22"/>
          <p:cNvSpPr/>
          <p:nvPr/>
        </p:nvSpPr>
        <p:spPr>
          <a:xfrm>
            <a:off x="822960" y="3520440"/>
            <a:ext cx="475488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 y="3520440"/>
            <a:ext cx="82296" cy="16002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630168"/>
            <a:ext cx="4462272" cy="320040"/>
          </a:xfrm>
          <a:prstGeom prst="rect">
            <a:avLst/>
          </a:prstGeom>
          <a:noFill/>
        </p:spPr>
        <p:txBody>
          <a:bodyPr wrap="square" lIns="73152" rIns="73152" tIns="73152" bIns="73152">
            <a:spAutoFit/>
          </a:bodyPr>
          <a:lstStyle/>
          <a:p>
            <a:pPr algn="l">
              <a:defRPr sz="1500" b="1">
                <a:solidFill>
                  <a:srgbClr val="2F7775"/>
                </a:solidFill>
                <a:latin typeface="Aptos"/>
              </a:defRPr>
            </a:pPr>
            <a:r>
              <a:t>Record fields</a:t>
            </a:r>
          </a:p>
        </p:txBody>
      </p:sp>
      <p:sp>
        <p:nvSpPr>
          <p:cNvPr id="26" name="TextBox 25"/>
          <p:cNvSpPr txBox="1"/>
          <p:nvPr/>
        </p:nvSpPr>
        <p:spPr>
          <a:xfrm>
            <a:off x="1005840" y="4005072"/>
            <a:ext cx="4443984" cy="1033271"/>
          </a:xfrm>
          <a:prstGeom prst="rect">
            <a:avLst/>
          </a:prstGeom>
          <a:noFill/>
        </p:spPr>
        <p:txBody>
          <a:bodyPr wrap="square" lIns="73152" rIns="73152" tIns="73152" bIns="73152">
            <a:spAutoFit/>
          </a:bodyPr>
          <a:lstStyle/>
          <a:p>
            <a:pPr algn="l">
              <a:defRPr sz="1300" b="0">
                <a:solidFill>
                  <a:srgbClr val="203338"/>
                </a:solidFill>
                <a:latin typeface="Aptos"/>
              </a:defRPr>
            </a:pPr>
            <a:r>
              <a:t>Declared key + type · assertion A/B · context/time</a:t>
            </a:r>
            <a:br/>
            <a:r>
              <a:t>Evidence/provenance · gold label · difficulty</a:t>
            </a:r>
          </a:p>
        </p:txBody>
      </p:sp>
      <p:sp>
        <p:nvSpPr>
          <p:cNvPr id="27" name="Rounded Rectangle 26"/>
          <p:cNvSpPr/>
          <p:nvPr/>
        </p:nvSpPr>
        <p:spPr>
          <a:xfrm>
            <a:off x="6217920" y="3520440"/>
            <a:ext cx="4846320" cy="16002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17920" y="3520440"/>
            <a:ext cx="82296" cy="16002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0" y="3630168"/>
            <a:ext cx="4553712" cy="320040"/>
          </a:xfrm>
          <a:prstGeom prst="rect">
            <a:avLst/>
          </a:prstGeom>
          <a:noFill/>
        </p:spPr>
        <p:txBody>
          <a:bodyPr wrap="square" lIns="73152" rIns="73152" tIns="73152" bIns="73152">
            <a:spAutoFit/>
          </a:bodyPr>
          <a:lstStyle/>
          <a:p>
            <a:pPr algn="l">
              <a:defRPr sz="1500" b="1">
                <a:solidFill>
                  <a:srgbClr val="D97862"/>
                </a:solidFill>
                <a:latin typeface="Aptos"/>
              </a:defRPr>
            </a:pPr>
            <a:r>
              <a:t>Gold-label process</a:t>
            </a:r>
          </a:p>
        </p:txBody>
      </p:sp>
      <p:sp>
        <p:nvSpPr>
          <p:cNvPr id="30" name="TextBox 29"/>
          <p:cNvSpPr txBox="1"/>
          <p:nvPr/>
        </p:nvSpPr>
        <p:spPr>
          <a:xfrm>
            <a:off x="6400800" y="4005072"/>
            <a:ext cx="4535424" cy="1033271"/>
          </a:xfrm>
          <a:prstGeom prst="rect">
            <a:avLst/>
          </a:prstGeom>
          <a:noFill/>
        </p:spPr>
        <p:txBody>
          <a:bodyPr wrap="square" lIns="73152" rIns="73152" tIns="73152" bIns="73152">
            <a:spAutoFit/>
          </a:bodyPr>
          <a:lstStyle/>
          <a:p>
            <a:pPr algn="l">
              <a:defRPr sz="1300" b="0">
                <a:solidFill>
                  <a:srgbClr val="203338"/>
                </a:solidFill>
                <a:latin typeface="Aptos"/>
              </a:defRPr>
            </a:pPr>
            <a:r>
              <a:t>3 annotators → agreement statistic → adjudication</a:t>
            </a:r>
            <a:br/>
            <a:r>
              <a:t>LLM output alone is not ground truth</a:t>
            </a:r>
          </a:p>
        </p:txBody>
      </p:sp>
      <p:pic>
        <p:nvPicPr>
          <p:cNvPr id="31" name="Picture 30" descr="bee.png"/>
          <p:cNvPicPr>
            <a:picLocks noChangeAspect="1"/>
          </p:cNvPicPr>
          <p:nvPr/>
        </p:nvPicPr>
        <p:blipFill>
          <a:blip r:embed="rId2"/>
          <a:stretch>
            <a:fillRect/>
          </a:stretch>
        </p:blipFill>
        <p:spPr>
          <a:xfrm>
            <a:off x="10012680" y="5074920"/>
            <a:ext cx="731520" cy="731520"/>
          </a:xfrm>
          <a:prstGeom prst="rect">
            <a:avLst/>
          </a:prstGeom>
        </p:spPr>
      </p:pic>
      <p:sp>
        <p:nvSpPr>
          <p:cNvPr id="32" name="TextBox 31"/>
          <p:cNvSpPr txBox="1"/>
          <p:nvPr/>
        </p:nvSpPr>
        <p:spPr>
          <a:xfrm>
            <a:off x="9235440" y="5806440"/>
            <a:ext cx="2194560" cy="256032"/>
          </a:xfrm>
          <a:prstGeom prst="rect">
            <a:avLst/>
          </a:prstGeom>
          <a:noFill/>
        </p:spPr>
        <p:txBody>
          <a:bodyPr wrap="square" lIns="73152" rIns="73152" tIns="73152" bIns="73152">
            <a:spAutoFit/>
          </a:bodyPr>
          <a:lstStyle/>
          <a:p>
            <a:pPr algn="ctr">
              <a:defRPr sz="800" b="1">
                <a:solidFill>
                  <a:srgbClr val="64777A"/>
                </a:solidFill>
                <a:latin typeface="Aptos"/>
              </a:defRPr>
            </a:pPr>
            <a:r>
              <a:t>BEE ANALOGY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Safety metrics stay separate — no misleading composite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4008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17320"/>
            <a:ext cx="82296" cy="182880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527048"/>
            <a:ext cx="3227832" cy="320040"/>
          </a:xfrm>
          <a:prstGeom prst="rect">
            <a:avLst/>
          </a:prstGeom>
          <a:noFill/>
        </p:spPr>
        <p:txBody>
          <a:bodyPr wrap="square" lIns="73152" rIns="73152" tIns="73152" bIns="73152">
            <a:spAutoFit/>
          </a:bodyPr>
          <a:lstStyle/>
          <a:p>
            <a:pPr algn="l">
              <a:defRPr sz="1500" b="1">
                <a:solidFill>
                  <a:srgbClr val="D97862"/>
                </a:solidFill>
                <a:latin typeface="Aptos"/>
              </a:defRPr>
            </a:pPr>
            <a:r>
              <a:t>FMR • unsafe agreement</a:t>
            </a:r>
          </a:p>
        </p:txBody>
      </p:sp>
      <p:sp>
        <p:nvSpPr>
          <p:cNvPr id="9" name="TextBox 8"/>
          <p:cNvSpPr txBox="1"/>
          <p:nvPr/>
        </p:nvSpPr>
        <p:spPr>
          <a:xfrm>
            <a:off x="822959" y="1901952"/>
            <a:ext cx="3209544" cy="1261872"/>
          </a:xfrm>
          <a:prstGeom prst="rect">
            <a:avLst/>
          </a:prstGeom>
          <a:noFill/>
        </p:spPr>
        <p:txBody>
          <a:bodyPr wrap="square" lIns="73152" rIns="73152" tIns="73152" bIns="73152">
            <a:spAutoFit/>
          </a:bodyPr>
          <a:lstStyle/>
          <a:p>
            <a:pPr algn="l">
              <a:defRPr sz="1400" b="0">
                <a:solidFill>
                  <a:srgbClr val="203338"/>
                </a:solidFill>
                <a:latin typeface="Aptos"/>
              </a:defRPr>
            </a:pPr>
            <a:r>
              <a:t>Wrong Agree on actual conflicts</a:t>
            </a:r>
            <a:br/>
            <a:r>
              <a:t>(direct or verified) ÷ actual conflicts</a:t>
            </a:r>
          </a:p>
        </p:txBody>
      </p:sp>
      <p:sp>
        <p:nvSpPr>
          <p:cNvPr id="10" name="Rounded Rectangle 9"/>
          <p:cNvSpPr/>
          <p:nvPr/>
        </p:nvSpPr>
        <p:spPr>
          <a:xfrm>
            <a:off x="434340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43400" y="1417320"/>
            <a:ext cx="82296" cy="182880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527048"/>
            <a:ext cx="3227832" cy="320040"/>
          </a:xfrm>
          <a:prstGeom prst="rect">
            <a:avLst/>
          </a:prstGeom>
          <a:noFill/>
        </p:spPr>
        <p:txBody>
          <a:bodyPr wrap="square" lIns="73152" rIns="73152" tIns="73152" bIns="73152">
            <a:spAutoFit/>
          </a:bodyPr>
          <a:lstStyle/>
          <a:p>
            <a:pPr algn="l">
              <a:defRPr sz="1500" b="1">
                <a:solidFill>
                  <a:srgbClr val="E8B65A"/>
                </a:solidFill>
                <a:latin typeface="Aptos"/>
              </a:defRPr>
            </a:pPr>
            <a:r>
              <a:t>FCR • missed safe resolution</a:t>
            </a:r>
          </a:p>
        </p:txBody>
      </p:sp>
      <p:sp>
        <p:nvSpPr>
          <p:cNvPr id="13" name="TextBox 12"/>
          <p:cNvSpPr txBox="1"/>
          <p:nvPr/>
        </p:nvSpPr>
        <p:spPr>
          <a:xfrm>
            <a:off x="452628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Failure to resolve actual Paraphrase + Compatible cases ÷ those resolvable cases</a:t>
            </a:r>
          </a:p>
        </p:txBody>
      </p:sp>
      <p:sp>
        <p:nvSpPr>
          <p:cNvPr id="14" name="Rounded Rectangle 13"/>
          <p:cNvSpPr/>
          <p:nvPr/>
        </p:nvSpPr>
        <p:spPr>
          <a:xfrm>
            <a:off x="8046720" y="1417320"/>
            <a:ext cx="3520440" cy="182880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417320"/>
            <a:ext cx="82296" cy="182880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1527048"/>
            <a:ext cx="3227832" cy="320040"/>
          </a:xfrm>
          <a:prstGeom prst="rect">
            <a:avLst/>
          </a:prstGeom>
          <a:noFill/>
        </p:spPr>
        <p:txBody>
          <a:bodyPr wrap="square" lIns="73152" rIns="73152" tIns="73152" bIns="73152">
            <a:spAutoFit/>
          </a:bodyPr>
          <a:lstStyle/>
          <a:p>
            <a:pPr algn="l">
              <a:defRPr sz="1500" b="1">
                <a:solidFill>
                  <a:srgbClr val="2F7775"/>
                </a:solidFill>
                <a:latin typeface="Aptos"/>
              </a:defRPr>
            </a:pPr>
            <a:r>
              <a:t>Unnecessary abstention</a:t>
            </a:r>
          </a:p>
        </p:txBody>
      </p:sp>
      <p:sp>
        <p:nvSpPr>
          <p:cNvPr id="17" name="TextBox 16"/>
          <p:cNvSpPr txBox="1"/>
          <p:nvPr/>
        </p:nvSpPr>
        <p:spPr>
          <a:xfrm>
            <a:off x="8229600" y="1901952"/>
            <a:ext cx="3209544" cy="1261872"/>
          </a:xfrm>
          <a:prstGeom prst="rect">
            <a:avLst/>
          </a:prstGeom>
          <a:noFill/>
        </p:spPr>
        <p:txBody>
          <a:bodyPr wrap="square" lIns="73152" rIns="73152" tIns="73152" bIns="73152">
            <a:spAutoFit/>
          </a:bodyPr>
          <a:lstStyle/>
          <a:p>
            <a:pPr algn="l">
              <a:defRPr sz="1300" b="0">
                <a:solidFill>
                  <a:srgbClr val="203338"/>
                </a:solidFill>
                <a:latin typeface="Aptos"/>
              </a:defRPr>
            </a:pPr>
            <a:r>
              <a:t>Subset of FCR after Verify on resolvable cases; reported separately too</a:t>
            </a:r>
          </a:p>
        </p:txBody>
      </p:sp>
      <p:sp>
        <p:nvSpPr>
          <p:cNvPr id="18" name="Rounded Rectangle 17"/>
          <p:cNvSpPr/>
          <p:nvPr/>
        </p:nvSpPr>
        <p:spPr>
          <a:xfrm>
            <a:off x="914400" y="3794760"/>
            <a:ext cx="10287000" cy="137160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4005072"/>
            <a:ext cx="9875520" cy="411480"/>
          </a:xfrm>
          <a:prstGeom prst="rect">
            <a:avLst/>
          </a:prstGeom>
          <a:noFill/>
        </p:spPr>
        <p:txBody>
          <a:bodyPr wrap="square" lIns="73152" rIns="73152" tIns="73152" bIns="73152">
            <a:spAutoFit/>
          </a:bodyPr>
          <a:lstStyle/>
          <a:p>
            <a:pPr algn="ctr">
              <a:defRPr sz="1900" b="1">
                <a:solidFill>
                  <a:srgbClr val="FFFFFF"/>
                </a:solidFill>
                <a:latin typeface="Aptos"/>
              </a:defRPr>
            </a:pPr>
            <a:r>
              <a:t>Report a safety–coverage picture, not one “winner” score.</a:t>
            </a:r>
          </a:p>
        </p:txBody>
      </p:sp>
      <p:sp>
        <p:nvSpPr>
          <p:cNvPr id="20" name="TextBox 19"/>
          <p:cNvSpPr txBox="1"/>
          <p:nvPr/>
        </p:nvSpPr>
        <p:spPr>
          <a:xfrm>
            <a:off x="1280160" y="4608576"/>
            <a:ext cx="9601200" cy="365760"/>
          </a:xfrm>
          <a:prstGeom prst="rect">
            <a:avLst/>
          </a:prstGeom>
          <a:noFill/>
        </p:spPr>
        <p:txBody>
          <a:bodyPr wrap="square" lIns="73152" rIns="73152" tIns="73152" bIns="73152">
            <a:spAutoFit/>
          </a:bodyPr>
          <a:lstStyle/>
          <a:p>
            <a:pPr algn="ctr">
              <a:defRPr sz="1200" b="0">
                <a:solidFill>
                  <a:srgbClr val="DCEBE4"/>
                </a:solidFill>
                <a:latin typeface="Aptos"/>
              </a:defRPr>
            </a:pPr>
            <a:r>
              <a:t>Also: per-class F1 · calibration (ECE / Brier) · latency · token / compute cost · throughput</a:t>
            </a:r>
          </a:p>
        </p:txBody>
      </p:sp>
      <p:pic>
        <p:nvPicPr>
          <p:cNvPr id="21" name="Picture 20" descr="turtle.png"/>
          <p:cNvPicPr>
            <a:picLocks noChangeAspect="1"/>
          </p:cNvPicPr>
          <p:nvPr/>
        </p:nvPicPr>
        <p:blipFill>
          <a:blip r:embed="rId2"/>
          <a:stretch>
            <a:fillRect/>
          </a:stretch>
        </p:blipFill>
        <p:spPr>
          <a:xfrm>
            <a:off x="10012680" y="5212080"/>
            <a:ext cx="685800" cy="685800"/>
          </a:xfrm>
          <a:prstGeom prst="rect">
            <a:avLst/>
          </a:prstGeom>
        </p:spPr>
      </p:pic>
      <p:sp>
        <p:nvSpPr>
          <p:cNvPr id="22" name="TextBox 21"/>
          <p:cNvSpPr txBox="1"/>
          <p:nvPr/>
        </p:nvSpPr>
        <p:spPr>
          <a:xfrm>
            <a:off x="9326880" y="5806440"/>
            <a:ext cx="2103120" cy="228600"/>
          </a:xfrm>
          <a:prstGeom prst="rect">
            <a:avLst/>
          </a:prstGeom>
          <a:noFill/>
        </p:spPr>
        <p:txBody>
          <a:bodyPr wrap="square" lIns="73152" rIns="73152" tIns="73152" bIns="73152">
            <a:spAutoFit/>
          </a:bodyPr>
          <a:lstStyle/>
          <a:p>
            <a:pPr algn="ctr">
              <a:defRPr sz="800" b="1">
                <a:solidFill>
                  <a:srgbClr val="64777A"/>
                </a:solidFill>
                <a:latin typeface="Aptos"/>
              </a:defRPr>
            </a:pPr>
            <a:r>
              <a:t>TURTLE ANALOGY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SCP-MA: test decisions under asynchronous event delivery</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50292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Agents</a:t>
            </a:r>
          </a:p>
        </p:txBody>
      </p:sp>
      <p:sp>
        <p:nvSpPr>
          <p:cNvPr id="8" name="TextBox 7"/>
          <p:cNvSpPr txBox="1"/>
          <p:nvPr/>
        </p:nvSpPr>
        <p:spPr>
          <a:xfrm>
            <a:off x="66751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concurrent writes</a:t>
            </a:r>
          </a:p>
        </p:txBody>
      </p:sp>
      <p:cxnSp>
        <p:nvCxnSpPr>
          <p:cNvPr id="9" name="Connector 8"/>
          <p:cNvCxnSpPr/>
          <p:nvPr/>
        </p:nvCxnSpPr>
        <p:spPr>
          <a:xfrm>
            <a:off x="299923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42900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Immutable log</a:t>
            </a:r>
          </a:p>
        </p:txBody>
      </p:sp>
      <p:sp>
        <p:nvSpPr>
          <p:cNvPr id="12" name="TextBox 11"/>
          <p:cNvSpPr txBox="1"/>
          <p:nvPr/>
        </p:nvSpPr>
        <p:spPr>
          <a:xfrm>
            <a:off x="359359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event IDs + causal metadata</a:t>
            </a:r>
          </a:p>
        </p:txBody>
      </p:sp>
      <p:cxnSp>
        <p:nvCxnSpPr>
          <p:cNvPr id="13" name="Connector 12"/>
          <p:cNvCxnSpPr/>
          <p:nvPr/>
        </p:nvCxnSpPr>
        <p:spPr>
          <a:xfrm>
            <a:off x="592531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5508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74519"/>
            <a:ext cx="2194560" cy="310896"/>
          </a:xfrm>
          <a:prstGeom prst="rect">
            <a:avLst/>
          </a:prstGeom>
          <a:noFill/>
        </p:spPr>
        <p:txBody>
          <a:bodyPr wrap="square" lIns="73152" rIns="73152" tIns="73152" bIns="73152">
            <a:spAutoFit/>
          </a:bodyPr>
          <a:lstStyle/>
          <a:p>
            <a:pPr algn="ctr">
              <a:defRPr sz="1400" b="1">
                <a:solidFill>
                  <a:srgbClr val="2F7775"/>
                </a:solidFill>
                <a:latin typeface="Aptos"/>
              </a:defRPr>
            </a:pPr>
            <a:r>
              <a:t>Network</a:t>
            </a:r>
          </a:p>
        </p:txBody>
      </p:sp>
      <p:sp>
        <p:nvSpPr>
          <p:cNvPr id="16" name="TextBox 15"/>
          <p:cNvSpPr txBox="1"/>
          <p:nvPr/>
        </p:nvSpPr>
        <p:spPr>
          <a:xfrm>
            <a:off x="651967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delay · duplicate · reorder · disconnect</a:t>
            </a:r>
          </a:p>
        </p:txBody>
      </p:sp>
      <p:cxnSp>
        <p:nvCxnSpPr>
          <p:cNvPr id="17" name="Connector 16"/>
          <p:cNvCxnSpPr/>
          <p:nvPr/>
        </p:nvCxnSpPr>
        <p:spPr>
          <a:xfrm>
            <a:off x="8851392" y="2350008"/>
            <a:ext cx="356616"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81160" y="1691640"/>
            <a:ext cx="2487168"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0" y="1874519"/>
            <a:ext cx="2194560" cy="310896"/>
          </a:xfrm>
          <a:prstGeom prst="rect">
            <a:avLst/>
          </a:prstGeom>
          <a:noFill/>
        </p:spPr>
        <p:txBody>
          <a:bodyPr wrap="square" lIns="73152" rIns="73152" tIns="73152" bIns="73152">
            <a:spAutoFit/>
          </a:bodyPr>
          <a:lstStyle/>
          <a:p>
            <a:pPr algn="ctr">
              <a:defRPr sz="1400" b="1">
                <a:solidFill>
                  <a:srgbClr val="D97862"/>
                </a:solidFill>
                <a:latin typeface="Aptos"/>
              </a:defRPr>
            </a:pPr>
            <a:r>
              <a:t>Projection</a:t>
            </a:r>
          </a:p>
        </p:txBody>
      </p:sp>
      <p:sp>
        <p:nvSpPr>
          <p:cNvPr id="20" name="TextBox 19"/>
          <p:cNvSpPr txBox="1"/>
          <p:nvPr/>
        </p:nvSpPr>
        <p:spPr>
          <a:xfrm>
            <a:off x="9445752" y="2304288"/>
            <a:ext cx="2148840" cy="493776"/>
          </a:xfrm>
          <a:prstGeom prst="rect">
            <a:avLst/>
          </a:prstGeom>
          <a:noFill/>
        </p:spPr>
        <p:txBody>
          <a:bodyPr wrap="square" lIns="73152" rIns="73152" tIns="73152" bIns="73152">
            <a:spAutoFit/>
          </a:bodyPr>
          <a:lstStyle/>
          <a:p>
            <a:pPr algn="ctr">
              <a:defRPr sz="1100" b="0">
                <a:solidFill>
                  <a:srgbClr val="203338"/>
                </a:solidFill>
                <a:latin typeface="Aptos"/>
              </a:defRPr>
            </a:pPr>
            <a:r>
              <a:t>resolve value or UNRESOLVED</a:t>
            </a:r>
          </a:p>
        </p:txBody>
      </p:sp>
      <p:sp>
        <p:nvSpPr>
          <p:cNvPr id="21" name="Rounded Rectangle 20"/>
          <p:cNvSpPr/>
          <p:nvPr/>
        </p:nvSpPr>
        <p:spPr>
          <a:xfrm>
            <a:off x="132588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9903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duplicate delivery</a:t>
            </a:r>
          </a:p>
        </p:txBody>
      </p:sp>
      <p:sp>
        <p:nvSpPr>
          <p:cNvPr id="23" name="Rounded Rectangle 22"/>
          <p:cNvSpPr/>
          <p:nvPr/>
        </p:nvSpPr>
        <p:spPr>
          <a:xfrm>
            <a:off x="461772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9087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reordered delivery</a:t>
            </a:r>
          </a:p>
        </p:txBody>
      </p:sp>
      <p:sp>
        <p:nvSpPr>
          <p:cNvPr id="25" name="Rounded Rectangle 24"/>
          <p:cNvSpPr/>
          <p:nvPr/>
        </p:nvSpPr>
        <p:spPr>
          <a:xfrm>
            <a:off x="7909560" y="3246120"/>
            <a:ext cx="2240280" cy="438912"/>
          </a:xfrm>
          <a:prstGeom prst="roundRect">
            <a:avLst/>
          </a:prstGeom>
          <a:solidFill>
            <a:srgbClr val="FFF1D8"/>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82712" y="3310128"/>
            <a:ext cx="2093976" cy="256032"/>
          </a:xfrm>
          <a:prstGeom prst="rect">
            <a:avLst/>
          </a:prstGeom>
          <a:noFill/>
        </p:spPr>
        <p:txBody>
          <a:bodyPr wrap="square" lIns="73152" rIns="73152" tIns="73152" bIns="73152">
            <a:spAutoFit/>
          </a:bodyPr>
          <a:lstStyle/>
          <a:p>
            <a:pPr algn="ctr">
              <a:defRPr sz="900" b="1">
                <a:solidFill>
                  <a:srgbClr val="64777A"/>
                </a:solidFill>
                <a:latin typeface="Aptos"/>
              </a:defRPr>
            </a:pPr>
            <a:r>
              <a:t>delayed delivery</a:t>
            </a:r>
          </a:p>
        </p:txBody>
      </p:sp>
      <p:sp>
        <p:nvSpPr>
          <p:cNvPr id="27" name="Rounded Rectangle 26"/>
          <p:cNvSpPr/>
          <p:nvPr/>
        </p:nvSpPr>
        <p:spPr>
          <a:xfrm>
            <a:off x="91440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519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97280" y="4361688"/>
            <a:ext cx="4370831" cy="320040"/>
          </a:xfrm>
          <a:prstGeom prst="rect">
            <a:avLst/>
          </a:prstGeom>
          <a:noFill/>
        </p:spPr>
        <p:txBody>
          <a:bodyPr wrap="square" lIns="73152" rIns="73152" tIns="73152" bIns="73152">
            <a:spAutoFit/>
          </a:bodyPr>
          <a:lstStyle/>
          <a:p>
            <a:pPr algn="l">
              <a:defRPr sz="1500" b="1">
                <a:solidFill>
                  <a:srgbClr val="2F7775"/>
                </a:solidFill>
                <a:latin typeface="Aptos"/>
              </a:defRPr>
            </a:pPr>
            <a:r>
              <a:t>Measure</a:t>
            </a:r>
          </a:p>
        </p:txBody>
      </p:sp>
      <p:sp>
        <p:nvSpPr>
          <p:cNvPr id="30" name="TextBox 29"/>
          <p:cNvSpPr txBox="1"/>
          <p:nvPr/>
        </p:nvSpPr>
        <p:spPr>
          <a:xfrm>
            <a:off x="109728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Convergence rate/latency · divergence · bytes/messages · duplicate handling · recovery</a:t>
            </a:r>
          </a:p>
        </p:txBody>
      </p:sp>
      <p:sp>
        <p:nvSpPr>
          <p:cNvPr id="31" name="Rounded Rectangle 30"/>
          <p:cNvSpPr/>
          <p:nvPr/>
        </p:nvSpPr>
        <p:spPr>
          <a:xfrm>
            <a:off x="6309360" y="4251960"/>
            <a:ext cx="466344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309360" y="42519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361688"/>
            <a:ext cx="4370831" cy="320040"/>
          </a:xfrm>
          <a:prstGeom prst="rect">
            <a:avLst/>
          </a:prstGeom>
          <a:noFill/>
        </p:spPr>
        <p:txBody>
          <a:bodyPr wrap="square" lIns="73152" rIns="73152" tIns="73152" bIns="73152">
            <a:spAutoFit/>
          </a:bodyPr>
          <a:lstStyle/>
          <a:p>
            <a:pPr algn="l">
              <a:defRPr sz="1500" b="1">
                <a:solidFill>
                  <a:srgbClr val="D97862"/>
                </a:solidFill>
                <a:latin typeface="Aptos"/>
              </a:defRPr>
            </a:pPr>
            <a:r>
              <a:t>First validation</a:t>
            </a:r>
          </a:p>
        </p:txBody>
      </p:sp>
      <p:sp>
        <p:nvSpPr>
          <p:cNvPr id="34" name="TextBox 33"/>
          <p:cNvSpPr txBox="1"/>
          <p:nvPr/>
        </p:nvSpPr>
        <p:spPr>
          <a:xfrm>
            <a:off x="6492240" y="4736592"/>
            <a:ext cx="4352544" cy="667512"/>
          </a:xfrm>
          <a:prstGeom prst="rect">
            <a:avLst/>
          </a:prstGeom>
          <a:noFill/>
        </p:spPr>
        <p:txBody>
          <a:bodyPr wrap="square" lIns="73152" rIns="73152" tIns="73152" bIns="73152">
            <a:spAutoFit/>
          </a:bodyPr>
          <a:lstStyle/>
          <a:p>
            <a:pPr algn="l">
              <a:defRPr sz="1200" b="0">
                <a:solidFill>
                  <a:srgbClr val="203338"/>
                </a:solidFill>
                <a:latin typeface="Aptos"/>
              </a:defRPr>
            </a:pPr>
            <a:r>
              <a:t>Semantics-free deterministic simulator before semantic methods are connected</a:t>
            </a:r>
          </a:p>
        </p:txBody>
      </p:sp>
      <p:pic>
        <p:nvPicPr>
          <p:cNvPr id="35" name="Picture 34" descr="penguin.png"/>
          <p:cNvPicPr>
            <a:picLocks noChangeAspect="1"/>
          </p:cNvPicPr>
          <p:nvPr/>
        </p:nvPicPr>
        <p:blipFill>
          <a:blip r:embed="rId2"/>
          <a:stretch>
            <a:fillRect/>
          </a:stretch>
        </p:blipFill>
        <p:spPr>
          <a:xfrm>
            <a:off x="10241280" y="5486400"/>
            <a:ext cx="548640" cy="548640"/>
          </a:xfrm>
          <a:prstGeom prst="rect">
            <a:avLst/>
          </a:prstGeom>
        </p:spPr>
      </p:pic>
      <p:sp>
        <p:nvSpPr>
          <p:cNvPr id="36" name="TextBox 35"/>
          <p:cNvSpPr txBox="1"/>
          <p:nvPr/>
        </p:nvSpPr>
        <p:spPr>
          <a:xfrm>
            <a:off x="9372600" y="5897880"/>
            <a:ext cx="2377440" cy="182880"/>
          </a:xfrm>
          <a:prstGeom prst="rect">
            <a:avLst/>
          </a:prstGeom>
          <a:noFill/>
        </p:spPr>
        <p:txBody>
          <a:bodyPr wrap="square" lIns="73152" rIns="73152" tIns="73152" bIns="73152">
            <a:spAutoFit/>
          </a:bodyPr>
          <a:lstStyle/>
          <a:p>
            <a:pPr algn="ctr">
              <a:defRPr sz="800" b="1">
                <a:solidFill>
                  <a:srgbClr val="64777A"/>
                </a:solidFill>
                <a:latin typeface="Aptos"/>
              </a:defRPr>
            </a:pPr>
            <a:r>
              <a:t>PENGUIN ANALOGY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Convergence is a target condition — not yet proved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914400" y="1417320"/>
            <a:ext cx="10332720" cy="1143000"/>
          </a:xfrm>
          <a:prstGeom prst="roundRect">
            <a:avLst/>
          </a:prstGeom>
          <a:solidFill>
            <a:srgbClr val="E5F0EB"/>
          </a:solidFill>
          <a:ln>
            <a:solidFill>
              <a:srgbClr val="E5F0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1645920"/>
            <a:ext cx="9784080" cy="594360"/>
          </a:xfrm>
          <a:prstGeom prst="rect">
            <a:avLst/>
          </a:prstGeom>
          <a:noFill/>
        </p:spPr>
        <p:txBody>
          <a:bodyPr wrap="square" lIns="73152" rIns="73152" tIns="73152" bIns="73152">
            <a:spAutoFit/>
          </a:bodyPr>
          <a:lstStyle/>
          <a:p>
            <a:pPr algn="ctr">
              <a:defRPr sz="1800" b="1">
                <a:solidFill>
                  <a:srgbClr val="173B43"/>
                </a:solidFill>
                <a:latin typeface="Aptos"/>
              </a:defRPr>
            </a:pPr>
            <a:r>
              <a:t>Same valid event set E + deterministic Resolve(Canonicalize(E))</a:t>
            </a:r>
            <a:br/>
            <a:r>
              <a:t>⇒ identical projected state at every replica</a:t>
            </a:r>
          </a:p>
        </p:txBody>
      </p:sp>
      <p:sp>
        <p:nvSpPr>
          <p:cNvPr id="8" name="Rounded Rectangle 7"/>
          <p:cNvSpPr/>
          <p:nvPr/>
        </p:nvSpPr>
        <p:spPr>
          <a:xfrm>
            <a:off x="1005840"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3154680"/>
            <a:ext cx="82296" cy="132588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264408"/>
            <a:ext cx="2907792" cy="320040"/>
          </a:xfrm>
          <a:prstGeom prst="rect">
            <a:avLst/>
          </a:prstGeom>
          <a:noFill/>
        </p:spPr>
        <p:txBody>
          <a:bodyPr wrap="square" lIns="73152" rIns="73152" tIns="73152" bIns="73152">
            <a:spAutoFit/>
          </a:bodyPr>
          <a:lstStyle/>
          <a:p>
            <a:pPr algn="l">
              <a:defRPr sz="1500" b="1">
                <a:solidFill>
                  <a:srgbClr val="2F7775"/>
                </a:solidFill>
                <a:latin typeface="Aptos"/>
              </a:defRPr>
            </a:pPr>
            <a:r>
              <a:t>Canonicalize</a:t>
            </a:r>
          </a:p>
        </p:txBody>
      </p:sp>
      <p:sp>
        <p:nvSpPr>
          <p:cNvPr id="11" name="TextBox 10"/>
          <p:cNvSpPr txBox="1"/>
          <p:nvPr/>
        </p:nvSpPr>
        <p:spPr>
          <a:xfrm>
            <a:off x="1188720"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event set</a:t>
            </a:r>
          </a:p>
        </p:txBody>
      </p:sp>
      <p:cxnSp>
        <p:nvCxnSpPr>
          <p:cNvPr id="12" name="Connector 11"/>
          <p:cNvCxnSpPr/>
          <p:nvPr/>
        </p:nvCxnSpPr>
        <p:spPr>
          <a:xfrm>
            <a:off x="4224528" y="3794760"/>
            <a:ext cx="438912"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5487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754879" y="3154680"/>
            <a:ext cx="82296" cy="132588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3264408"/>
            <a:ext cx="2907792" cy="320040"/>
          </a:xfrm>
          <a:prstGeom prst="rect">
            <a:avLst/>
          </a:prstGeom>
          <a:noFill/>
        </p:spPr>
        <p:txBody>
          <a:bodyPr wrap="square" lIns="73152" rIns="73152" tIns="73152" bIns="73152">
            <a:spAutoFit/>
          </a:bodyPr>
          <a:lstStyle/>
          <a:p>
            <a:pPr algn="l">
              <a:defRPr sz="1500" b="1">
                <a:solidFill>
                  <a:srgbClr val="E8B65A"/>
                </a:solidFill>
                <a:latin typeface="Aptos"/>
              </a:defRPr>
            </a:pPr>
            <a:r>
              <a:t>Resolve</a:t>
            </a:r>
          </a:p>
        </p:txBody>
      </p:sp>
      <p:sp>
        <p:nvSpPr>
          <p:cNvPr id="16" name="TextBox 15"/>
          <p:cNvSpPr txBox="1"/>
          <p:nvPr/>
        </p:nvSpPr>
        <p:spPr>
          <a:xfrm>
            <a:off x="493775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pure deterministic function</a:t>
            </a:r>
          </a:p>
        </p:txBody>
      </p:sp>
      <p:cxnSp>
        <p:nvCxnSpPr>
          <p:cNvPr id="17" name="Connector 16"/>
          <p:cNvCxnSpPr/>
          <p:nvPr/>
        </p:nvCxnSpPr>
        <p:spPr>
          <a:xfrm>
            <a:off x="7973567" y="3794760"/>
            <a:ext cx="438913"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503919" y="3154680"/>
            <a:ext cx="3200400" cy="13258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03919" y="3154680"/>
            <a:ext cx="82296" cy="132588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799" y="3264408"/>
            <a:ext cx="2907792" cy="320040"/>
          </a:xfrm>
          <a:prstGeom prst="rect">
            <a:avLst/>
          </a:prstGeom>
          <a:noFill/>
        </p:spPr>
        <p:txBody>
          <a:bodyPr wrap="square" lIns="73152" rIns="73152" tIns="73152" bIns="73152">
            <a:spAutoFit/>
          </a:bodyPr>
          <a:lstStyle/>
          <a:p>
            <a:pPr algn="l">
              <a:defRPr sz="1500" b="1">
                <a:solidFill>
                  <a:srgbClr val="D97862"/>
                </a:solidFill>
                <a:latin typeface="Aptos"/>
              </a:defRPr>
            </a:pPr>
            <a:r>
              <a:t>Project</a:t>
            </a:r>
          </a:p>
        </p:txBody>
      </p:sp>
      <p:sp>
        <p:nvSpPr>
          <p:cNvPr id="21" name="TextBox 20"/>
          <p:cNvSpPr txBox="1"/>
          <p:nvPr/>
        </p:nvSpPr>
        <p:spPr>
          <a:xfrm>
            <a:off x="8686799" y="3639312"/>
            <a:ext cx="2889504" cy="758952"/>
          </a:xfrm>
          <a:prstGeom prst="rect">
            <a:avLst/>
          </a:prstGeom>
          <a:noFill/>
        </p:spPr>
        <p:txBody>
          <a:bodyPr wrap="square" lIns="73152" rIns="73152" tIns="73152" bIns="73152">
            <a:spAutoFit/>
          </a:bodyPr>
          <a:lstStyle/>
          <a:p>
            <a:pPr algn="l">
              <a:defRPr sz="1300" b="0">
                <a:solidFill>
                  <a:srgbClr val="203338"/>
                </a:solidFill>
                <a:latin typeface="Aptos"/>
              </a:defRPr>
            </a:pPr>
            <a:r>
              <a:t>same value or UNRESOLVED</a:t>
            </a:r>
          </a:p>
        </p:txBody>
      </p:sp>
      <p:sp>
        <p:nvSpPr>
          <p:cNvPr id="22" name="Rounded Rectangle 21"/>
          <p:cNvSpPr/>
          <p:nvPr/>
        </p:nvSpPr>
        <p:spPr>
          <a:xfrm>
            <a:off x="1828800" y="5120640"/>
            <a:ext cx="8549640" cy="713232"/>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11680" y="5303520"/>
            <a:ext cx="8183879" cy="320040"/>
          </a:xfrm>
          <a:prstGeom prst="rect">
            <a:avLst/>
          </a:prstGeom>
          <a:noFill/>
        </p:spPr>
        <p:txBody>
          <a:bodyPr wrap="square" lIns="73152" rIns="73152" tIns="73152" bIns="73152">
            <a:spAutoFit/>
          </a:bodyPr>
          <a:lstStyle/>
          <a:p>
            <a:pPr algn="ctr">
              <a:defRPr sz="1200" b="1">
                <a:solidFill>
                  <a:srgbClr val="A84F48"/>
                </a:solidFill>
                <a:latin typeface="Aptos"/>
              </a:defRPr>
            </a:pPr>
            <a:r>
              <a:t>Open proof obligations: canonical inputs · tie rules · deterministic Verify · exact meaning of “state”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Prior work narrows broad claims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2801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280160"/>
            <a:ext cx="91440" cy="713232"/>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716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Pair relations / false merges</a:t>
            </a:r>
          </a:p>
        </p:txBody>
      </p:sp>
      <p:sp>
        <p:nvSpPr>
          <p:cNvPr id="9" name="TextBox 8"/>
          <p:cNvSpPr txBox="1"/>
          <p:nvPr/>
        </p:nvSpPr>
        <p:spPr>
          <a:xfrm>
            <a:off x="3657600" y="1371600"/>
            <a:ext cx="2468880" cy="274320"/>
          </a:xfrm>
          <a:prstGeom prst="rect">
            <a:avLst/>
          </a:prstGeom>
          <a:noFill/>
        </p:spPr>
        <p:txBody>
          <a:bodyPr wrap="square" lIns="73152" rIns="73152" tIns="73152" bIns="73152">
            <a:spAutoFit/>
          </a:bodyPr>
          <a:lstStyle/>
          <a:p>
            <a:pPr algn="l">
              <a:defRPr sz="1200" b="1">
                <a:solidFill>
                  <a:srgbClr val="2F7775"/>
                </a:solidFill>
                <a:latin typeface="Aptos"/>
              </a:defRPr>
            </a:pPr>
            <a:r>
              <a:t>MELD</a:t>
            </a:r>
          </a:p>
        </p:txBody>
      </p:sp>
      <p:sp>
        <p:nvSpPr>
          <p:cNvPr id="10" name="TextBox 9"/>
          <p:cNvSpPr txBox="1"/>
          <p:nvPr/>
        </p:nvSpPr>
        <p:spPr>
          <a:xfrm>
            <a:off x="6400800" y="13716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104 pairs; distinct keys</a:t>
            </a:r>
          </a:p>
        </p:txBody>
      </p:sp>
      <p:sp>
        <p:nvSpPr>
          <p:cNvPr id="11" name="Rounded Rectangle 10"/>
          <p:cNvSpPr/>
          <p:nvPr/>
        </p:nvSpPr>
        <p:spPr>
          <a:xfrm>
            <a:off x="822960" y="21945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194560"/>
            <a:ext cx="91440" cy="713232"/>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860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Conflict-preserving state</a:t>
            </a:r>
          </a:p>
        </p:txBody>
      </p:sp>
      <p:sp>
        <p:nvSpPr>
          <p:cNvPr id="14" name="TextBox 13"/>
          <p:cNvSpPr txBox="1"/>
          <p:nvPr/>
        </p:nvSpPr>
        <p:spPr>
          <a:xfrm>
            <a:off x="3657600" y="2286000"/>
            <a:ext cx="2468880" cy="274320"/>
          </a:xfrm>
          <a:prstGeom prst="rect">
            <a:avLst/>
          </a:prstGeom>
          <a:noFill/>
        </p:spPr>
        <p:txBody>
          <a:bodyPr wrap="square" lIns="73152" rIns="73152" tIns="73152" bIns="73152">
            <a:spAutoFit/>
          </a:bodyPr>
          <a:lstStyle/>
          <a:p>
            <a:pPr algn="l">
              <a:defRPr sz="1200" b="1">
                <a:solidFill>
                  <a:srgbClr val="D97862"/>
                </a:solidFill>
                <a:latin typeface="Aptos"/>
              </a:defRPr>
            </a:pPr>
            <a:r>
              <a:t>StateFuse · TOKI</a:t>
            </a:r>
          </a:p>
        </p:txBody>
      </p:sp>
      <p:sp>
        <p:nvSpPr>
          <p:cNvPr id="15" name="TextBox 14"/>
          <p:cNvSpPr txBox="1"/>
          <p:nvPr/>
        </p:nvSpPr>
        <p:spPr>
          <a:xfrm>
            <a:off x="6400800" y="22860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history, provenance, projection, abstention</a:t>
            </a:r>
          </a:p>
        </p:txBody>
      </p:sp>
      <p:sp>
        <p:nvSpPr>
          <p:cNvPr id="16" name="Rounded Rectangle 15"/>
          <p:cNvSpPr/>
          <p:nvPr/>
        </p:nvSpPr>
        <p:spPr>
          <a:xfrm>
            <a:off x="822960" y="31089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3108960"/>
            <a:ext cx="91440" cy="713232"/>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2004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Long-history relational QA</a:t>
            </a:r>
          </a:p>
        </p:txBody>
      </p:sp>
      <p:sp>
        <p:nvSpPr>
          <p:cNvPr id="19" name="TextBox 18"/>
          <p:cNvSpPr txBox="1"/>
          <p:nvPr/>
        </p:nvSpPr>
        <p:spPr>
          <a:xfrm>
            <a:off x="3657600" y="3200400"/>
            <a:ext cx="2468880" cy="274320"/>
          </a:xfrm>
          <a:prstGeom prst="rect">
            <a:avLst/>
          </a:prstGeom>
          <a:noFill/>
        </p:spPr>
        <p:txBody>
          <a:bodyPr wrap="square" lIns="73152" rIns="73152" tIns="73152" bIns="73152">
            <a:spAutoFit/>
          </a:bodyPr>
          <a:lstStyle/>
          <a:p>
            <a:pPr algn="l">
              <a:defRPr sz="1200" b="1">
                <a:solidFill>
                  <a:srgbClr val="E8B65A"/>
                </a:solidFill>
                <a:latin typeface="Aptos"/>
              </a:defRPr>
            </a:pPr>
            <a:r>
              <a:t>SubtleMemory · TANGLE · STALE</a:t>
            </a:r>
          </a:p>
        </p:txBody>
      </p:sp>
      <p:sp>
        <p:nvSpPr>
          <p:cNvPr id="20" name="TextBox 19"/>
          <p:cNvSpPr txBox="1"/>
          <p:nvPr/>
        </p:nvSpPr>
        <p:spPr>
          <a:xfrm>
            <a:off x="6400800" y="32004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downstream memory tasks</a:t>
            </a:r>
          </a:p>
        </p:txBody>
      </p:sp>
      <p:sp>
        <p:nvSpPr>
          <p:cNvPr id="21" name="Rounded Rectangle 20"/>
          <p:cNvSpPr/>
          <p:nvPr/>
        </p:nvSpPr>
        <p:spPr>
          <a:xfrm>
            <a:off x="822960" y="40233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023360"/>
            <a:ext cx="91440" cy="713232"/>
          </a:xfrm>
          <a:prstGeom prst="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1148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Coordination / governance</a:t>
            </a:r>
          </a:p>
        </p:txBody>
      </p:sp>
      <p:sp>
        <p:nvSpPr>
          <p:cNvPr id="24" name="TextBox 23"/>
          <p:cNvSpPr txBox="1"/>
          <p:nvPr/>
        </p:nvSpPr>
        <p:spPr>
          <a:xfrm>
            <a:off x="3657600" y="4114800"/>
            <a:ext cx="2468880" cy="274320"/>
          </a:xfrm>
          <a:prstGeom prst="rect">
            <a:avLst/>
          </a:prstGeom>
          <a:noFill/>
        </p:spPr>
        <p:txBody>
          <a:bodyPr wrap="square" lIns="73152" rIns="73152" tIns="73152" bIns="73152">
            <a:spAutoFit/>
          </a:bodyPr>
          <a:lstStyle/>
          <a:p>
            <a:pPr algn="l">
              <a:defRPr sz="1200" b="1">
                <a:solidFill>
                  <a:srgbClr val="9CB79B"/>
                </a:solidFill>
                <a:latin typeface="Aptos"/>
              </a:defRPr>
            </a:pPr>
            <a:r>
              <a:t>S-Bus · Governed Shared Memory</a:t>
            </a:r>
          </a:p>
        </p:txBody>
      </p:sp>
      <p:sp>
        <p:nvSpPr>
          <p:cNvPr id="25" name="TextBox 24"/>
          <p:cNvSpPr txBox="1"/>
          <p:nvPr/>
        </p:nvSpPr>
        <p:spPr>
          <a:xfrm>
            <a:off x="6400800" y="41148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structural concurrency / supersession</a:t>
            </a:r>
          </a:p>
        </p:txBody>
      </p:sp>
      <p:sp>
        <p:nvSpPr>
          <p:cNvPr id="26" name="Rounded Rectangle 25"/>
          <p:cNvSpPr/>
          <p:nvPr/>
        </p:nvSpPr>
        <p:spPr>
          <a:xfrm>
            <a:off x="822960" y="4937760"/>
            <a:ext cx="10561320" cy="713232"/>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2960" y="4937760"/>
            <a:ext cx="91440" cy="713232"/>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5029200"/>
            <a:ext cx="2468880" cy="274320"/>
          </a:xfrm>
          <a:prstGeom prst="rect">
            <a:avLst/>
          </a:prstGeom>
          <a:noFill/>
        </p:spPr>
        <p:txBody>
          <a:bodyPr wrap="square" lIns="73152" rIns="73152" tIns="73152" bIns="73152">
            <a:spAutoFit/>
          </a:bodyPr>
          <a:lstStyle/>
          <a:p>
            <a:pPr algn="l">
              <a:defRPr sz="1200" b="1">
                <a:solidFill>
                  <a:srgbClr val="173B43"/>
                </a:solidFill>
                <a:latin typeface="Aptos"/>
              </a:defRPr>
            </a:pPr>
            <a:r>
              <a:t>NLI / evidence pairs</a:t>
            </a:r>
          </a:p>
        </p:txBody>
      </p:sp>
      <p:sp>
        <p:nvSpPr>
          <p:cNvPr id="29" name="TextBox 28"/>
          <p:cNvSpPr txBox="1"/>
          <p:nvPr/>
        </p:nvSpPr>
        <p:spPr>
          <a:xfrm>
            <a:off x="3657600" y="5029200"/>
            <a:ext cx="2468880" cy="274320"/>
          </a:xfrm>
          <a:prstGeom prst="rect">
            <a:avLst/>
          </a:prstGeom>
          <a:noFill/>
        </p:spPr>
        <p:txBody>
          <a:bodyPr wrap="square" lIns="73152" rIns="73152" tIns="73152" bIns="73152">
            <a:spAutoFit/>
          </a:bodyPr>
          <a:lstStyle/>
          <a:p>
            <a:pPr algn="l">
              <a:defRPr sz="1200" b="1">
                <a:solidFill>
                  <a:srgbClr val="7286A3"/>
                </a:solidFill>
                <a:latin typeface="Aptos"/>
              </a:defRPr>
            </a:pPr>
            <a:r>
              <a:t>ECon · RefNLI · ANLI</a:t>
            </a:r>
          </a:p>
        </p:txBody>
      </p:sp>
      <p:sp>
        <p:nvSpPr>
          <p:cNvPr id="30" name="TextBox 29"/>
          <p:cNvSpPr txBox="1"/>
          <p:nvPr/>
        </p:nvSpPr>
        <p:spPr>
          <a:xfrm>
            <a:off x="6400800" y="5029200"/>
            <a:ext cx="4572000" cy="411480"/>
          </a:xfrm>
          <a:prstGeom prst="rect">
            <a:avLst/>
          </a:prstGeom>
          <a:noFill/>
        </p:spPr>
        <p:txBody>
          <a:bodyPr wrap="square" lIns="73152" rIns="73152" tIns="73152" bIns="73152">
            <a:spAutoFit/>
          </a:bodyPr>
          <a:lstStyle/>
          <a:p>
            <a:pPr algn="l">
              <a:defRPr sz="1100" b="0">
                <a:solidFill>
                  <a:srgbClr val="203338"/>
                </a:solidFill>
                <a:latin typeface="Aptos"/>
              </a:defRPr>
            </a:pPr>
            <a:r>
              <a:t>adjacent pair reasoning; different setup</a:t>
            </a:r>
          </a:p>
        </p:txBody>
      </p:sp>
      <p:pic>
        <p:nvPicPr>
          <p:cNvPr id="31" name="Picture 30" descr="fox.png"/>
          <p:cNvPicPr>
            <a:picLocks noChangeAspect="1"/>
          </p:cNvPicPr>
          <p:nvPr/>
        </p:nvPicPr>
        <p:blipFill>
          <a:blip r:embed="rId2"/>
          <a:stretch>
            <a:fillRect/>
          </a:stretch>
        </p:blipFill>
        <p:spPr>
          <a:xfrm>
            <a:off x="10652760" y="5715000"/>
            <a:ext cx="457200" cy="457200"/>
          </a:xfrm>
          <a:prstGeom prst="rect">
            <a:avLst/>
          </a:prstGeom>
        </p:spPr>
      </p:pic>
      <p:sp>
        <p:nvSpPr>
          <p:cNvPr id="32" name="TextBox 31"/>
          <p:cNvSpPr txBox="1"/>
          <p:nvPr/>
        </p:nvSpPr>
        <p:spPr>
          <a:xfrm>
            <a:off x="1051560" y="5788152"/>
            <a:ext cx="9144000" cy="310896"/>
          </a:xfrm>
          <a:prstGeom prst="rect">
            <a:avLst/>
          </a:prstGeom>
          <a:noFill/>
        </p:spPr>
        <p:txBody>
          <a:bodyPr wrap="square" lIns="73152" rIns="73152" tIns="73152" bIns="73152">
            <a:spAutoFit/>
          </a:bodyPr>
          <a:lstStyle/>
          <a:p>
            <a:pPr algn="ctr">
              <a:defRPr sz="1100" b="1">
                <a:solidFill>
                  <a:srgbClr val="A84F48"/>
                </a:solidFill>
                <a:latin typeface="Aptos"/>
              </a:defRPr>
            </a:pPr>
            <a:r>
              <a:t>Interpretation: substantial overlap exists; novelty remains unresolved pending full source-wide verification.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State the literature numbers with their caveats</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8229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1508760"/>
            <a:ext cx="82296" cy="123444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18488"/>
            <a:ext cx="4690872" cy="320040"/>
          </a:xfrm>
          <a:prstGeom prst="rect">
            <a:avLst/>
          </a:prstGeom>
          <a:noFill/>
        </p:spPr>
        <p:txBody>
          <a:bodyPr wrap="square" lIns="73152" rIns="73152" tIns="73152" bIns="73152">
            <a:spAutoFit/>
          </a:bodyPr>
          <a:lstStyle/>
          <a:p>
            <a:pPr algn="l">
              <a:defRPr sz="1500" b="1">
                <a:solidFill>
                  <a:srgbClr val="2F7775"/>
                </a:solidFill>
                <a:latin typeface="Aptos"/>
              </a:defRPr>
            </a:pPr>
            <a:r>
              <a:t>MELD</a:t>
            </a:r>
          </a:p>
        </p:txBody>
      </p:sp>
      <p:sp>
        <p:nvSpPr>
          <p:cNvPr id="9" name="TextBox 8"/>
          <p:cNvSpPr txBox="1"/>
          <p:nvPr/>
        </p:nvSpPr>
        <p:spPr>
          <a:xfrm>
            <a:off x="10058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104-pair set uses distinct claim keys</a:t>
            </a:r>
          </a:p>
        </p:txBody>
      </p:sp>
      <p:sp>
        <p:nvSpPr>
          <p:cNvPr id="10" name="Rounded Rectangle 9"/>
          <p:cNvSpPr/>
          <p:nvPr/>
        </p:nvSpPr>
        <p:spPr>
          <a:xfrm>
            <a:off x="6309360" y="15087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508760"/>
            <a:ext cx="82296" cy="123444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618488"/>
            <a:ext cx="4690872" cy="320040"/>
          </a:xfrm>
          <a:prstGeom prst="rect">
            <a:avLst/>
          </a:prstGeom>
          <a:noFill/>
        </p:spPr>
        <p:txBody>
          <a:bodyPr wrap="square" lIns="73152" rIns="73152" tIns="73152" bIns="73152">
            <a:spAutoFit/>
          </a:bodyPr>
          <a:lstStyle/>
          <a:p>
            <a:pPr algn="l">
              <a:defRPr sz="1500" b="1">
                <a:solidFill>
                  <a:srgbClr val="D97862"/>
                </a:solidFill>
                <a:latin typeface="Aptos"/>
              </a:defRPr>
            </a:pPr>
            <a:r>
              <a:t>CodeCRDT</a:t>
            </a:r>
          </a:p>
        </p:txBody>
      </p:sp>
      <p:sp>
        <p:nvSpPr>
          <p:cNvPr id="13" name="TextBox 12"/>
          <p:cNvSpPr txBox="1"/>
          <p:nvPr/>
        </p:nvSpPr>
        <p:spPr>
          <a:xfrm>
            <a:off x="6492240" y="19933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5–10% from manual 60/600 sample</a:t>
            </a:r>
          </a:p>
        </p:txBody>
      </p:sp>
      <p:sp>
        <p:nvSpPr>
          <p:cNvPr id="14" name="Rounded Rectangle 13"/>
          <p:cNvSpPr/>
          <p:nvPr/>
        </p:nvSpPr>
        <p:spPr>
          <a:xfrm>
            <a:off x="8229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108960"/>
            <a:ext cx="82296" cy="123444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218688"/>
            <a:ext cx="4690872" cy="320040"/>
          </a:xfrm>
          <a:prstGeom prst="rect">
            <a:avLst/>
          </a:prstGeom>
          <a:noFill/>
        </p:spPr>
        <p:txBody>
          <a:bodyPr wrap="square" lIns="73152" rIns="73152" tIns="73152" bIns="73152">
            <a:spAutoFit/>
          </a:bodyPr>
          <a:lstStyle/>
          <a:p>
            <a:pPr algn="l">
              <a:defRPr sz="1500" b="1">
                <a:solidFill>
                  <a:srgbClr val="E8B65A"/>
                </a:solidFill>
                <a:latin typeface="Aptos"/>
              </a:defRPr>
            </a:pPr>
            <a:r>
              <a:t>SCF</a:t>
            </a:r>
          </a:p>
        </p:txBody>
      </p:sp>
      <p:sp>
        <p:nvSpPr>
          <p:cNvPr id="17" name="TextBox 16"/>
          <p:cNvSpPr txBox="1"/>
          <p:nvPr/>
        </p:nvSpPr>
        <p:spPr>
          <a:xfrm>
            <a:off x="10058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27.9% precision · 65.2% recall · F1 39.0</a:t>
            </a:r>
          </a:p>
        </p:txBody>
      </p:sp>
      <p:sp>
        <p:nvSpPr>
          <p:cNvPr id="18" name="Rounded Rectangle 17"/>
          <p:cNvSpPr/>
          <p:nvPr/>
        </p:nvSpPr>
        <p:spPr>
          <a:xfrm>
            <a:off x="6309360" y="3108960"/>
            <a:ext cx="4983480" cy="123444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108960"/>
            <a:ext cx="82296" cy="1234440"/>
          </a:xfrm>
          <a:prstGeom prst="rect">
            <a:avLst/>
          </a:prstGeom>
          <a:solidFill>
            <a:srgbClr val="7286A3"/>
          </a:solidFill>
          <a:ln>
            <a:solidFill>
              <a:srgbClr val="7286A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0" y="3218688"/>
            <a:ext cx="4690872" cy="320040"/>
          </a:xfrm>
          <a:prstGeom prst="rect">
            <a:avLst/>
          </a:prstGeom>
          <a:noFill/>
        </p:spPr>
        <p:txBody>
          <a:bodyPr wrap="square" lIns="73152" rIns="73152" tIns="73152" bIns="73152">
            <a:spAutoFit/>
          </a:bodyPr>
          <a:lstStyle/>
          <a:p>
            <a:pPr algn="l">
              <a:defRPr sz="1500" b="1">
                <a:solidFill>
                  <a:srgbClr val="7286A3"/>
                </a:solidFill>
                <a:latin typeface="Aptos"/>
              </a:defRPr>
            </a:pPr>
            <a:r>
              <a:t>Freshness pipeline</a:t>
            </a:r>
          </a:p>
        </p:txBody>
      </p:sp>
      <p:sp>
        <p:nvSpPr>
          <p:cNvPr id="21" name="TextBox 20"/>
          <p:cNvSpPr txBox="1"/>
          <p:nvPr/>
        </p:nvSpPr>
        <p:spPr>
          <a:xfrm>
            <a:off x="6492240" y="3593591"/>
            <a:ext cx="4672584" cy="667512"/>
          </a:xfrm>
          <a:prstGeom prst="rect">
            <a:avLst/>
          </a:prstGeom>
          <a:noFill/>
        </p:spPr>
        <p:txBody>
          <a:bodyPr wrap="square" lIns="73152" rIns="73152" tIns="73152" bIns="73152">
            <a:spAutoFit/>
          </a:bodyPr>
          <a:lstStyle/>
          <a:p>
            <a:pPr algn="l">
              <a:defRPr sz="1400" b="0">
                <a:solidFill>
                  <a:srgbClr val="203338"/>
                </a:solidFill>
                <a:latin typeface="Aptos"/>
              </a:defRPr>
            </a:pPr>
            <a:r>
              <a:t>+10.8 / +21 pp are whole-pipeline; executor-only +2 / 0</a:t>
            </a:r>
          </a:p>
        </p:txBody>
      </p:sp>
      <p:sp>
        <p:nvSpPr>
          <p:cNvPr id="22" name="Rounded Rectangle 21"/>
          <p:cNvSpPr/>
          <p:nvPr/>
        </p:nvSpPr>
        <p:spPr>
          <a:xfrm>
            <a:off x="2011680" y="5074920"/>
            <a:ext cx="8138160" cy="77724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5285232"/>
            <a:ext cx="7772400" cy="329184"/>
          </a:xfrm>
          <a:prstGeom prst="rect">
            <a:avLst/>
          </a:prstGeom>
          <a:noFill/>
        </p:spPr>
        <p:txBody>
          <a:bodyPr wrap="square" lIns="73152" rIns="73152" tIns="73152" bIns="73152">
            <a:spAutoFit/>
          </a:bodyPr>
          <a:lstStyle/>
          <a:p>
            <a:pPr algn="ctr">
              <a:defRPr sz="1400" b="1">
                <a:solidFill>
                  <a:srgbClr val="A84F48"/>
                </a:solidFill>
                <a:latin typeface="Aptos"/>
              </a:defRPr>
            </a:pPr>
            <a:r>
              <a:t>Partial findings challenge scope; they are not a final novelty verdict.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Key decisions before any build</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68580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146304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57276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Key schema</a:t>
            </a:r>
          </a:p>
        </p:txBody>
      </p:sp>
      <p:sp>
        <p:nvSpPr>
          <p:cNvPr id="9" name="TextBox 8"/>
          <p:cNvSpPr txBox="1"/>
          <p:nvPr/>
        </p:nvSpPr>
        <p:spPr>
          <a:xfrm>
            <a:off x="86868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Cardinality, type, role, temporal scope</a:t>
            </a:r>
          </a:p>
        </p:txBody>
      </p:sp>
      <p:sp>
        <p:nvSpPr>
          <p:cNvPr id="10" name="Rounded Rectangle 9"/>
          <p:cNvSpPr/>
          <p:nvPr/>
        </p:nvSpPr>
        <p:spPr>
          <a:xfrm>
            <a:off x="452628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26280" y="146304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57276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Label guide</a:t>
            </a:r>
          </a:p>
        </p:txBody>
      </p:sp>
      <p:sp>
        <p:nvSpPr>
          <p:cNvPr id="13" name="TextBox 12"/>
          <p:cNvSpPr txBox="1"/>
          <p:nvPr/>
        </p:nvSpPr>
        <p:spPr>
          <a:xfrm>
            <a:off x="470916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Soft vs hard; pair vs context</a:t>
            </a:r>
          </a:p>
        </p:txBody>
      </p:sp>
      <p:sp>
        <p:nvSpPr>
          <p:cNvPr id="14" name="Rounded Rectangle 13"/>
          <p:cNvSpPr/>
          <p:nvPr/>
        </p:nvSpPr>
        <p:spPr>
          <a:xfrm>
            <a:off x="8366760" y="146304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146304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157276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Layer boundary</a:t>
            </a:r>
          </a:p>
        </p:txBody>
      </p:sp>
      <p:sp>
        <p:nvSpPr>
          <p:cNvPr id="17" name="TextBox 16"/>
          <p:cNvSpPr txBox="1"/>
          <p:nvPr/>
        </p:nvSpPr>
        <p:spPr>
          <a:xfrm>
            <a:off x="8549640" y="1947672"/>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Classifier output → policy action mapping</a:t>
            </a:r>
          </a:p>
        </p:txBody>
      </p:sp>
      <p:sp>
        <p:nvSpPr>
          <p:cNvPr id="18" name="Rounded Rectangle 17"/>
          <p:cNvSpPr/>
          <p:nvPr/>
        </p:nvSpPr>
        <p:spPr>
          <a:xfrm>
            <a:off x="68580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3337560"/>
            <a:ext cx="82296" cy="141732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47288"/>
            <a:ext cx="3136392" cy="320040"/>
          </a:xfrm>
          <a:prstGeom prst="rect">
            <a:avLst/>
          </a:prstGeom>
          <a:noFill/>
        </p:spPr>
        <p:txBody>
          <a:bodyPr wrap="square" lIns="73152" rIns="73152" tIns="73152" bIns="73152">
            <a:spAutoFit/>
          </a:bodyPr>
          <a:lstStyle/>
          <a:p>
            <a:pPr algn="l">
              <a:defRPr sz="1500" b="1">
                <a:solidFill>
                  <a:srgbClr val="2F7775"/>
                </a:solidFill>
                <a:latin typeface="Aptos"/>
              </a:defRPr>
            </a:pPr>
            <a:r>
              <a:t>Evidence for Verify</a:t>
            </a:r>
          </a:p>
        </p:txBody>
      </p:sp>
      <p:sp>
        <p:nvSpPr>
          <p:cNvPr id="21" name="TextBox 20"/>
          <p:cNvSpPr txBox="1"/>
          <p:nvPr/>
        </p:nvSpPr>
        <p:spPr>
          <a:xfrm>
            <a:off x="86868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Allowed deterministic sources and rules</a:t>
            </a:r>
          </a:p>
        </p:txBody>
      </p:sp>
      <p:sp>
        <p:nvSpPr>
          <p:cNvPr id="22" name="Rounded Rectangle 21"/>
          <p:cNvSpPr/>
          <p:nvPr/>
        </p:nvSpPr>
        <p:spPr>
          <a:xfrm>
            <a:off x="452628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26280" y="3337560"/>
            <a:ext cx="82296" cy="1417320"/>
          </a:xfrm>
          <a:prstGeom prst="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9160" y="3447288"/>
            <a:ext cx="3136392" cy="320040"/>
          </a:xfrm>
          <a:prstGeom prst="rect">
            <a:avLst/>
          </a:prstGeom>
          <a:noFill/>
        </p:spPr>
        <p:txBody>
          <a:bodyPr wrap="square" lIns="73152" rIns="73152" tIns="73152" bIns="73152">
            <a:spAutoFit/>
          </a:bodyPr>
          <a:lstStyle/>
          <a:p>
            <a:pPr algn="l">
              <a:defRPr sz="1500" b="1">
                <a:solidFill>
                  <a:srgbClr val="D97862"/>
                </a:solidFill>
                <a:latin typeface="Aptos"/>
              </a:defRPr>
            </a:pPr>
            <a:r>
              <a:t>Feasibility</a:t>
            </a:r>
          </a:p>
        </p:txBody>
      </p:sp>
      <p:sp>
        <p:nvSpPr>
          <p:cNvPr id="25" name="TextBox 24"/>
          <p:cNvSpPr txBox="1"/>
          <p:nvPr/>
        </p:nvSpPr>
        <p:spPr>
          <a:xfrm>
            <a:off x="470916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Annotators, sample size, compute/API budget</a:t>
            </a:r>
          </a:p>
        </p:txBody>
      </p:sp>
      <p:sp>
        <p:nvSpPr>
          <p:cNvPr id="26" name="Rounded Rectangle 25"/>
          <p:cNvSpPr/>
          <p:nvPr/>
        </p:nvSpPr>
        <p:spPr>
          <a:xfrm>
            <a:off x="8366760" y="3337560"/>
            <a:ext cx="3429000" cy="141732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366760" y="3337560"/>
            <a:ext cx="82296" cy="141732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3447288"/>
            <a:ext cx="3136392" cy="320040"/>
          </a:xfrm>
          <a:prstGeom prst="rect">
            <a:avLst/>
          </a:prstGeom>
          <a:noFill/>
        </p:spPr>
        <p:txBody>
          <a:bodyPr wrap="square" lIns="73152" rIns="73152" tIns="73152" bIns="73152">
            <a:spAutoFit/>
          </a:bodyPr>
          <a:lstStyle/>
          <a:p>
            <a:pPr algn="l">
              <a:defRPr sz="1500" b="1">
                <a:solidFill>
                  <a:srgbClr val="E8B65A"/>
                </a:solidFill>
                <a:latin typeface="Aptos"/>
              </a:defRPr>
            </a:pPr>
            <a:r>
              <a:t>Requirements</a:t>
            </a:r>
          </a:p>
        </p:txBody>
      </p:sp>
      <p:sp>
        <p:nvSpPr>
          <p:cNvPr id="29" name="TextBox 28"/>
          <p:cNvSpPr txBox="1"/>
          <p:nvPr/>
        </p:nvSpPr>
        <p:spPr>
          <a:xfrm>
            <a:off x="8549640" y="3822191"/>
            <a:ext cx="3118104" cy="850392"/>
          </a:xfrm>
          <a:prstGeom prst="rect">
            <a:avLst/>
          </a:prstGeom>
          <a:noFill/>
        </p:spPr>
        <p:txBody>
          <a:bodyPr wrap="square" lIns="73152" rIns="73152" tIns="73152" bIns="73152">
            <a:spAutoFit/>
          </a:bodyPr>
          <a:lstStyle/>
          <a:p>
            <a:pPr algn="l">
              <a:defRPr sz="1200" b="0">
                <a:solidFill>
                  <a:srgbClr val="203338"/>
                </a:solidFill>
                <a:latin typeface="Aptos"/>
              </a:defRPr>
            </a:pPr>
            <a:r>
              <a:t>Supervisor, college format and milestones unknown</a:t>
            </a:r>
          </a:p>
        </p:txBody>
      </p:sp>
      <p:pic>
        <p:nvPicPr>
          <p:cNvPr id="30" name="Picture 29" descr="owl.png"/>
          <p:cNvPicPr>
            <a:picLocks noChangeAspect="1"/>
          </p:cNvPicPr>
          <p:nvPr/>
        </p:nvPicPr>
        <p:blipFill>
          <a:blip r:embed="rId2"/>
          <a:stretch>
            <a:fillRect/>
          </a:stretch>
        </p:blipFill>
        <p:spPr>
          <a:xfrm>
            <a:off x="10607040" y="5440680"/>
            <a:ext cx="566928" cy="566928"/>
          </a:xfrm>
          <a:prstGeom prst="rect">
            <a:avLst/>
          </a:prstGeom>
        </p:spPr>
      </p:pic>
      <p:sp>
        <p:nvSpPr>
          <p:cNvPr id="31" name="TextBox 30"/>
          <p:cNvSpPr txBox="1"/>
          <p:nvPr/>
        </p:nvSpPr>
        <p:spPr>
          <a:xfrm>
            <a:off x="9509760" y="5925312"/>
            <a:ext cx="2651760" cy="219456"/>
          </a:xfrm>
          <a:prstGeom prst="rect">
            <a:avLst/>
          </a:prstGeom>
          <a:noFill/>
        </p:spPr>
        <p:txBody>
          <a:bodyPr wrap="square" lIns="73152" rIns="73152" tIns="73152" bIns="73152">
            <a:spAutoFit/>
          </a:bodyPr>
          <a:lstStyle/>
          <a:p>
            <a:pPr algn="ctr">
              <a:defRPr sz="800" b="1">
                <a:solidFill>
                  <a:srgbClr val="64777A"/>
                </a:solidFill>
                <a:latin typeface="Aptos"/>
              </a:defRPr>
            </a:pPr>
            <a:r>
              <a:t>OWL ANALOGY: ask before assuming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28600"/>
            <a:ext cx="11064240" cy="228600"/>
          </a:xfrm>
          <a:prstGeom prst="rect">
            <a:avLst/>
          </a:prstGeom>
          <a:noFill/>
        </p:spPr>
        <p:txBody>
          <a:bodyPr wrap="square" lIns="73152" rIns="73152" tIns="73152" bIns="73152">
            <a:spAutoFit/>
          </a:bodyPr>
          <a:lstStyle/>
          <a:p>
            <a:pPr algn="l">
              <a:defRPr sz="900" b="1">
                <a:solidFill>
                  <a:srgbClr val="2F7775"/>
                </a:solidFill>
                <a:latin typeface="Aptos"/>
              </a:defRPr>
            </a:pPr>
            <a:r>
              <a:t>AVA EVALUATION • PROVISIONAL REVIEW PACK</a:t>
            </a:r>
          </a:p>
        </p:txBody>
      </p:sp>
      <p:sp>
        <p:nvSpPr>
          <p:cNvPr id="4" name="TextBox 3"/>
          <p:cNvSpPr txBox="1"/>
          <p:nvPr/>
        </p:nvSpPr>
        <p:spPr>
          <a:xfrm>
            <a:off x="502920" y="530352"/>
            <a:ext cx="11064240" cy="493776"/>
          </a:xfrm>
          <a:prstGeom prst="rect">
            <a:avLst/>
          </a:prstGeom>
          <a:noFill/>
        </p:spPr>
        <p:txBody>
          <a:bodyPr wrap="square" lIns="73152" rIns="73152" tIns="73152" bIns="73152">
            <a:spAutoFit/>
          </a:bodyPr>
          <a:lstStyle/>
          <a:p>
            <a:pPr algn="l">
              <a:defRPr sz="2600" b="1">
                <a:solidFill>
                  <a:srgbClr val="173B43"/>
                </a:solidFill>
                <a:latin typeface="Aptos"/>
              </a:defRPr>
            </a:pPr>
            <a:r>
              <a:t>Staged plan — preserve the research gate</a:t>
            </a:r>
          </a:p>
        </p:txBody>
      </p:sp>
      <p:sp>
        <p:nvSpPr>
          <p:cNvPr id="5" name="TextBox 4"/>
          <p:cNvSpPr txBox="1"/>
          <p:nvPr/>
        </p:nvSpPr>
        <p:spPr>
          <a:xfrm>
            <a:off x="502920" y="6565392"/>
            <a:ext cx="9144000" cy="155448"/>
          </a:xfrm>
          <a:prstGeom prst="rect">
            <a:avLst/>
          </a:prstGeom>
          <a:noFill/>
        </p:spPr>
        <p:txBody>
          <a:bodyPr wrap="square" lIns="73152" rIns="73152" tIns="73152" bIns="73152">
            <a:spAutoFit/>
          </a:bodyPr>
          <a:lstStyle/>
          <a:p>
            <a:pPr algn="l">
              <a:defRPr sz="800" b="0">
                <a:solidFill>
                  <a:srgbClr val="64777A"/>
                </a:solidFill>
                <a:latin typeface="Aptos"/>
              </a:defRPr>
            </a:pPr>
            <a:r>
              <a:t>Review aid only · novelty unresolved · no implementation authorized</a:t>
            </a:r>
          </a:p>
        </p:txBody>
      </p:sp>
      <p:sp>
        <p:nvSpPr>
          <p:cNvPr id="6" name="Rounded Rectangle 5"/>
          <p:cNvSpPr/>
          <p:nvPr/>
        </p:nvSpPr>
        <p:spPr>
          <a:xfrm>
            <a:off x="457200"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61288" y="1417320"/>
            <a:ext cx="640080" cy="640080"/>
          </a:xfrm>
          <a:prstGeom prst="roundRect">
            <a:avLst/>
          </a:prstGeom>
          <a:solidFill>
            <a:srgbClr val="2F7775"/>
          </a:solidFill>
          <a:ln>
            <a:solidFill>
              <a:srgbClr val="2F777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61872"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A</a:t>
            </a:r>
          </a:p>
        </p:txBody>
      </p:sp>
      <p:sp>
        <p:nvSpPr>
          <p:cNvPr id="9" name="TextBox 8"/>
          <p:cNvSpPr txBox="1"/>
          <p:nvPr/>
        </p:nvSpPr>
        <p:spPr>
          <a:xfrm>
            <a:off x="566928"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Verify literature</a:t>
            </a:r>
          </a:p>
        </p:txBody>
      </p:sp>
      <p:sp>
        <p:nvSpPr>
          <p:cNvPr id="10" name="TextBox 9"/>
          <p:cNvSpPr txBox="1"/>
          <p:nvPr/>
        </p:nvSpPr>
        <p:spPr>
          <a:xfrm>
            <a:off x="603504"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full texts, appendices, active disconfirmation</a:t>
            </a:r>
          </a:p>
        </p:txBody>
      </p:sp>
      <p:cxnSp>
        <p:nvCxnSpPr>
          <p:cNvPr id="11" name="Connector 10"/>
          <p:cNvCxnSpPr/>
          <p:nvPr/>
        </p:nvCxnSpPr>
        <p:spPr>
          <a:xfrm>
            <a:off x="2542032"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16352"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20440" y="1417320"/>
            <a:ext cx="640080" cy="640080"/>
          </a:xfrm>
          <a:prstGeom prst="roundRect">
            <a:avLst/>
          </a:prstGeom>
          <a:solidFill>
            <a:srgbClr val="D97862"/>
          </a:solidFill>
          <a:ln>
            <a:solidFill>
              <a:srgbClr val="D9786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1024"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B</a:t>
            </a:r>
          </a:p>
        </p:txBody>
      </p:sp>
      <p:sp>
        <p:nvSpPr>
          <p:cNvPr id="15" name="TextBox 14"/>
          <p:cNvSpPr txBox="1"/>
          <p:nvPr/>
        </p:nvSpPr>
        <p:spPr>
          <a:xfrm>
            <a:off x="2926080"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Settle design</a:t>
            </a:r>
          </a:p>
        </p:txBody>
      </p:sp>
      <p:sp>
        <p:nvSpPr>
          <p:cNvPr id="16" name="TextBox 15"/>
          <p:cNvSpPr txBox="1"/>
          <p:nvPr/>
        </p:nvSpPr>
        <p:spPr>
          <a:xfrm>
            <a:off x="2962656"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key schema, labels, policy mapping, feasibility</a:t>
            </a:r>
          </a:p>
        </p:txBody>
      </p:sp>
      <p:cxnSp>
        <p:nvCxnSpPr>
          <p:cNvPr id="17" name="Connector 16"/>
          <p:cNvCxnSpPr/>
          <p:nvPr/>
        </p:nvCxnSpPr>
        <p:spPr>
          <a:xfrm>
            <a:off x="4901183"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5504"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879592" y="1417320"/>
            <a:ext cx="640080" cy="640080"/>
          </a:xfrm>
          <a:prstGeom prst="round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C</a:t>
            </a:r>
          </a:p>
        </p:txBody>
      </p:sp>
      <p:sp>
        <p:nvSpPr>
          <p:cNvPr id="21" name="TextBox 20"/>
          <p:cNvSpPr txBox="1"/>
          <p:nvPr/>
        </p:nvSpPr>
        <p:spPr>
          <a:xfrm>
            <a:off x="5285232"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Core benchmark</a:t>
            </a:r>
          </a:p>
        </p:txBody>
      </p:sp>
      <p:sp>
        <p:nvSpPr>
          <p:cNvPr id="22" name="TextBox 21"/>
          <p:cNvSpPr txBox="1"/>
          <p:nvPr/>
        </p:nvSpPr>
        <p:spPr>
          <a:xfrm>
            <a:off x="5321808"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only if gate survives; human gold labels</a:t>
            </a:r>
          </a:p>
        </p:txBody>
      </p:sp>
      <p:cxnSp>
        <p:nvCxnSpPr>
          <p:cNvPr id="23" name="Connector 22"/>
          <p:cNvCxnSpPr/>
          <p:nvPr/>
        </p:nvCxnSpPr>
        <p:spPr>
          <a:xfrm>
            <a:off x="7260336"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34656"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238744" y="1417320"/>
            <a:ext cx="640080" cy="640080"/>
          </a:xfrm>
          <a:prstGeom prst="roundRect">
            <a:avLst/>
          </a:prstGeom>
          <a:solidFill>
            <a:srgbClr val="9CB79B"/>
          </a:solidFill>
          <a:ln>
            <a:solidFill>
              <a:srgbClr val="9CB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9328"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D</a:t>
            </a:r>
          </a:p>
        </p:txBody>
      </p:sp>
      <p:sp>
        <p:nvSpPr>
          <p:cNvPr id="27" name="TextBox 26"/>
          <p:cNvSpPr txBox="1"/>
          <p:nvPr/>
        </p:nvSpPr>
        <p:spPr>
          <a:xfrm>
            <a:off x="7644383"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Minimal simulator</a:t>
            </a:r>
          </a:p>
        </p:txBody>
      </p:sp>
      <p:sp>
        <p:nvSpPr>
          <p:cNvPr id="28" name="TextBox 27"/>
          <p:cNvSpPr txBox="1"/>
          <p:nvPr/>
        </p:nvSpPr>
        <p:spPr>
          <a:xfrm>
            <a:off x="7680960"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validate deterministic event projection first</a:t>
            </a:r>
          </a:p>
        </p:txBody>
      </p:sp>
      <p:cxnSp>
        <p:nvCxnSpPr>
          <p:cNvPr id="29" name="Connector 28"/>
          <p:cNvCxnSpPr/>
          <p:nvPr/>
        </p:nvCxnSpPr>
        <p:spPr>
          <a:xfrm>
            <a:off x="9619488" y="2834640"/>
            <a:ext cx="228600" cy="0"/>
          </a:xfrm>
          <a:prstGeom prst="line">
            <a:avLst/>
          </a:prstGeom>
          <a:ln w="25400">
            <a:solidFill>
              <a:srgbClr val="2F7775"/>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893808" y="1874519"/>
            <a:ext cx="2057400" cy="2011680"/>
          </a:xfrm>
          <a:prstGeom prst="roundRect">
            <a:avLst/>
          </a:prstGeom>
          <a:solidFill>
            <a:srgbClr val="FFFFFF"/>
          </a:solidFill>
          <a:ln>
            <a:solidFill>
              <a:srgbClr val="D7E1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597896" y="1417320"/>
            <a:ext cx="640080" cy="640080"/>
          </a:xfrm>
          <a:prstGeom prst="roundRect">
            <a:avLst/>
          </a:prstGeom>
          <a:solidFill>
            <a:srgbClr val="173B43"/>
          </a:solidFill>
          <a:ln>
            <a:solidFill>
              <a:srgbClr val="173B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98480" y="1581912"/>
            <a:ext cx="457200" cy="274320"/>
          </a:xfrm>
          <a:prstGeom prst="rect">
            <a:avLst/>
          </a:prstGeom>
          <a:noFill/>
        </p:spPr>
        <p:txBody>
          <a:bodyPr wrap="square" lIns="73152" rIns="73152" tIns="73152" bIns="73152">
            <a:spAutoFit/>
          </a:bodyPr>
          <a:lstStyle/>
          <a:p>
            <a:pPr algn="ctr">
              <a:defRPr sz="1700" b="1">
                <a:solidFill>
                  <a:srgbClr val="FFFFFF"/>
                </a:solidFill>
                <a:latin typeface="Aptos"/>
              </a:defRPr>
            </a:pPr>
            <a:r>
              <a:t>E</a:t>
            </a:r>
          </a:p>
        </p:txBody>
      </p:sp>
      <p:sp>
        <p:nvSpPr>
          <p:cNvPr id="33" name="TextBox 32"/>
          <p:cNvSpPr txBox="1"/>
          <p:nvPr/>
        </p:nvSpPr>
        <p:spPr>
          <a:xfrm>
            <a:off x="10003536" y="2267712"/>
            <a:ext cx="1828800" cy="310896"/>
          </a:xfrm>
          <a:prstGeom prst="rect">
            <a:avLst/>
          </a:prstGeom>
          <a:noFill/>
        </p:spPr>
        <p:txBody>
          <a:bodyPr wrap="square" lIns="73152" rIns="73152" tIns="73152" bIns="73152">
            <a:spAutoFit/>
          </a:bodyPr>
          <a:lstStyle/>
          <a:p>
            <a:pPr algn="ctr">
              <a:defRPr sz="1400" b="1">
                <a:solidFill>
                  <a:srgbClr val="173B43"/>
                </a:solidFill>
                <a:latin typeface="Aptos"/>
              </a:defRPr>
            </a:pPr>
            <a:r>
              <a:t>Decide scope</a:t>
            </a:r>
          </a:p>
        </p:txBody>
      </p:sp>
      <p:sp>
        <p:nvSpPr>
          <p:cNvPr id="34" name="TextBox 33"/>
          <p:cNvSpPr txBox="1"/>
          <p:nvPr/>
        </p:nvSpPr>
        <p:spPr>
          <a:xfrm>
            <a:off x="10040112" y="2770632"/>
            <a:ext cx="1755648" cy="777240"/>
          </a:xfrm>
          <a:prstGeom prst="rect">
            <a:avLst/>
          </a:prstGeom>
          <a:noFill/>
        </p:spPr>
        <p:txBody>
          <a:bodyPr wrap="square" lIns="73152" rIns="73152" tIns="73152" bIns="73152">
            <a:spAutoFit/>
          </a:bodyPr>
          <a:lstStyle/>
          <a:p>
            <a:pPr algn="ctr">
              <a:defRPr sz="1000" b="0">
                <a:solidFill>
                  <a:srgbClr val="203338"/>
                </a:solidFill>
                <a:latin typeface="Aptos"/>
              </a:defRPr>
            </a:pPr>
            <a:r>
              <a:t>retain / narrow / reframe / abandon</a:t>
            </a:r>
          </a:p>
        </p:txBody>
      </p:sp>
      <p:sp>
        <p:nvSpPr>
          <p:cNvPr id="35" name="Rounded Rectangle 34"/>
          <p:cNvSpPr/>
          <p:nvPr/>
        </p:nvSpPr>
        <p:spPr>
          <a:xfrm>
            <a:off x="1005840" y="4754880"/>
            <a:ext cx="10058400" cy="685800"/>
          </a:xfrm>
          <a:prstGeom prst="roundRect">
            <a:avLst/>
          </a:prstGeom>
          <a:solidFill>
            <a:srgbClr val="FCE2DA"/>
          </a:solidFill>
          <a:ln>
            <a:solidFill>
              <a:srgbClr val="FCE2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0432" y="4956048"/>
            <a:ext cx="9738360" cy="310896"/>
          </a:xfrm>
          <a:prstGeom prst="rect">
            <a:avLst/>
          </a:prstGeom>
          <a:noFill/>
        </p:spPr>
        <p:txBody>
          <a:bodyPr wrap="square" lIns="73152" rIns="73152" tIns="73152" bIns="73152">
            <a:spAutoFit/>
          </a:bodyPr>
          <a:lstStyle/>
          <a:p>
            <a:pPr algn="ctr">
              <a:defRPr sz="1200" b="1">
                <a:solidFill>
                  <a:srgbClr val="A84F48"/>
                </a:solidFill>
                <a:latin typeface="Aptos"/>
              </a:defRPr>
            </a:pPr>
            <a:r>
              <a:t>Current gate: Pass 3 incomplete · novelty unresolved · implementation and formal drafting not authorized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3B43"/>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E8B65A"/>
          </a:solidFill>
          <a:ln>
            <a:solidFill>
              <a:srgbClr val="E8B65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789920" cy="365760"/>
          </a:xfrm>
          <a:prstGeom prst="rect">
            <a:avLst/>
          </a:prstGeom>
          <a:noFill/>
        </p:spPr>
        <p:txBody>
          <a:bodyPr wrap="square" lIns="73152" rIns="73152" tIns="73152" bIns="73152">
            <a:spAutoFit/>
          </a:bodyPr>
          <a:lstStyle/>
          <a:p>
            <a:pPr algn="l">
              <a:defRPr sz="1100" b="1">
                <a:solidFill>
                  <a:srgbClr val="A9D6C6"/>
                </a:solidFill>
                <a:latin typeface="Aptos"/>
              </a:defRPr>
            </a:pPr>
            <a:r>
              <a:t>THE STUDY IN ONE SENTENCE</a:t>
            </a:r>
          </a:p>
        </p:txBody>
      </p:sp>
      <p:sp>
        <p:nvSpPr>
          <p:cNvPr id="4" name="TextBox 3"/>
          <p:cNvSpPr txBox="1"/>
          <p:nvPr/>
        </p:nvSpPr>
        <p:spPr>
          <a:xfrm>
            <a:off x="822960" y="1280160"/>
            <a:ext cx="8138160" cy="2011680"/>
          </a:xfrm>
          <a:prstGeom prst="rect">
            <a:avLst/>
          </a:prstGeom>
          <a:noFill/>
        </p:spPr>
        <p:txBody>
          <a:bodyPr wrap="square" lIns="73152" rIns="73152" tIns="73152" bIns="73152">
            <a:spAutoFit/>
          </a:bodyPr>
          <a:lstStyle/>
          <a:p>
            <a:pPr algn="l">
              <a:defRPr sz="2500" b="1">
                <a:solidFill>
                  <a:srgbClr val="FFFFFF"/>
                </a:solidFill>
                <a:latin typeface="Aptos"/>
              </a:defRPr>
            </a:pPr>
            <a:r>
              <a:t>When agents disagree about the same state key, when is it safe to agree, when should the system verify, and when should it preserve uncertainty?</a:t>
            </a:r>
          </a:p>
        </p:txBody>
      </p:sp>
      <p:sp>
        <p:nvSpPr>
          <p:cNvPr id="5" name="TextBox 4"/>
          <p:cNvSpPr txBox="1"/>
          <p:nvPr/>
        </p:nvSpPr>
        <p:spPr>
          <a:xfrm>
            <a:off x="822960" y="3657600"/>
            <a:ext cx="7955279" cy="1005840"/>
          </a:xfrm>
          <a:prstGeom prst="rect">
            <a:avLst/>
          </a:prstGeom>
          <a:noFill/>
        </p:spPr>
        <p:txBody>
          <a:bodyPr wrap="square" lIns="73152" rIns="73152" tIns="73152" bIns="73152">
            <a:spAutoFit/>
          </a:bodyPr>
          <a:lstStyle/>
          <a:p>
            <a:pPr algn="l">
              <a:defRPr sz="2000" b="1">
                <a:solidFill>
                  <a:srgbClr val="E8B65A"/>
                </a:solidFill>
                <a:latin typeface="Aptos"/>
              </a:defRPr>
            </a:pPr>
            <a:r>
              <a:t>Measure it. Don’t assume the intelligent method is better.</a:t>
            </a:r>
          </a:p>
        </p:txBody>
      </p:sp>
      <p:pic>
        <p:nvPicPr>
          <p:cNvPr id="6" name="Picture 5" descr="fox.png"/>
          <p:cNvPicPr>
            <a:picLocks noChangeAspect="1"/>
          </p:cNvPicPr>
          <p:nvPr/>
        </p:nvPicPr>
        <p:blipFill>
          <a:blip r:embed="rId2"/>
          <a:stretch>
            <a:fillRect/>
          </a:stretch>
        </p:blipFill>
        <p:spPr>
          <a:xfrm>
            <a:off x="9189720" y="1554480"/>
            <a:ext cx="2103120" cy="2103120"/>
          </a:xfrm>
          <a:prstGeom prst="rect">
            <a:avLst/>
          </a:prstGeom>
        </p:spPr>
      </p:pic>
      <p:sp>
        <p:nvSpPr>
          <p:cNvPr id="7" name="TextBox 6"/>
          <p:cNvSpPr txBox="1"/>
          <p:nvPr/>
        </p:nvSpPr>
        <p:spPr>
          <a:xfrm>
            <a:off x="8869680" y="3931920"/>
            <a:ext cx="2697480" cy="365760"/>
          </a:xfrm>
          <a:prstGeom prst="rect">
            <a:avLst/>
          </a:prstGeom>
          <a:noFill/>
        </p:spPr>
        <p:txBody>
          <a:bodyPr wrap="square" lIns="73152" rIns="73152" tIns="73152" bIns="73152">
            <a:spAutoFit/>
          </a:bodyPr>
          <a:lstStyle/>
          <a:p>
            <a:pPr algn="ctr">
              <a:defRPr sz="900" b="1">
                <a:solidFill>
                  <a:srgbClr val="D6E1DC"/>
                </a:solidFill>
                <a:latin typeface="Aptos"/>
              </a:defRPr>
            </a:pPr>
            <a:r>
              <a:t>FOX ANALOGY — question carefully</a:t>
            </a:r>
          </a:p>
        </p:txBody>
      </p:sp>
      <p:sp>
        <p:nvSpPr>
          <p:cNvPr id="8" name="TextBox 7"/>
          <p:cNvSpPr txBox="1"/>
          <p:nvPr/>
        </p:nvSpPr>
        <p:spPr>
          <a:xfrm>
            <a:off x="822960" y="5623560"/>
            <a:ext cx="10698480" cy="365760"/>
          </a:xfrm>
          <a:prstGeom prst="rect">
            <a:avLst/>
          </a:prstGeom>
          <a:noFill/>
        </p:spPr>
        <p:txBody>
          <a:bodyPr wrap="square" lIns="73152" rIns="73152" tIns="73152" bIns="73152">
            <a:spAutoFit/>
          </a:bodyPr>
          <a:lstStyle/>
          <a:p>
            <a:pPr algn="l">
              <a:defRPr sz="1100" b="0">
                <a:solidFill>
                  <a:srgbClr val="D6E1DC"/>
                </a:solidFill>
                <a:latin typeface="Aptos"/>
              </a:defRPr>
            </a:pPr>
            <a:r>
              <a:t>Research proposal only · no result claimed · novelty and proof obligations remain open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