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is a provisional review structure derived from my supplied thesis specification; I do not have an official KEC template or module titles. I will explain the research problem, proposed evaluation, current literature risks and next gates. The owl is a teaching analogy for careful observation only; it is not evidence or a method.”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eight provisional modules. Say explicitly that these titles are an explanatory sequence, not official college module names. The order moves from problem framing to evaluation and limits.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replicas receiving identical events is a delivery property. It does not decide whether conflicting values can both be true or which one is valid. The turtle is only an analogy for pausing before an unsafe merge, not a model component.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A is a standard mergeable collection, while Q is a one-valued assertion per key. The bee represents distinct roles in one ecosystem as an analogy only. The database example in the spec may encode different roles and must be fixed or treated as a different-key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examples. Emphasize that soft vs hard needs an operational rule: time and policy context can turn a seeming conflict into a resolvable transition. The Fox is a friendly visual analogy for noticing differences, not a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Verify is an intermediate action, not a terminal label. In convergence-bearing conditions, the evidence check must be deterministic and pure over canonical inputs. A model call in Verify is a separate non-convergence-safe benchmark condition unless decision caching/replay makes it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specification’s arms mix different layers. Explain that B1 chooses a winner and B7 is a safety baseline, while B2–B6 generate semantic or structured judgments. AVA needs explicit mappings from classifier outputs into policy actions. Never compare them as though they were interchangeable.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is proposed, not already collected. A record should preserve key and temporal context so compatible statements are not mislabeled. Human annotation, agreement and adjudication are planned; sample size and annotation capacity are still open.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denominators. False-merge rate is restricted to actual conflicts and incorrect final Agree. False-conflict rate counts failure to safely resolve actual paraphrase/compatible cases. Unnecessary abstention is intentionally double-reported as its own mechanism and as part of FCR; they do not sum to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experimental scaffold: agents append immutable events; the network changes delivery timing/order; each replica builds a projection. The penguin group is a simple analogy for agents remaining in a group despite asynchronous movement, not a claim about protocol behavior. First test convergence with no semantic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condition carefully: eventual receipt of the same valid set is not enough unless canonicalization and resolution are deterministic. “State” must be defined—event set, status map, resolved semantic value, or retrieval view. This is a target to validate, not a completed proof.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map of partial evidence, not an exhaustive literature review. Explain the task boundaries: MELD uses distinct keys in its diagnostic pairs; SubtleMemory evaluates long-history downstream QA; S-Bus addresses structural concurrency; StateFuse/TOKI overlap preservation and resolution elements. No absence-of-prior-art claim follows. Sources: MELD https://arxiv.org/html/2608.16357v1 ; StateFuse https://arxiv.org/html/2607.05844v1 ; TOKI https://arxiv.org/html/2606.06240v1 ; SubtleMemory v3 https://arxiv.org/html/2606.05761v3 ; S-Bus https://arxiv.org/html/2605.17076v2 ; Semantic Consensus https://arxiv.org/html/2604.16339v1 ; ECon https://arxiv.org/html/2410.04068v1 ; RefNLI https://arxiv.org/html/2502.05793v1 ; ANLI https://arxiv.org/html/1910.14599v2.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qualification exactly. MELD’s pair count is not a strict same-key set. CodeCRDT’s range came from a small manual sample. SCF’s 65.2 is recall, not accuracy. Freshness results compare pipelines, and the executor-only result does not establish a strong isolated resolver advantage.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open design questions, not college questions to answer on the spot. The project has no supplied official module titles, supervisor requirements, deadline schedule, annotation budget or experimental results. Do not invent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sequence begins with research and design decisions, not coding. The project’s own finalized spec makes Pass 3 a precondition for implementation or thesis/paper drafting. If the candidate gap is not supported, narrow, reframe or abandon it; do not move goalposts after results.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“AVA is a testable question, not a claim that AI is better. I will compare safe resolution with careful abstention and preserve a negative result as valid. Today I am asking for feedback on scope and design; I am not presenting results or claiming the novelty gate has passed.”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labels are exactly those supplied by Selvin and are hypothetical labels only. Do not infer actual products, model identities, capabilities, integrations, roles, reliability, or performance. The scenario is fabricated solely for explanation: each label independently emits a candidate write for the same declared key, service.demo-api.primary_db, with exactly-one cardinality and the same current release scope. Three assert PostgreSQL and three assert DynamoDB. This is not data or a system observation. The only point is to make same-key disagreement concrete. The relation classification applies to assertion pairs after the key and scope are fixed.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Provenance says which hypothetical source made each candidate assertion. Relation asks whether assertions can coexist under the declared key and time scope. Policy action is a decision procedure; in this example it selects Verify, but that action is not a result. Because the scenario supplies no authoritative evidence source or outcome, the final projection remains UNRESOLVED and retains both values and provenance. Do not use vote counting or arrival order as truth. Turtle is a teaching analogy only, not a protocol model.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points to invite useful feedback, not to claim design decisions are complete. Same-key identity and temporal scope must be explicit. Keep the data provenance, relation class, policy action and final output separate. Verify needs a bounded, auditable evidence source and deterministic rule if it participates in convergence claims. Compare methods on fixed inputs and separate classification quality from action utility. Safety and usefulness need distinct metrics. Scope can be staged: a small benchmark first, with distributed simulation only if the literature and design gates support it. Likely reviewer questions are on the slide; answer newest-wins is a baseline because arrival order is not truth; Verify is not a guarantee; no novelty conclusion has been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tailored to Monday 26 October 2026. The source context states review dates 24 and 26 October, but not a start time; do not invent one. The module headings remain provisional because no official KEC module list/template has been provided. Check the slide PDF on the actual device, bring the deck and PDF, and keep the report PDF handy. Rehearse the short opening and agent scenario. Do not describe the six labels as actual products or claim any agent capability. Make the literature gate and no-implementation status explicit. Ask the reviewer to confirm college format, expected next milestone, and any required changes.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F3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94360"/>
            <a:ext cx="10698480" cy="274320"/>
          </a:xfrm>
          <a:prstGeom prst="rect">
            <a:avLst/>
          </a:prstGeom>
          <a:noFill/>
        </p:spPr>
        <p:txBody>
          <a:bodyPr wrap="square" lIns="73152" rIns="73152" tIns="73152" bIns="73152">
            <a:spAutoFit/>
          </a:bodyPr>
          <a:lstStyle/>
          <a:p>
            <a:pPr algn="l">
              <a:defRPr sz="1100" b="1">
                <a:solidFill>
                  <a:srgbClr val="A9D6C6"/>
                </a:solidFill>
                <a:latin typeface="Aptos"/>
              </a:defRPr>
            </a:pPr>
            <a:r>
              <a:t>M.E. MODEL PROJECT REVIEW • PROVISIONAL STRUCTURE</a:t>
            </a:r>
          </a:p>
        </p:txBody>
      </p:sp>
      <p:sp>
        <p:nvSpPr>
          <p:cNvPr id="4" name="TextBox 3"/>
          <p:cNvSpPr txBox="1"/>
          <p:nvPr/>
        </p:nvSpPr>
        <p:spPr>
          <a:xfrm>
            <a:off x="731520" y="1143000"/>
            <a:ext cx="7315200" cy="1188720"/>
          </a:xfrm>
          <a:prstGeom prst="rect">
            <a:avLst/>
          </a:prstGeom>
          <a:noFill/>
        </p:spPr>
        <p:txBody>
          <a:bodyPr wrap="square" lIns="73152" rIns="73152" tIns="73152" bIns="73152">
            <a:spAutoFit/>
          </a:bodyPr>
          <a:lstStyle/>
          <a:p>
            <a:pPr algn="l">
              <a:defRPr sz="3400" b="1">
                <a:solidFill>
                  <a:srgbClr val="FFFFFF"/>
                </a:solidFill>
                <a:latin typeface="Aptos"/>
              </a:defRPr>
            </a:pPr>
            <a:r>
              <a:t>AVA</a:t>
            </a:r>
            <a:br/>
            <a:r>
              <a:t>Evaluation</a:t>
            </a:r>
          </a:p>
        </p:txBody>
      </p:sp>
      <p:sp>
        <p:nvSpPr>
          <p:cNvPr id="5" name="TextBox 4"/>
          <p:cNvSpPr txBox="1"/>
          <p:nvPr/>
        </p:nvSpPr>
        <p:spPr>
          <a:xfrm>
            <a:off x="777240" y="2743200"/>
            <a:ext cx="7498079" cy="1097280"/>
          </a:xfrm>
          <a:prstGeom prst="rect">
            <a:avLst/>
          </a:prstGeom>
          <a:noFill/>
        </p:spPr>
        <p:txBody>
          <a:bodyPr wrap="square" lIns="73152" rIns="73152" tIns="73152" bIns="73152">
            <a:spAutoFit/>
          </a:bodyPr>
          <a:lstStyle/>
          <a:p>
            <a:pPr algn="l">
              <a:defRPr sz="1900" b="0">
                <a:solidFill>
                  <a:srgbClr val="E6EEE9"/>
                </a:solidFill>
                <a:latin typeface="Aptos"/>
              </a:defRPr>
            </a:pPr>
            <a:r>
              <a:t>An Empirical Study of Conflict Resolution for Assertional State in Multi-Agent AI Systems</a:t>
            </a:r>
          </a:p>
        </p:txBody>
      </p:sp>
      <p:sp>
        <p:nvSpPr>
          <p:cNvPr id="6" name="TextBox 5"/>
          <p:cNvSpPr txBox="1"/>
          <p:nvPr/>
        </p:nvSpPr>
        <p:spPr>
          <a:xfrm>
            <a:off x="777240" y="4160520"/>
            <a:ext cx="6766560" cy="502920"/>
          </a:xfrm>
          <a:prstGeom prst="rect">
            <a:avLst/>
          </a:prstGeom>
          <a:noFill/>
        </p:spPr>
        <p:txBody>
          <a:bodyPr wrap="square" lIns="73152" rIns="73152" tIns="73152" bIns="73152">
            <a:spAutoFit/>
          </a:bodyPr>
          <a:lstStyle/>
          <a:p>
            <a:pPr algn="l">
              <a:defRPr sz="1800" b="1">
                <a:solidFill>
                  <a:srgbClr val="E8B65A"/>
                </a:solidFill>
                <a:latin typeface="Aptos"/>
              </a:defRPr>
            </a:pPr>
            <a:r>
              <a:t>Agree · Verify · Abstain</a:t>
            </a:r>
          </a:p>
        </p:txBody>
      </p:sp>
      <p:sp>
        <p:nvSpPr>
          <p:cNvPr id="7" name="TextBox 6"/>
          <p:cNvSpPr txBox="1"/>
          <p:nvPr/>
        </p:nvSpPr>
        <p:spPr>
          <a:xfrm>
            <a:off x="777240" y="4892040"/>
            <a:ext cx="7863840" cy="640080"/>
          </a:xfrm>
          <a:prstGeom prst="rect">
            <a:avLst/>
          </a:prstGeom>
          <a:noFill/>
        </p:spPr>
        <p:txBody>
          <a:bodyPr wrap="square" lIns="73152" rIns="73152" tIns="73152" bIns="73152">
            <a:spAutoFit/>
          </a:bodyPr>
          <a:lstStyle/>
          <a:p>
            <a:pPr algn="l">
              <a:defRPr sz="1200" b="0">
                <a:solidFill>
                  <a:srgbClr val="D6E1DC"/>
                </a:solidFill>
                <a:latin typeface="Aptos"/>
              </a:defRPr>
            </a:pPr>
            <a:r>
              <a:t>Proposal/review aid — not an official KEC template, thesis chapter, or implementation report.</a:t>
            </a:r>
          </a:p>
        </p:txBody>
      </p:sp>
      <p:pic>
        <p:nvPicPr>
          <p:cNvPr id="8" name="Picture 7" descr="owl.png"/>
          <p:cNvPicPr>
            <a:picLocks noChangeAspect="1"/>
          </p:cNvPicPr>
          <p:nvPr/>
        </p:nvPicPr>
        <p:blipFill>
          <a:blip r:embed="rId2"/>
          <a:stretch>
            <a:fillRect/>
          </a:stretch>
        </p:blipFill>
        <p:spPr>
          <a:xfrm>
            <a:off x="8686800" y="1508760"/>
            <a:ext cx="2560320" cy="2560320"/>
          </a:xfrm>
          <a:prstGeom prst="rect">
            <a:avLst/>
          </a:prstGeom>
        </p:spPr>
      </p:pic>
      <p:sp>
        <p:nvSpPr>
          <p:cNvPr id="9" name="TextBox 8"/>
          <p:cNvSpPr txBox="1"/>
          <p:nvPr/>
        </p:nvSpPr>
        <p:spPr>
          <a:xfrm>
            <a:off x="8549640" y="4389120"/>
            <a:ext cx="2834640" cy="502920"/>
          </a:xfrm>
          <a:prstGeom prst="rect">
            <a:avLst/>
          </a:prstGeom>
          <a:noFill/>
        </p:spPr>
        <p:txBody>
          <a:bodyPr wrap="square" lIns="73152" rIns="73152" tIns="73152" bIns="73152">
            <a:spAutoFit/>
          </a:bodyPr>
          <a:lstStyle/>
          <a:p>
            <a:pPr algn="ctr">
              <a:defRPr sz="1000" b="1">
                <a:solidFill>
                  <a:srgbClr val="D6E1DC"/>
                </a:solidFill>
                <a:latin typeface="Aptos"/>
              </a:defRPr>
            </a:pPr>
            <a:r>
              <a:t>OWL ANALOGY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Eight provisional modules — a route through the proposal</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594360" y="1325880"/>
            <a:ext cx="5349240" cy="9144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325880"/>
            <a:ext cx="109728" cy="91440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1435607"/>
            <a:ext cx="475488" cy="320040"/>
          </a:xfrm>
          <a:prstGeom prst="rect">
            <a:avLst/>
          </a:prstGeom>
          <a:noFill/>
        </p:spPr>
        <p:txBody>
          <a:bodyPr wrap="square" lIns="73152" rIns="73152" tIns="73152" bIns="73152">
            <a:spAutoFit/>
          </a:bodyPr>
          <a:lstStyle/>
          <a:p>
            <a:pPr algn="l">
              <a:defRPr sz="1400" b="1">
                <a:solidFill>
                  <a:srgbClr val="2F7775"/>
                </a:solidFill>
                <a:latin typeface="Aptos"/>
              </a:defRPr>
            </a:pPr>
            <a:r>
              <a:t>01</a:t>
            </a:r>
          </a:p>
        </p:txBody>
      </p:sp>
      <p:sp>
        <p:nvSpPr>
          <p:cNvPr id="9" name="TextBox 8"/>
          <p:cNvSpPr txBox="1"/>
          <p:nvPr/>
        </p:nvSpPr>
        <p:spPr>
          <a:xfrm>
            <a:off x="1362456" y="1417320"/>
            <a:ext cx="4370832" cy="384048"/>
          </a:xfrm>
          <a:prstGeom prst="rect">
            <a:avLst/>
          </a:prstGeom>
          <a:noFill/>
        </p:spPr>
        <p:txBody>
          <a:bodyPr wrap="square" lIns="73152" rIns="73152" tIns="73152" bIns="73152">
            <a:spAutoFit/>
          </a:bodyPr>
          <a:lstStyle/>
          <a:p>
            <a:pPr algn="l">
              <a:defRPr sz="1200" b="1">
                <a:solidFill>
                  <a:srgbClr val="173B43"/>
                </a:solidFill>
                <a:latin typeface="Aptos"/>
              </a:defRPr>
            </a:pPr>
            <a:r>
              <a:t>Problem and background</a:t>
            </a:r>
          </a:p>
        </p:txBody>
      </p:sp>
      <p:sp>
        <p:nvSpPr>
          <p:cNvPr id="10" name="TextBox 9"/>
          <p:cNvSpPr txBox="1"/>
          <p:nvPr/>
        </p:nvSpPr>
        <p:spPr>
          <a:xfrm>
            <a:off x="1362456" y="1837943"/>
            <a:ext cx="4315968" cy="274320"/>
          </a:xfrm>
          <a:prstGeom prst="rect">
            <a:avLst/>
          </a:prstGeom>
          <a:noFill/>
        </p:spPr>
        <p:txBody>
          <a:bodyPr wrap="square" lIns="73152" rIns="73152" tIns="73152" bIns="73152">
            <a:spAutoFit/>
          </a:bodyPr>
          <a:lstStyle/>
          <a:p>
            <a:pPr algn="l">
              <a:defRPr sz="900" b="0">
                <a:solidFill>
                  <a:srgbClr val="64777A"/>
                </a:solidFill>
                <a:latin typeface="Aptos"/>
              </a:defRPr>
            </a:pPr>
            <a:r>
              <a:t>Why shared meaning can fail even when replicas agree</a:t>
            </a:r>
          </a:p>
        </p:txBody>
      </p:sp>
      <p:sp>
        <p:nvSpPr>
          <p:cNvPr id="11" name="Rounded Rectangle 10"/>
          <p:cNvSpPr/>
          <p:nvPr/>
        </p:nvSpPr>
        <p:spPr>
          <a:xfrm>
            <a:off x="6309360" y="1325880"/>
            <a:ext cx="5349240" cy="9144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325880"/>
            <a:ext cx="109728" cy="91440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1435607"/>
            <a:ext cx="475488" cy="320040"/>
          </a:xfrm>
          <a:prstGeom prst="rect">
            <a:avLst/>
          </a:prstGeom>
          <a:noFill/>
        </p:spPr>
        <p:txBody>
          <a:bodyPr wrap="square" lIns="73152" rIns="73152" tIns="73152" bIns="73152">
            <a:spAutoFit/>
          </a:bodyPr>
          <a:lstStyle/>
          <a:p>
            <a:pPr algn="l">
              <a:defRPr sz="1400" b="1">
                <a:solidFill>
                  <a:srgbClr val="2F7775"/>
                </a:solidFill>
                <a:latin typeface="Aptos"/>
              </a:defRPr>
            </a:pPr>
            <a:r>
              <a:t>02</a:t>
            </a:r>
          </a:p>
        </p:txBody>
      </p:sp>
      <p:sp>
        <p:nvSpPr>
          <p:cNvPr id="14" name="TextBox 13"/>
          <p:cNvSpPr txBox="1"/>
          <p:nvPr/>
        </p:nvSpPr>
        <p:spPr>
          <a:xfrm>
            <a:off x="7077456" y="1417320"/>
            <a:ext cx="4370832" cy="384048"/>
          </a:xfrm>
          <a:prstGeom prst="rect">
            <a:avLst/>
          </a:prstGeom>
          <a:noFill/>
        </p:spPr>
        <p:txBody>
          <a:bodyPr wrap="square" lIns="73152" rIns="73152" tIns="73152" bIns="73152">
            <a:spAutoFit/>
          </a:bodyPr>
          <a:lstStyle/>
          <a:p>
            <a:pPr algn="l">
              <a:defRPr sz="1200" b="1">
                <a:solidFill>
                  <a:srgbClr val="173B43"/>
                </a:solidFill>
                <a:latin typeface="Aptos"/>
              </a:defRPr>
            </a:pPr>
            <a:r>
              <a:t>Scope and state model</a:t>
            </a:r>
          </a:p>
        </p:txBody>
      </p:sp>
      <p:sp>
        <p:nvSpPr>
          <p:cNvPr id="15" name="TextBox 14"/>
          <p:cNvSpPr txBox="1"/>
          <p:nvPr/>
        </p:nvSpPr>
        <p:spPr>
          <a:xfrm>
            <a:off x="7077456" y="1837943"/>
            <a:ext cx="4315968" cy="274320"/>
          </a:xfrm>
          <a:prstGeom prst="rect">
            <a:avLst/>
          </a:prstGeom>
          <a:noFill/>
        </p:spPr>
        <p:txBody>
          <a:bodyPr wrap="square" lIns="73152" rIns="73152" tIns="73152" bIns="73152">
            <a:spAutoFit/>
          </a:bodyPr>
          <a:lstStyle/>
          <a:p>
            <a:pPr algn="l">
              <a:defRPr sz="900" b="0">
                <a:solidFill>
                  <a:srgbClr val="64777A"/>
                </a:solidFill>
                <a:latin typeface="Aptos"/>
              </a:defRPr>
            </a:pPr>
            <a:r>
              <a:t>Separate additive facts from single-valued assertions</a:t>
            </a:r>
          </a:p>
        </p:txBody>
      </p:sp>
      <p:sp>
        <p:nvSpPr>
          <p:cNvPr id="16" name="Rounded Rectangle 15"/>
          <p:cNvSpPr/>
          <p:nvPr/>
        </p:nvSpPr>
        <p:spPr>
          <a:xfrm>
            <a:off x="594360" y="2468880"/>
            <a:ext cx="5349240" cy="9144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2468880"/>
            <a:ext cx="109728" cy="91440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 y="2578608"/>
            <a:ext cx="475488" cy="320040"/>
          </a:xfrm>
          <a:prstGeom prst="rect">
            <a:avLst/>
          </a:prstGeom>
          <a:noFill/>
        </p:spPr>
        <p:txBody>
          <a:bodyPr wrap="square" lIns="73152" rIns="73152" tIns="73152" bIns="73152">
            <a:spAutoFit/>
          </a:bodyPr>
          <a:lstStyle/>
          <a:p>
            <a:pPr algn="l">
              <a:defRPr sz="1400" b="1">
                <a:solidFill>
                  <a:srgbClr val="2F7775"/>
                </a:solidFill>
                <a:latin typeface="Aptos"/>
              </a:defRPr>
            </a:pPr>
            <a:r>
              <a:t>03</a:t>
            </a:r>
          </a:p>
        </p:txBody>
      </p:sp>
      <p:sp>
        <p:nvSpPr>
          <p:cNvPr id="19" name="TextBox 18"/>
          <p:cNvSpPr txBox="1"/>
          <p:nvPr/>
        </p:nvSpPr>
        <p:spPr>
          <a:xfrm>
            <a:off x="1362456" y="2560320"/>
            <a:ext cx="4370832" cy="384048"/>
          </a:xfrm>
          <a:prstGeom prst="rect">
            <a:avLst/>
          </a:prstGeom>
          <a:noFill/>
        </p:spPr>
        <p:txBody>
          <a:bodyPr wrap="square" lIns="73152" rIns="73152" tIns="73152" bIns="73152">
            <a:spAutoFit/>
          </a:bodyPr>
          <a:lstStyle/>
          <a:p>
            <a:pPr algn="l">
              <a:defRPr sz="1200" b="1">
                <a:solidFill>
                  <a:srgbClr val="173B43"/>
                </a:solidFill>
                <a:latin typeface="Aptos"/>
              </a:defRPr>
            </a:pPr>
            <a:r>
              <a:t>Relation classes</a:t>
            </a:r>
          </a:p>
        </p:txBody>
      </p:sp>
      <p:sp>
        <p:nvSpPr>
          <p:cNvPr id="20" name="TextBox 19"/>
          <p:cNvSpPr txBox="1"/>
          <p:nvPr/>
        </p:nvSpPr>
        <p:spPr>
          <a:xfrm>
            <a:off x="1362456" y="2980944"/>
            <a:ext cx="4315968" cy="274320"/>
          </a:xfrm>
          <a:prstGeom prst="rect">
            <a:avLst/>
          </a:prstGeom>
          <a:noFill/>
        </p:spPr>
        <p:txBody>
          <a:bodyPr wrap="square" lIns="73152" rIns="73152" tIns="73152" bIns="73152">
            <a:spAutoFit/>
          </a:bodyPr>
          <a:lstStyle/>
          <a:p>
            <a:pPr algn="l">
              <a:defRPr sz="900" b="0">
                <a:solidFill>
                  <a:srgbClr val="64777A"/>
                </a:solidFill>
                <a:latin typeface="Aptos"/>
              </a:defRPr>
            </a:pPr>
            <a:r>
              <a:t>Classify the relationship before choosing a policy action</a:t>
            </a:r>
          </a:p>
        </p:txBody>
      </p:sp>
      <p:sp>
        <p:nvSpPr>
          <p:cNvPr id="21" name="Rounded Rectangle 20"/>
          <p:cNvSpPr/>
          <p:nvPr/>
        </p:nvSpPr>
        <p:spPr>
          <a:xfrm>
            <a:off x="6309360" y="2468880"/>
            <a:ext cx="5349240" cy="9144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2468880"/>
            <a:ext cx="109728" cy="914400"/>
          </a:xfrm>
          <a:prstGeom prst="rect">
            <a:avLst/>
          </a:prstGeom>
          <a:solidFill>
            <a:srgbClr val="7286A3"/>
          </a:solidFill>
          <a:ln>
            <a:solidFill>
              <a:srgbClr val="7286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28816" y="2578608"/>
            <a:ext cx="475488" cy="320040"/>
          </a:xfrm>
          <a:prstGeom prst="rect">
            <a:avLst/>
          </a:prstGeom>
          <a:noFill/>
        </p:spPr>
        <p:txBody>
          <a:bodyPr wrap="square" lIns="73152" rIns="73152" tIns="73152" bIns="73152">
            <a:spAutoFit/>
          </a:bodyPr>
          <a:lstStyle/>
          <a:p>
            <a:pPr algn="l">
              <a:defRPr sz="1400" b="1">
                <a:solidFill>
                  <a:srgbClr val="2F7775"/>
                </a:solidFill>
                <a:latin typeface="Aptos"/>
              </a:defRPr>
            </a:pPr>
            <a:r>
              <a:t>04</a:t>
            </a:r>
          </a:p>
        </p:txBody>
      </p:sp>
      <p:sp>
        <p:nvSpPr>
          <p:cNvPr id="24" name="TextBox 23"/>
          <p:cNvSpPr txBox="1"/>
          <p:nvPr/>
        </p:nvSpPr>
        <p:spPr>
          <a:xfrm>
            <a:off x="7077456" y="2560320"/>
            <a:ext cx="4370832" cy="384048"/>
          </a:xfrm>
          <a:prstGeom prst="rect">
            <a:avLst/>
          </a:prstGeom>
          <a:noFill/>
        </p:spPr>
        <p:txBody>
          <a:bodyPr wrap="square" lIns="73152" rIns="73152" tIns="73152" bIns="73152">
            <a:spAutoFit/>
          </a:bodyPr>
          <a:lstStyle/>
          <a:p>
            <a:pPr algn="l">
              <a:defRPr sz="1200" b="1">
                <a:solidFill>
                  <a:srgbClr val="173B43"/>
                </a:solidFill>
                <a:latin typeface="Aptos"/>
              </a:defRPr>
            </a:pPr>
            <a:r>
              <a:t>Agree / Verify / Abstain model</a:t>
            </a:r>
          </a:p>
        </p:txBody>
      </p:sp>
      <p:sp>
        <p:nvSpPr>
          <p:cNvPr id="25" name="TextBox 24"/>
          <p:cNvSpPr txBox="1"/>
          <p:nvPr/>
        </p:nvSpPr>
        <p:spPr>
          <a:xfrm>
            <a:off x="7077456" y="2980944"/>
            <a:ext cx="4315968" cy="274320"/>
          </a:xfrm>
          <a:prstGeom prst="rect">
            <a:avLst/>
          </a:prstGeom>
          <a:noFill/>
        </p:spPr>
        <p:txBody>
          <a:bodyPr wrap="square" lIns="73152" rIns="73152" tIns="73152" bIns="73152">
            <a:spAutoFit/>
          </a:bodyPr>
          <a:lstStyle/>
          <a:p>
            <a:pPr algn="l">
              <a:defRPr sz="900" b="0">
                <a:solidFill>
                  <a:srgbClr val="64777A"/>
                </a:solidFill>
                <a:latin typeface="Aptos"/>
              </a:defRPr>
            </a:pPr>
            <a:r>
              <a:t>Keep policy actions distinct from terminal outcomes</a:t>
            </a:r>
          </a:p>
        </p:txBody>
      </p:sp>
      <p:sp>
        <p:nvSpPr>
          <p:cNvPr id="26" name="Rounded Rectangle 25"/>
          <p:cNvSpPr/>
          <p:nvPr/>
        </p:nvSpPr>
        <p:spPr>
          <a:xfrm>
            <a:off x="594360" y="3611880"/>
            <a:ext cx="5349240" cy="9144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 y="3611880"/>
            <a:ext cx="109728" cy="91440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 y="3721608"/>
            <a:ext cx="475488" cy="320040"/>
          </a:xfrm>
          <a:prstGeom prst="rect">
            <a:avLst/>
          </a:prstGeom>
          <a:noFill/>
        </p:spPr>
        <p:txBody>
          <a:bodyPr wrap="square" lIns="73152" rIns="73152" tIns="73152" bIns="73152">
            <a:spAutoFit/>
          </a:bodyPr>
          <a:lstStyle/>
          <a:p>
            <a:pPr algn="l">
              <a:defRPr sz="1400" b="1">
                <a:solidFill>
                  <a:srgbClr val="2F7775"/>
                </a:solidFill>
                <a:latin typeface="Aptos"/>
              </a:defRPr>
            </a:pPr>
            <a:r>
              <a:t>05</a:t>
            </a:r>
          </a:p>
        </p:txBody>
      </p:sp>
      <p:sp>
        <p:nvSpPr>
          <p:cNvPr id="29" name="TextBox 28"/>
          <p:cNvSpPr txBox="1"/>
          <p:nvPr/>
        </p:nvSpPr>
        <p:spPr>
          <a:xfrm>
            <a:off x="1362456" y="3703320"/>
            <a:ext cx="4370832" cy="384048"/>
          </a:xfrm>
          <a:prstGeom prst="rect">
            <a:avLst/>
          </a:prstGeom>
          <a:noFill/>
        </p:spPr>
        <p:txBody>
          <a:bodyPr wrap="square" lIns="73152" rIns="73152" tIns="73152" bIns="73152">
            <a:spAutoFit/>
          </a:bodyPr>
          <a:lstStyle/>
          <a:p>
            <a:pPr algn="l">
              <a:defRPr sz="1200" b="1">
                <a:solidFill>
                  <a:srgbClr val="173B43"/>
                </a:solidFill>
                <a:latin typeface="Aptos"/>
              </a:defRPr>
            </a:pPr>
            <a:r>
              <a:t>Research questions and comparison arms</a:t>
            </a:r>
          </a:p>
        </p:txBody>
      </p:sp>
      <p:sp>
        <p:nvSpPr>
          <p:cNvPr id="30" name="TextBox 29"/>
          <p:cNvSpPr txBox="1"/>
          <p:nvPr/>
        </p:nvSpPr>
        <p:spPr>
          <a:xfrm>
            <a:off x="1362456" y="4123944"/>
            <a:ext cx="4315968" cy="274320"/>
          </a:xfrm>
          <a:prstGeom prst="rect">
            <a:avLst/>
          </a:prstGeom>
          <a:noFill/>
        </p:spPr>
        <p:txBody>
          <a:bodyPr wrap="square" lIns="73152" rIns="73152" tIns="73152" bIns="73152">
            <a:spAutoFit/>
          </a:bodyPr>
          <a:lstStyle/>
          <a:p>
            <a:pPr algn="l">
              <a:defRPr sz="900" b="0">
                <a:solidFill>
                  <a:srgbClr val="64777A"/>
                </a:solidFill>
                <a:latin typeface="Aptos"/>
              </a:defRPr>
            </a:pPr>
            <a:r>
              <a:t>Compare strong baselines fairly, and separate classifier from policy</a:t>
            </a:r>
          </a:p>
        </p:txBody>
      </p:sp>
      <p:sp>
        <p:nvSpPr>
          <p:cNvPr id="31" name="Rounded Rectangle 30"/>
          <p:cNvSpPr/>
          <p:nvPr/>
        </p:nvSpPr>
        <p:spPr>
          <a:xfrm>
            <a:off x="6309360" y="3611880"/>
            <a:ext cx="5349240" cy="9144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611880"/>
            <a:ext cx="109728" cy="91440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28816" y="3721608"/>
            <a:ext cx="475488" cy="320040"/>
          </a:xfrm>
          <a:prstGeom prst="rect">
            <a:avLst/>
          </a:prstGeom>
          <a:noFill/>
        </p:spPr>
        <p:txBody>
          <a:bodyPr wrap="square" lIns="73152" rIns="73152" tIns="73152" bIns="73152">
            <a:spAutoFit/>
          </a:bodyPr>
          <a:lstStyle/>
          <a:p>
            <a:pPr algn="l">
              <a:defRPr sz="1400" b="1">
                <a:solidFill>
                  <a:srgbClr val="2F7775"/>
                </a:solidFill>
                <a:latin typeface="Aptos"/>
              </a:defRPr>
            </a:pPr>
            <a:r>
              <a:t>06</a:t>
            </a:r>
          </a:p>
        </p:txBody>
      </p:sp>
      <p:sp>
        <p:nvSpPr>
          <p:cNvPr id="34" name="TextBox 33"/>
          <p:cNvSpPr txBox="1"/>
          <p:nvPr/>
        </p:nvSpPr>
        <p:spPr>
          <a:xfrm>
            <a:off x="7077456" y="3703320"/>
            <a:ext cx="4370832" cy="384048"/>
          </a:xfrm>
          <a:prstGeom prst="rect">
            <a:avLst/>
          </a:prstGeom>
          <a:noFill/>
        </p:spPr>
        <p:txBody>
          <a:bodyPr wrap="square" lIns="73152" rIns="73152" tIns="73152" bIns="73152">
            <a:spAutoFit/>
          </a:bodyPr>
          <a:lstStyle/>
          <a:p>
            <a:pPr algn="l">
              <a:defRPr sz="1200" b="1">
                <a:solidFill>
                  <a:srgbClr val="173B43"/>
                </a:solidFill>
                <a:latin typeface="Aptos"/>
              </a:defRPr>
            </a:pPr>
            <a:r>
              <a:t>Dataset, annotation and metrics</a:t>
            </a:r>
          </a:p>
        </p:txBody>
      </p:sp>
      <p:sp>
        <p:nvSpPr>
          <p:cNvPr id="35" name="TextBox 34"/>
          <p:cNvSpPr txBox="1"/>
          <p:nvPr/>
        </p:nvSpPr>
        <p:spPr>
          <a:xfrm>
            <a:off x="7077456" y="4123944"/>
            <a:ext cx="4315968" cy="274320"/>
          </a:xfrm>
          <a:prstGeom prst="rect">
            <a:avLst/>
          </a:prstGeom>
          <a:noFill/>
        </p:spPr>
        <p:txBody>
          <a:bodyPr wrap="square" lIns="73152" rIns="73152" tIns="73152" bIns="73152">
            <a:spAutoFit/>
          </a:bodyPr>
          <a:lstStyle/>
          <a:p>
            <a:pPr algn="l">
              <a:defRPr sz="900" b="0">
                <a:solidFill>
                  <a:srgbClr val="64777A"/>
                </a:solidFill>
                <a:latin typeface="Aptos"/>
              </a:defRPr>
            </a:pPr>
            <a:r>
              <a:t>Build a trustworthy gold set; report safety errors separately</a:t>
            </a:r>
          </a:p>
        </p:txBody>
      </p:sp>
      <p:sp>
        <p:nvSpPr>
          <p:cNvPr id="36" name="Rounded Rectangle 35"/>
          <p:cNvSpPr/>
          <p:nvPr/>
        </p:nvSpPr>
        <p:spPr>
          <a:xfrm>
            <a:off x="594360" y="4754880"/>
            <a:ext cx="5349240" cy="9144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 y="4754880"/>
            <a:ext cx="109728" cy="91440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3816" y="4864608"/>
            <a:ext cx="475488" cy="320040"/>
          </a:xfrm>
          <a:prstGeom prst="rect">
            <a:avLst/>
          </a:prstGeom>
          <a:noFill/>
        </p:spPr>
        <p:txBody>
          <a:bodyPr wrap="square" lIns="73152" rIns="73152" tIns="73152" bIns="73152">
            <a:spAutoFit/>
          </a:bodyPr>
          <a:lstStyle/>
          <a:p>
            <a:pPr algn="l">
              <a:defRPr sz="1400" b="1">
                <a:solidFill>
                  <a:srgbClr val="2F7775"/>
                </a:solidFill>
                <a:latin typeface="Aptos"/>
              </a:defRPr>
            </a:pPr>
            <a:r>
              <a:t>07</a:t>
            </a:r>
          </a:p>
        </p:txBody>
      </p:sp>
      <p:sp>
        <p:nvSpPr>
          <p:cNvPr id="39" name="TextBox 38"/>
          <p:cNvSpPr txBox="1"/>
          <p:nvPr/>
        </p:nvSpPr>
        <p:spPr>
          <a:xfrm>
            <a:off x="1362456" y="4846320"/>
            <a:ext cx="4370832" cy="384048"/>
          </a:xfrm>
          <a:prstGeom prst="rect">
            <a:avLst/>
          </a:prstGeom>
          <a:noFill/>
        </p:spPr>
        <p:txBody>
          <a:bodyPr wrap="square" lIns="73152" rIns="73152" tIns="73152" bIns="73152">
            <a:spAutoFit/>
          </a:bodyPr>
          <a:lstStyle/>
          <a:p>
            <a:pPr algn="l">
              <a:defRPr sz="1200" b="1">
                <a:solidFill>
                  <a:srgbClr val="173B43"/>
                </a:solidFill>
                <a:latin typeface="Aptos"/>
              </a:defRPr>
            </a:pPr>
            <a:r>
              <a:t>SCP-MA experiment and convergence target</a:t>
            </a:r>
          </a:p>
        </p:txBody>
      </p:sp>
      <p:sp>
        <p:nvSpPr>
          <p:cNvPr id="40" name="TextBox 39"/>
          <p:cNvSpPr txBox="1"/>
          <p:nvPr/>
        </p:nvSpPr>
        <p:spPr>
          <a:xfrm>
            <a:off x="1362456" y="5266944"/>
            <a:ext cx="4315968" cy="274320"/>
          </a:xfrm>
          <a:prstGeom prst="rect">
            <a:avLst/>
          </a:prstGeom>
          <a:noFill/>
        </p:spPr>
        <p:txBody>
          <a:bodyPr wrap="square" lIns="73152" rIns="73152" tIns="73152" bIns="73152">
            <a:spAutoFit/>
          </a:bodyPr>
          <a:lstStyle/>
          <a:p>
            <a:pPr algn="l">
              <a:defRPr sz="900" b="0">
                <a:solidFill>
                  <a:srgbClr val="64777A"/>
                </a:solidFill>
                <a:latin typeface="Aptos"/>
              </a:defRPr>
            </a:pPr>
            <a:r>
              <a:t>Use a minimal fault simulator only after the research gate</a:t>
            </a:r>
          </a:p>
        </p:txBody>
      </p:sp>
      <p:sp>
        <p:nvSpPr>
          <p:cNvPr id="41" name="Rounded Rectangle 40"/>
          <p:cNvSpPr/>
          <p:nvPr/>
        </p:nvSpPr>
        <p:spPr>
          <a:xfrm>
            <a:off x="6309360" y="4754880"/>
            <a:ext cx="5349240" cy="9144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4754880"/>
            <a:ext cx="109728" cy="914400"/>
          </a:xfrm>
          <a:prstGeom prst="rect">
            <a:avLst/>
          </a:prstGeom>
          <a:solidFill>
            <a:srgbClr val="7286A3"/>
          </a:solidFill>
          <a:ln>
            <a:solidFill>
              <a:srgbClr val="7286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28816" y="4864608"/>
            <a:ext cx="475488" cy="320040"/>
          </a:xfrm>
          <a:prstGeom prst="rect">
            <a:avLst/>
          </a:prstGeom>
          <a:noFill/>
        </p:spPr>
        <p:txBody>
          <a:bodyPr wrap="square" lIns="73152" rIns="73152" tIns="73152" bIns="73152">
            <a:spAutoFit/>
          </a:bodyPr>
          <a:lstStyle/>
          <a:p>
            <a:pPr algn="l">
              <a:defRPr sz="1400" b="1">
                <a:solidFill>
                  <a:srgbClr val="2F7775"/>
                </a:solidFill>
                <a:latin typeface="Aptos"/>
              </a:defRPr>
            </a:pPr>
            <a:r>
              <a:t>08</a:t>
            </a:r>
          </a:p>
        </p:txBody>
      </p:sp>
      <p:sp>
        <p:nvSpPr>
          <p:cNvPr id="44" name="TextBox 43"/>
          <p:cNvSpPr txBox="1"/>
          <p:nvPr/>
        </p:nvSpPr>
        <p:spPr>
          <a:xfrm>
            <a:off x="7077456" y="4846320"/>
            <a:ext cx="4370832" cy="384048"/>
          </a:xfrm>
          <a:prstGeom prst="rect">
            <a:avLst/>
          </a:prstGeom>
          <a:noFill/>
        </p:spPr>
        <p:txBody>
          <a:bodyPr wrap="square" lIns="73152" rIns="73152" tIns="73152" bIns="73152">
            <a:spAutoFit/>
          </a:bodyPr>
          <a:lstStyle/>
          <a:p>
            <a:pPr algn="l">
              <a:defRPr sz="1200" b="1">
                <a:solidFill>
                  <a:srgbClr val="173B43"/>
                </a:solidFill>
                <a:latin typeface="Aptos"/>
              </a:defRPr>
            </a:pPr>
            <a:r>
              <a:t>Risks, limitations and staged plan</a:t>
            </a:r>
          </a:p>
        </p:txBody>
      </p:sp>
      <p:sp>
        <p:nvSpPr>
          <p:cNvPr id="45" name="TextBox 44"/>
          <p:cNvSpPr txBox="1"/>
          <p:nvPr/>
        </p:nvSpPr>
        <p:spPr>
          <a:xfrm>
            <a:off x="7077456" y="5266944"/>
            <a:ext cx="4315968" cy="274320"/>
          </a:xfrm>
          <a:prstGeom prst="rect">
            <a:avLst/>
          </a:prstGeom>
          <a:noFill/>
        </p:spPr>
        <p:txBody>
          <a:bodyPr wrap="square" lIns="73152" rIns="73152" tIns="73152" bIns="73152">
            <a:spAutoFit/>
          </a:bodyPr>
          <a:lstStyle/>
          <a:p>
            <a:pPr algn="l">
              <a:defRPr sz="900" b="0">
                <a:solidFill>
                  <a:srgbClr val="64777A"/>
                </a:solidFill>
                <a:latin typeface="Aptos"/>
              </a:defRPr>
            </a:pPr>
            <a:r>
              <a:t>Protect the research gate and keep the M.E. scope manageable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Replicas can agree while meaning stays unsafe</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640080" y="1417320"/>
            <a:ext cx="3246120" cy="128016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17320"/>
            <a:ext cx="82296" cy="1280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527048"/>
            <a:ext cx="2953512" cy="320040"/>
          </a:xfrm>
          <a:prstGeom prst="rect">
            <a:avLst/>
          </a:prstGeom>
          <a:noFill/>
        </p:spPr>
        <p:txBody>
          <a:bodyPr wrap="square" lIns="73152" rIns="73152" tIns="73152" bIns="73152">
            <a:spAutoFit/>
          </a:bodyPr>
          <a:lstStyle/>
          <a:p>
            <a:pPr algn="l">
              <a:defRPr sz="1500" b="1">
                <a:solidFill>
                  <a:srgbClr val="2F7775"/>
                </a:solidFill>
                <a:latin typeface="Aptos"/>
              </a:defRPr>
            </a:pPr>
            <a:r>
              <a:t>Agent A</a:t>
            </a:r>
          </a:p>
        </p:txBody>
      </p:sp>
      <p:sp>
        <p:nvSpPr>
          <p:cNvPr id="9" name="TextBox 8"/>
          <p:cNvSpPr txBox="1"/>
          <p:nvPr/>
        </p:nvSpPr>
        <p:spPr>
          <a:xfrm>
            <a:off x="822959" y="1901952"/>
            <a:ext cx="2935224" cy="713231"/>
          </a:xfrm>
          <a:prstGeom prst="rect">
            <a:avLst/>
          </a:prstGeom>
          <a:noFill/>
        </p:spPr>
        <p:txBody>
          <a:bodyPr wrap="square" lIns="73152" rIns="73152" tIns="73152" bIns="73152">
            <a:spAutoFit/>
          </a:bodyPr>
          <a:lstStyle/>
          <a:p>
            <a:pPr algn="l">
              <a:defRPr sz="1600" b="0">
                <a:solidFill>
                  <a:srgbClr val="203338"/>
                </a:solidFill>
                <a:latin typeface="Aptos"/>
              </a:defRPr>
            </a:pPr>
            <a:r>
              <a:t>database = PostgreSQL</a:t>
            </a:r>
          </a:p>
        </p:txBody>
      </p:sp>
      <p:sp>
        <p:nvSpPr>
          <p:cNvPr id="10" name="Rounded Rectangle 9"/>
          <p:cNvSpPr/>
          <p:nvPr/>
        </p:nvSpPr>
        <p:spPr>
          <a:xfrm>
            <a:off x="4069080" y="1417320"/>
            <a:ext cx="3246120" cy="128016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69080" y="1417320"/>
            <a:ext cx="82296" cy="128016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60" y="1527048"/>
            <a:ext cx="2953512" cy="320040"/>
          </a:xfrm>
          <a:prstGeom prst="rect">
            <a:avLst/>
          </a:prstGeom>
          <a:noFill/>
        </p:spPr>
        <p:txBody>
          <a:bodyPr wrap="square" lIns="73152" rIns="73152" tIns="73152" bIns="73152">
            <a:spAutoFit/>
          </a:bodyPr>
          <a:lstStyle/>
          <a:p>
            <a:pPr algn="l">
              <a:defRPr sz="1500" b="1">
                <a:solidFill>
                  <a:srgbClr val="D97862"/>
                </a:solidFill>
                <a:latin typeface="Aptos"/>
              </a:defRPr>
            </a:pPr>
            <a:r>
              <a:t>Agent B</a:t>
            </a:r>
          </a:p>
        </p:txBody>
      </p:sp>
      <p:sp>
        <p:nvSpPr>
          <p:cNvPr id="13" name="TextBox 12"/>
          <p:cNvSpPr txBox="1"/>
          <p:nvPr/>
        </p:nvSpPr>
        <p:spPr>
          <a:xfrm>
            <a:off x="4251960" y="1901952"/>
            <a:ext cx="2935224" cy="713231"/>
          </a:xfrm>
          <a:prstGeom prst="rect">
            <a:avLst/>
          </a:prstGeom>
          <a:noFill/>
        </p:spPr>
        <p:txBody>
          <a:bodyPr wrap="square" lIns="73152" rIns="73152" tIns="73152" bIns="73152">
            <a:spAutoFit/>
          </a:bodyPr>
          <a:lstStyle/>
          <a:p>
            <a:pPr algn="l">
              <a:defRPr sz="1600" b="0">
                <a:solidFill>
                  <a:srgbClr val="203338"/>
                </a:solidFill>
                <a:latin typeface="Aptos"/>
              </a:defRPr>
            </a:pPr>
            <a:r>
              <a:t>database = DynamoDB</a:t>
            </a:r>
          </a:p>
        </p:txBody>
      </p:sp>
      <p:cxnSp>
        <p:nvCxnSpPr>
          <p:cNvPr id="14" name="Connector 13"/>
          <p:cNvCxnSpPr/>
          <p:nvPr/>
        </p:nvCxnSpPr>
        <p:spPr>
          <a:xfrm>
            <a:off x="3886200" y="2048256"/>
            <a:ext cx="155448" cy="0"/>
          </a:xfrm>
          <a:prstGeom prst="line">
            <a:avLst/>
          </a:prstGeom>
          <a:ln w="25400">
            <a:solidFill>
              <a:srgbClr val="64777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240280" y="3063240"/>
            <a:ext cx="5029200" cy="960120"/>
          </a:xfrm>
          <a:prstGeom prst="roundRect">
            <a:avLst/>
          </a:prstGeom>
          <a:solidFill>
            <a:srgbClr val="173B43"/>
          </a:solidFill>
          <a:ln>
            <a:solidFill>
              <a:srgbClr val="173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23160" y="3264408"/>
            <a:ext cx="4663440" cy="457200"/>
          </a:xfrm>
          <a:prstGeom prst="rect">
            <a:avLst/>
          </a:prstGeom>
          <a:noFill/>
        </p:spPr>
        <p:txBody>
          <a:bodyPr wrap="square" lIns="73152" rIns="73152" tIns="73152" bIns="73152">
            <a:spAutoFit/>
          </a:bodyPr>
          <a:lstStyle/>
          <a:p>
            <a:pPr algn="ctr">
              <a:defRPr sz="1800" b="1">
                <a:solidFill>
                  <a:srgbClr val="FFFFFF"/>
                </a:solidFill>
                <a:latin typeface="Aptos"/>
              </a:defRPr>
            </a:pPr>
            <a:r>
              <a:t>Both events reach every replica</a:t>
            </a:r>
          </a:p>
        </p:txBody>
      </p:sp>
      <p:cxnSp>
        <p:nvCxnSpPr>
          <p:cNvPr id="17" name="Connector 16"/>
          <p:cNvCxnSpPr/>
          <p:nvPr/>
        </p:nvCxnSpPr>
        <p:spPr>
          <a:xfrm>
            <a:off x="4754880" y="2697480"/>
            <a:ext cx="0" cy="338328"/>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72400" y="1417320"/>
            <a:ext cx="3520440" cy="260604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0" y="1417320"/>
            <a:ext cx="82296" cy="260604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79" y="1527048"/>
            <a:ext cx="3227832" cy="320040"/>
          </a:xfrm>
          <a:prstGeom prst="rect">
            <a:avLst/>
          </a:prstGeom>
          <a:noFill/>
        </p:spPr>
        <p:txBody>
          <a:bodyPr wrap="square" lIns="73152" rIns="73152" tIns="73152" bIns="73152">
            <a:spAutoFit/>
          </a:bodyPr>
          <a:lstStyle/>
          <a:p>
            <a:pPr algn="l">
              <a:defRPr sz="1500" b="1">
                <a:solidFill>
                  <a:srgbClr val="E8B65A"/>
                </a:solidFill>
                <a:latin typeface="Aptos"/>
              </a:defRPr>
            </a:pPr>
            <a:r>
              <a:t>What AVA asks</a:t>
            </a:r>
          </a:p>
        </p:txBody>
      </p:sp>
      <p:sp>
        <p:nvSpPr>
          <p:cNvPr id="21" name="TextBox 20"/>
          <p:cNvSpPr txBox="1"/>
          <p:nvPr/>
        </p:nvSpPr>
        <p:spPr>
          <a:xfrm>
            <a:off x="7955279" y="1901952"/>
            <a:ext cx="3209544" cy="2039112"/>
          </a:xfrm>
          <a:prstGeom prst="rect">
            <a:avLst/>
          </a:prstGeom>
          <a:noFill/>
        </p:spPr>
        <p:txBody>
          <a:bodyPr wrap="square" lIns="73152" rIns="73152" tIns="73152" bIns="73152">
            <a:spAutoFit/>
          </a:bodyPr>
          <a:lstStyle/>
          <a:p>
            <a:pPr algn="l">
              <a:defRPr sz="1500" b="0">
                <a:solidFill>
                  <a:srgbClr val="203338"/>
                </a:solidFill>
                <a:latin typeface="Aptos"/>
              </a:defRPr>
            </a:pPr>
            <a:r>
              <a:t>Are the claims paraphrases, compatible, soft conflict or hard conflict?</a:t>
            </a:r>
            <a:br/>
            <a:br/>
            <a:r>
              <a:t>Should the system agree, verify or abstain?</a:t>
            </a:r>
          </a:p>
        </p:txBody>
      </p:sp>
      <p:pic>
        <p:nvPicPr>
          <p:cNvPr id="22" name="Picture 21" descr="turtle.png"/>
          <p:cNvPicPr>
            <a:picLocks noChangeAspect="1"/>
          </p:cNvPicPr>
          <p:nvPr/>
        </p:nvPicPr>
        <p:blipFill>
          <a:blip r:embed="rId2"/>
          <a:stretch>
            <a:fillRect/>
          </a:stretch>
        </p:blipFill>
        <p:spPr>
          <a:xfrm>
            <a:off x="9235440" y="4160520"/>
            <a:ext cx="1234440" cy="1234440"/>
          </a:xfrm>
          <a:prstGeom prst="rect">
            <a:avLst/>
          </a:prstGeom>
        </p:spPr>
      </p:pic>
      <p:sp>
        <p:nvSpPr>
          <p:cNvPr id="23" name="TextBox 22"/>
          <p:cNvSpPr txBox="1"/>
          <p:nvPr/>
        </p:nvSpPr>
        <p:spPr>
          <a:xfrm>
            <a:off x="8595360" y="5486400"/>
            <a:ext cx="2560320" cy="365760"/>
          </a:xfrm>
          <a:prstGeom prst="rect">
            <a:avLst/>
          </a:prstGeom>
          <a:noFill/>
        </p:spPr>
        <p:txBody>
          <a:bodyPr wrap="square" lIns="73152" rIns="73152" tIns="73152" bIns="73152">
            <a:spAutoFit/>
          </a:bodyPr>
          <a:lstStyle/>
          <a:p>
            <a:pPr algn="ctr">
              <a:defRPr sz="900" b="1">
                <a:solidFill>
                  <a:srgbClr val="64777A"/>
                </a:solidFill>
                <a:latin typeface="Aptos"/>
              </a:defRPr>
            </a:pPr>
            <a:r>
              <a:t>TURTLE ANALOGY: pause before merging</a:t>
            </a:r>
          </a:p>
        </p:txBody>
      </p:sp>
      <p:sp>
        <p:nvSpPr>
          <p:cNvPr id="24" name="TextBox 23"/>
          <p:cNvSpPr txBox="1"/>
          <p:nvPr/>
        </p:nvSpPr>
        <p:spPr>
          <a:xfrm>
            <a:off x="777240" y="4572000"/>
            <a:ext cx="6583680" cy="731520"/>
          </a:xfrm>
          <a:prstGeom prst="rect">
            <a:avLst/>
          </a:prstGeom>
          <a:noFill/>
        </p:spPr>
        <p:txBody>
          <a:bodyPr wrap="square" lIns="73152" rIns="73152" tIns="73152" bIns="73152">
            <a:spAutoFit/>
          </a:bodyPr>
          <a:lstStyle/>
          <a:p>
            <a:pPr algn="ctr">
              <a:defRPr sz="2200" b="1">
                <a:solidFill>
                  <a:srgbClr val="173B43"/>
                </a:solidFill>
                <a:latin typeface="Aptos"/>
              </a:defRPr>
            </a:pPr>
            <a:r>
              <a:t>Mechanical replication ≠ semantic correctness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Scope: additive state versus assertional state</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685800" y="1417320"/>
            <a:ext cx="3840480" cy="18288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82296" cy="182880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27048"/>
            <a:ext cx="3547872" cy="320040"/>
          </a:xfrm>
          <a:prstGeom prst="rect">
            <a:avLst/>
          </a:prstGeom>
          <a:noFill/>
        </p:spPr>
        <p:txBody>
          <a:bodyPr wrap="square" lIns="73152" rIns="73152" tIns="73152" bIns="73152">
            <a:spAutoFit/>
          </a:bodyPr>
          <a:lstStyle/>
          <a:p>
            <a:pPr algn="l">
              <a:defRPr sz="1500" b="1">
                <a:solidFill>
                  <a:srgbClr val="2F7775"/>
                </a:solidFill>
                <a:latin typeface="Aptos"/>
              </a:defRPr>
            </a:pPr>
            <a:r>
              <a:t>A • Additive state</a:t>
            </a:r>
          </a:p>
        </p:txBody>
      </p:sp>
      <p:sp>
        <p:nvSpPr>
          <p:cNvPr id="9" name="TextBox 8"/>
          <p:cNvSpPr txBox="1"/>
          <p:nvPr/>
        </p:nvSpPr>
        <p:spPr>
          <a:xfrm>
            <a:off x="868680" y="1901952"/>
            <a:ext cx="3529584" cy="1261872"/>
          </a:xfrm>
          <a:prstGeom prst="rect">
            <a:avLst/>
          </a:prstGeom>
          <a:noFill/>
        </p:spPr>
        <p:txBody>
          <a:bodyPr wrap="square" lIns="73152" rIns="73152" tIns="73152" bIns="73152">
            <a:spAutoFit/>
          </a:bodyPr>
          <a:lstStyle/>
          <a:p>
            <a:pPr algn="l">
              <a:defRPr sz="1400" b="0">
                <a:solidFill>
                  <a:srgbClr val="203338"/>
                </a:solidFill>
                <a:latin typeface="Aptos"/>
              </a:defRPr>
            </a:pPr>
            <a:r>
              <a:t>Logs, observations, discovered entities</a:t>
            </a:r>
            <a:br/>
            <a:r>
              <a:t>Mergeable facts; standard G-Set / OR-Set CRDTs</a:t>
            </a:r>
            <a:br/>
            <a:r>
              <a:t>Not claimed as novel</a:t>
            </a:r>
          </a:p>
        </p:txBody>
      </p:sp>
      <p:sp>
        <p:nvSpPr>
          <p:cNvPr id="10" name="Rounded Rectangle 9"/>
          <p:cNvSpPr/>
          <p:nvPr/>
        </p:nvSpPr>
        <p:spPr>
          <a:xfrm>
            <a:off x="4754880" y="1417320"/>
            <a:ext cx="3840480" cy="18288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0" y="1417320"/>
            <a:ext cx="82296" cy="182880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1527048"/>
            <a:ext cx="3547872" cy="320040"/>
          </a:xfrm>
          <a:prstGeom prst="rect">
            <a:avLst/>
          </a:prstGeom>
          <a:noFill/>
        </p:spPr>
        <p:txBody>
          <a:bodyPr wrap="square" lIns="73152" rIns="73152" tIns="73152" bIns="73152">
            <a:spAutoFit/>
          </a:bodyPr>
          <a:lstStyle/>
          <a:p>
            <a:pPr algn="l">
              <a:defRPr sz="1500" b="1">
                <a:solidFill>
                  <a:srgbClr val="D97862"/>
                </a:solidFill>
                <a:latin typeface="Aptos"/>
              </a:defRPr>
            </a:pPr>
            <a:r>
              <a:t>Q • Assertional state</a:t>
            </a:r>
          </a:p>
        </p:txBody>
      </p:sp>
      <p:sp>
        <p:nvSpPr>
          <p:cNvPr id="13" name="TextBox 12"/>
          <p:cNvSpPr txBox="1"/>
          <p:nvPr/>
        </p:nvSpPr>
        <p:spPr>
          <a:xfrm>
            <a:off x="4937760" y="1901952"/>
            <a:ext cx="3529584" cy="1261872"/>
          </a:xfrm>
          <a:prstGeom prst="rect">
            <a:avLst/>
          </a:prstGeom>
          <a:noFill/>
        </p:spPr>
        <p:txBody>
          <a:bodyPr wrap="square" lIns="73152" rIns="73152" tIns="73152" bIns="73152">
            <a:spAutoFit/>
          </a:bodyPr>
          <a:lstStyle/>
          <a:p>
            <a:pPr algn="l">
              <a:defRPr sz="1400" b="0">
                <a:solidFill>
                  <a:srgbClr val="203338"/>
                </a:solidFill>
                <a:latin typeface="Aptos"/>
              </a:defRPr>
            </a:pPr>
            <a:r>
              <a:t>Single-valued fact per declared key</a:t>
            </a:r>
            <a:br/>
            <a:r>
              <a:t>Competing values may conflict</a:t>
            </a:r>
            <a:br/>
            <a:r>
              <a:t>Primary research object</a:t>
            </a:r>
          </a:p>
        </p:txBody>
      </p:sp>
      <p:pic>
        <p:nvPicPr>
          <p:cNvPr id="14" name="Picture 13" descr="bee.png"/>
          <p:cNvPicPr>
            <a:picLocks noChangeAspect="1"/>
          </p:cNvPicPr>
          <p:nvPr/>
        </p:nvPicPr>
        <p:blipFill>
          <a:blip r:embed="rId2"/>
          <a:stretch>
            <a:fillRect/>
          </a:stretch>
        </p:blipFill>
        <p:spPr>
          <a:xfrm>
            <a:off x="9189720" y="1508760"/>
            <a:ext cx="1417320" cy="1417320"/>
          </a:xfrm>
          <a:prstGeom prst="rect">
            <a:avLst/>
          </a:prstGeom>
        </p:spPr>
      </p:pic>
      <p:sp>
        <p:nvSpPr>
          <p:cNvPr id="15" name="TextBox 14"/>
          <p:cNvSpPr txBox="1"/>
          <p:nvPr/>
        </p:nvSpPr>
        <p:spPr>
          <a:xfrm>
            <a:off x="8549640" y="2971800"/>
            <a:ext cx="2651760" cy="411480"/>
          </a:xfrm>
          <a:prstGeom prst="rect">
            <a:avLst/>
          </a:prstGeom>
          <a:noFill/>
        </p:spPr>
        <p:txBody>
          <a:bodyPr wrap="square" lIns="73152" rIns="73152" tIns="73152" bIns="73152">
            <a:spAutoFit/>
          </a:bodyPr>
          <a:lstStyle/>
          <a:p>
            <a:pPr algn="ctr">
              <a:defRPr sz="900" b="1">
                <a:solidFill>
                  <a:srgbClr val="64777A"/>
                </a:solidFill>
                <a:latin typeface="Aptos"/>
              </a:defRPr>
            </a:pPr>
            <a:r>
              <a:t>BEE ANALOGY: separate roles</a:t>
            </a:r>
          </a:p>
        </p:txBody>
      </p:sp>
      <p:sp>
        <p:nvSpPr>
          <p:cNvPr id="16" name="Rounded Rectangle 15"/>
          <p:cNvSpPr/>
          <p:nvPr/>
        </p:nvSpPr>
        <p:spPr>
          <a:xfrm>
            <a:off x="1005840" y="3886200"/>
            <a:ext cx="9966960" cy="13258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61872" y="4096512"/>
            <a:ext cx="9418320" cy="320040"/>
          </a:xfrm>
          <a:prstGeom prst="rect">
            <a:avLst/>
          </a:prstGeom>
          <a:noFill/>
        </p:spPr>
        <p:txBody>
          <a:bodyPr wrap="square" lIns="73152" rIns="73152" tIns="73152" bIns="73152">
            <a:spAutoFit/>
          </a:bodyPr>
          <a:lstStyle/>
          <a:p>
            <a:pPr algn="ctr">
              <a:defRPr sz="1700" b="1">
                <a:solidFill>
                  <a:srgbClr val="173B43"/>
                </a:solidFill>
                <a:latin typeface="Aptos"/>
              </a:defRPr>
            </a:pPr>
            <a:r>
              <a:t>Assertion q = (key, value, source agent, causal metadata, logical timestamp)</a:t>
            </a:r>
          </a:p>
        </p:txBody>
      </p:sp>
      <p:sp>
        <p:nvSpPr>
          <p:cNvPr id="18" name="TextBox 17"/>
          <p:cNvSpPr txBox="1"/>
          <p:nvPr/>
        </p:nvSpPr>
        <p:spPr>
          <a:xfrm>
            <a:off x="1325880" y="4590288"/>
            <a:ext cx="9235440" cy="411480"/>
          </a:xfrm>
          <a:prstGeom prst="rect">
            <a:avLst/>
          </a:prstGeom>
          <a:noFill/>
        </p:spPr>
        <p:txBody>
          <a:bodyPr wrap="square" lIns="73152" rIns="73152" tIns="73152" bIns="73152">
            <a:spAutoFit/>
          </a:bodyPr>
          <a:lstStyle/>
          <a:p>
            <a:pPr algn="ctr">
              <a:defRPr sz="1300" b="0">
                <a:solidFill>
                  <a:srgbClr val="203338"/>
                </a:solidFill>
                <a:latin typeface="Aptos"/>
              </a:defRPr>
            </a:pPr>
            <a:r>
              <a:t>Same-key scope must be explicit: key type, role, temporal scope, and cardinality.</a:t>
            </a:r>
          </a:p>
        </p:txBody>
      </p:sp>
      <p:sp>
        <p:nvSpPr>
          <p:cNvPr id="19" name="TextBox 18"/>
          <p:cNvSpPr txBox="1"/>
          <p:nvPr/>
        </p:nvSpPr>
        <p:spPr>
          <a:xfrm>
            <a:off x="731520" y="5486400"/>
            <a:ext cx="10789920" cy="411480"/>
          </a:xfrm>
          <a:prstGeom prst="rect">
            <a:avLst/>
          </a:prstGeom>
          <a:noFill/>
        </p:spPr>
        <p:txBody>
          <a:bodyPr wrap="square" lIns="73152" rIns="73152" tIns="73152" bIns="73152">
            <a:spAutoFit/>
          </a:bodyPr>
          <a:lstStyle/>
          <a:p>
            <a:pPr algn="ctr">
              <a:defRPr sz="1100" b="0">
                <a:solidFill>
                  <a:srgbClr val="64777A"/>
                </a:solidFill>
                <a:latin typeface="Aptos"/>
              </a:defRPr>
            </a:pPr>
            <a:r>
              <a:t>Out of scope: Byzantine agents · permanent partitions · cross-key intent conflicts · general open-domain NLI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Four relation labels — before policy actions</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594360" y="1600200"/>
            <a:ext cx="2670048" cy="34290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00200"/>
            <a:ext cx="2670048" cy="164592"/>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01952"/>
            <a:ext cx="2359152" cy="411480"/>
          </a:xfrm>
          <a:prstGeom prst="rect">
            <a:avLst/>
          </a:prstGeom>
          <a:noFill/>
        </p:spPr>
        <p:txBody>
          <a:bodyPr wrap="square" lIns="73152" rIns="73152" tIns="73152" bIns="73152">
            <a:spAutoFit/>
          </a:bodyPr>
          <a:lstStyle/>
          <a:p>
            <a:pPr algn="ctr">
              <a:defRPr sz="1800" b="1">
                <a:solidFill>
                  <a:srgbClr val="173B43"/>
                </a:solidFill>
                <a:latin typeface="Aptos"/>
              </a:defRPr>
            </a:pPr>
            <a:r>
              <a:t>Paraphrase</a:t>
            </a:r>
          </a:p>
        </p:txBody>
      </p:sp>
      <p:sp>
        <p:nvSpPr>
          <p:cNvPr id="9" name="TextBox 8"/>
          <p:cNvSpPr txBox="1"/>
          <p:nvPr/>
        </p:nvSpPr>
        <p:spPr>
          <a:xfrm>
            <a:off x="777240" y="2487168"/>
            <a:ext cx="2313432" cy="658368"/>
          </a:xfrm>
          <a:prstGeom prst="rect">
            <a:avLst/>
          </a:prstGeom>
          <a:noFill/>
        </p:spPr>
        <p:txBody>
          <a:bodyPr wrap="square" lIns="73152" rIns="73152" tIns="73152" bIns="73152">
            <a:spAutoFit/>
          </a:bodyPr>
          <a:lstStyle/>
          <a:p>
            <a:pPr algn="ctr">
              <a:defRPr sz="1200" b="0">
                <a:solidFill>
                  <a:srgbClr val="203338"/>
                </a:solidFill>
                <a:latin typeface="Aptos"/>
              </a:defRPr>
            </a:pPr>
            <a:r>
              <a:t>Same fact, different wording</a:t>
            </a:r>
          </a:p>
        </p:txBody>
      </p:sp>
      <p:sp>
        <p:nvSpPr>
          <p:cNvPr id="10" name="Rounded Rectangle 9"/>
          <p:cNvSpPr/>
          <p:nvPr/>
        </p:nvSpPr>
        <p:spPr>
          <a:xfrm>
            <a:off x="758952" y="3337560"/>
            <a:ext cx="2340864" cy="1243584"/>
          </a:xfrm>
          <a:prstGeom prst="roundRect">
            <a:avLst/>
          </a:prstGeom>
          <a:solidFill>
            <a:srgbClr val="F7F4EC"/>
          </a:solidFill>
          <a:ln>
            <a:solidFill>
              <a:srgbClr val="F7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493008"/>
            <a:ext cx="2157984" cy="950976"/>
          </a:xfrm>
          <a:prstGeom prst="rect">
            <a:avLst/>
          </a:prstGeom>
          <a:noFill/>
        </p:spPr>
        <p:txBody>
          <a:bodyPr wrap="square" lIns="73152" rIns="73152" tIns="73152" bIns="73152">
            <a:spAutoFit/>
          </a:bodyPr>
          <a:lstStyle/>
          <a:p>
            <a:pPr algn="ctr">
              <a:defRPr sz="1100" b="0">
                <a:solidFill>
                  <a:srgbClr val="64777A"/>
                </a:solidFill>
                <a:latin typeface="Aptos"/>
              </a:defRPr>
            </a:pPr>
            <a:r>
              <a:t>PostgreSQL is selected / Project uses PostgreSQL</a:t>
            </a:r>
          </a:p>
        </p:txBody>
      </p:sp>
      <p:sp>
        <p:nvSpPr>
          <p:cNvPr id="12" name="Rounded Rectangle 11"/>
          <p:cNvSpPr/>
          <p:nvPr/>
        </p:nvSpPr>
        <p:spPr>
          <a:xfrm>
            <a:off x="3502152" y="1600200"/>
            <a:ext cx="2670048" cy="34290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2152" y="1600200"/>
            <a:ext cx="2670048" cy="164592"/>
          </a:xfrm>
          <a:prstGeom prst="rect">
            <a:avLst/>
          </a:prstGeom>
          <a:solidFill>
            <a:srgbClr val="9CB79B"/>
          </a:solidFill>
          <a:ln>
            <a:solidFill>
              <a:srgbClr val="9CB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1901952"/>
            <a:ext cx="2359152" cy="411480"/>
          </a:xfrm>
          <a:prstGeom prst="rect">
            <a:avLst/>
          </a:prstGeom>
          <a:noFill/>
        </p:spPr>
        <p:txBody>
          <a:bodyPr wrap="square" lIns="73152" rIns="73152" tIns="73152" bIns="73152">
            <a:spAutoFit/>
          </a:bodyPr>
          <a:lstStyle/>
          <a:p>
            <a:pPr algn="ctr">
              <a:defRPr sz="1800" b="1">
                <a:solidFill>
                  <a:srgbClr val="173B43"/>
                </a:solidFill>
                <a:latin typeface="Aptos"/>
              </a:defRPr>
            </a:pPr>
            <a:r>
              <a:t>Compatible</a:t>
            </a:r>
          </a:p>
        </p:txBody>
      </p:sp>
      <p:sp>
        <p:nvSpPr>
          <p:cNvPr id="15" name="TextBox 14"/>
          <p:cNvSpPr txBox="1"/>
          <p:nvPr/>
        </p:nvSpPr>
        <p:spPr>
          <a:xfrm>
            <a:off x="3685032" y="2487168"/>
            <a:ext cx="2313432" cy="658368"/>
          </a:xfrm>
          <a:prstGeom prst="rect">
            <a:avLst/>
          </a:prstGeom>
          <a:noFill/>
        </p:spPr>
        <p:txBody>
          <a:bodyPr wrap="square" lIns="73152" rIns="73152" tIns="73152" bIns="73152">
            <a:spAutoFit/>
          </a:bodyPr>
          <a:lstStyle/>
          <a:p>
            <a:pPr algn="ctr">
              <a:defRPr sz="1200" b="0">
                <a:solidFill>
                  <a:srgbClr val="203338"/>
                </a:solidFill>
                <a:latin typeface="Aptos"/>
              </a:defRPr>
            </a:pPr>
            <a:r>
              <a:t>Both can be true in declared scopes</a:t>
            </a:r>
          </a:p>
        </p:txBody>
      </p:sp>
      <p:sp>
        <p:nvSpPr>
          <p:cNvPr id="16" name="Rounded Rectangle 15"/>
          <p:cNvSpPr/>
          <p:nvPr/>
        </p:nvSpPr>
        <p:spPr>
          <a:xfrm>
            <a:off x="3666744" y="3337560"/>
            <a:ext cx="2340864" cy="1243584"/>
          </a:xfrm>
          <a:prstGeom prst="roundRect">
            <a:avLst/>
          </a:prstGeom>
          <a:solidFill>
            <a:srgbClr val="F7F4EC"/>
          </a:solidFill>
          <a:ln>
            <a:solidFill>
              <a:srgbClr val="F7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58184" y="3493008"/>
            <a:ext cx="2157984" cy="950976"/>
          </a:xfrm>
          <a:prstGeom prst="rect">
            <a:avLst/>
          </a:prstGeom>
          <a:noFill/>
        </p:spPr>
        <p:txBody>
          <a:bodyPr wrap="square" lIns="73152" rIns="73152" tIns="73152" bIns="73152">
            <a:spAutoFit/>
          </a:bodyPr>
          <a:lstStyle/>
          <a:p>
            <a:pPr algn="ctr">
              <a:defRPr sz="1100" b="0">
                <a:solidFill>
                  <a:srgbClr val="64777A"/>
                </a:solidFill>
                <a:latin typeface="Aptos"/>
              </a:defRPr>
            </a:pPr>
            <a:r>
              <a:t>Transactions use PostgreSQL / Sessions use DynamoDB</a:t>
            </a:r>
          </a:p>
        </p:txBody>
      </p:sp>
      <p:sp>
        <p:nvSpPr>
          <p:cNvPr id="18" name="Rounded Rectangle 17"/>
          <p:cNvSpPr/>
          <p:nvPr/>
        </p:nvSpPr>
        <p:spPr>
          <a:xfrm>
            <a:off x="6409944" y="1600200"/>
            <a:ext cx="2670048" cy="34290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9944" y="1600200"/>
            <a:ext cx="2670048" cy="164592"/>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1901952"/>
            <a:ext cx="2359152" cy="411480"/>
          </a:xfrm>
          <a:prstGeom prst="rect">
            <a:avLst/>
          </a:prstGeom>
          <a:noFill/>
        </p:spPr>
        <p:txBody>
          <a:bodyPr wrap="square" lIns="73152" rIns="73152" tIns="73152" bIns="73152">
            <a:spAutoFit/>
          </a:bodyPr>
          <a:lstStyle/>
          <a:p>
            <a:pPr algn="ctr">
              <a:defRPr sz="1800" b="1">
                <a:solidFill>
                  <a:srgbClr val="173B43"/>
                </a:solidFill>
                <a:latin typeface="Aptos"/>
              </a:defRPr>
            </a:pPr>
            <a:r>
              <a:t>Soft conflict</a:t>
            </a:r>
          </a:p>
        </p:txBody>
      </p:sp>
      <p:sp>
        <p:nvSpPr>
          <p:cNvPr id="21" name="TextBox 20"/>
          <p:cNvSpPr txBox="1"/>
          <p:nvPr/>
        </p:nvSpPr>
        <p:spPr>
          <a:xfrm>
            <a:off x="6592824" y="2487168"/>
            <a:ext cx="2313432" cy="658368"/>
          </a:xfrm>
          <a:prstGeom prst="rect">
            <a:avLst/>
          </a:prstGeom>
          <a:noFill/>
        </p:spPr>
        <p:txBody>
          <a:bodyPr wrap="square" lIns="73152" rIns="73152" tIns="73152" bIns="73152">
            <a:spAutoFit/>
          </a:bodyPr>
          <a:lstStyle/>
          <a:p>
            <a:pPr algn="ctr">
              <a:defRPr sz="1200" b="0">
                <a:solidFill>
                  <a:srgbClr val="203338"/>
                </a:solidFill>
                <a:latin typeface="Aptos"/>
              </a:defRPr>
            </a:pPr>
            <a:r>
              <a:t>Different claims; policy/time may resolve</a:t>
            </a:r>
          </a:p>
        </p:txBody>
      </p:sp>
      <p:sp>
        <p:nvSpPr>
          <p:cNvPr id="22" name="Rounded Rectangle 21"/>
          <p:cNvSpPr/>
          <p:nvPr/>
        </p:nvSpPr>
        <p:spPr>
          <a:xfrm>
            <a:off x="6574536" y="3337560"/>
            <a:ext cx="2340864" cy="1243584"/>
          </a:xfrm>
          <a:prstGeom prst="roundRect">
            <a:avLst/>
          </a:prstGeom>
          <a:solidFill>
            <a:srgbClr val="F7F4EC"/>
          </a:solidFill>
          <a:ln>
            <a:solidFill>
              <a:srgbClr val="F7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65976" y="3493008"/>
            <a:ext cx="2157984" cy="950976"/>
          </a:xfrm>
          <a:prstGeom prst="rect">
            <a:avLst/>
          </a:prstGeom>
          <a:noFill/>
        </p:spPr>
        <p:txBody>
          <a:bodyPr wrap="square" lIns="73152" rIns="73152" tIns="73152" bIns="73152">
            <a:spAutoFit/>
          </a:bodyPr>
          <a:lstStyle/>
          <a:p>
            <a:pPr algn="ctr">
              <a:defRPr sz="1100" b="0">
                <a:solidFill>
                  <a:srgbClr val="64777A"/>
                </a:solidFill>
                <a:latin typeface="Aptos"/>
              </a:defRPr>
            </a:pPr>
            <a:r>
              <a:t>API v1 active / migrating to API v2</a:t>
            </a:r>
          </a:p>
        </p:txBody>
      </p:sp>
      <p:sp>
        <p:nvSpPr>
          <p:cNvPr id="24" name="Rounded Rectangle 23"/>
          <p:cNvSpPr/>
          <p:nvPr/>
        </p:nvSpPr>
        <p:spPr>
          <a:xfrm>
            <a:off x="9317736" y="1600200"/>
            <a:ext cx="2670048" cy="34290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317736" y="1600200"/>
            <a:ext cx="2670048" cy="164592"/>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73184" y="1901952"/>
            <a:ext cx="2359152" cy="411480"/>
          </a:xfrm>
          <a:prstGeom prst="rect">
            <a:avLst/>
          </a:prstGeom>
          <a:noFill/>
        </p:spPr>
        <p:txBody>
          <a:bodyPr wrap="square" lIns="73152" rIns="73152" tIns="73152" bIns="73152">
            <a:spAutoFit/>
          </a:bodyPr>
          <a:lstStyle/>
          <a:p>
            <a:pPr algn="ctr">
              <a:defRPr sz="1800" b="1">
                <a:solidFill>
                  <a:srgbClr val="173B43"/>
                </a:solidFill>
                <a:latin typeface="Aptos"/>
              </a:defRPr>
            </a:pPr>
            <a:r>
              <a:t>Hard conflict</a:t>
            </a:r>
          </a:p>
        </p:txBody>
      </p:sp>
      <p:sp>
        <p:nvSpPr>
          <p:cNvPr id="27" name="TextBox 26"/>
          <p:cNvSpPr txBox="1"/>
          <p:nvPr/>
        </p:nvSpPr>
        <p:spPr>
          <a:xfrm>
            <a:off x="9500616" y="2487168"/>
            <a:ext cx="2313432" cy="658368"/>
          </a:xfrm>
          <a:prstGeom prst="rect">
            <a:avLst/>
          </a:prstGeom>
          <a:noFill/>
        </p:spPr>
        <p:txBody>
          <a:bodyPr wrap="square" lIns="73152" rIns="73152" tIns="73152" bIns="73152">
            <a:spAutoFit/>
          </a:bodyPr>
          <a:lstStyle/>
          <a:p>
            <a:pPr algn="ctr">
              <a:defRPr sz="1200" b="0">
                <a:solidFill>
                  <a:srgbClr val="203338"/>
                </a:solidFill>
                <a:latin typeface="Aptos"/>
              </a:defRPr>
            </a:pPr>
            <a:r>
              <a:t>Mutually exclusive for same key/time</a:t>
            </a:r>
          </a:p>
        </p:txBody>
      </p:sp>
      <p:sp>
        <p:nvSpPr>
          <p:cNvPr id="28" name="Rounded Rectangle 27"/>
          <p:cNvSpPr/>
          <p:nvPr/>
        </p:nvSpPr>
        <p:spPr>
          <a:xfrm>
            <a:off x="9482328" y="3337560"/>
            <a:ext cx="2340864" cy="1243584"/>
          </a:xfrm>
          <a:prstGeom prst="roundRect">
            <a:avLst/>
          </a:prstGeom>
          <a:solidFill>
            <a:srgbClr val="F7F4EC"/>
          </a:solidFill>
          <a:ln>
            <a:solidFill>
              <a:srgbClr val="F7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73768" y="3493008"/>
            <a:ext cx="2157984" cy="950976"/>
          </a:xfrm>
          <a:prstGeom prst="rect">
            <a:avLst/>
          </a:prstGeom>
          <a:noFill/>
        </p:spPr>
        <p:txBody>
          <a:bodyPr wrap="square" lIns="73152" rIns="73152" tIns="73152" bIns="73152">
            <a:spAutoFit/>
          </a:bodyPr>
          <a:lstStyle/>
          <a:p>
            <a:pPr algn="ctr">
              <a:defRPr sz="1100" b="0">
                <a:solidFill>
                  <a:srgbClr val="64777A"/>
                </a:solidFill>
                <a:latin typeface="Aptos"/>
              </a:defRPr>
            </a:pPr>
            <a:r>
              <a:t>database=PostgreSQL / database=DynamoDB</a:t>
            </a:r>
          </a:p>
        </p:txBody>
      </p:sp>
      <p:pic>
        <p:nvPicPr>
          <p:cNvPr id="30" name="Picture 29" descr="fox.png"/>
          <p:cNvPicPr>
            <a:picLocks noChangeAspect="1"/>
          </p:cNvPicPr>
          <p:nvPr/>
        </p:nvPicPr>
        <p:blipFill>
          <a:blip r:embed="rId2"/>
          <a:stretch>
            <a:fillRect/>
          </a:stretch>
        </p:blipFill>
        <p:spPr>
          <a:xfrm>
            <a:off x="9692640" y="5166360"/>
            <a:ext cx="685800" cy="685800"/>
          </a:xfrm>
          <a:prstGeom prst="rect">
            <a:avLst/>
          </a:prstGeom>
        </p:spPr>
      </p:pic>
      <p:sp>
        <p:nvSpPr>
          <p:cNvPr id="31" name="TextBox 30"/>
          <p:cNvSpPr txBox="1"/>
          <p:nvPr/>
        </p:nvSpPr>
        <p:spPr>
          <a:xfrm>
            <a:off x="8503920" y="5806440"/>
            <a:ext cx="2834640" cy="320040"/>
          </a:xfrm>
          <a:prstGeom prst="rect">
            <a:avLst/>
          </a:prstGeom>
          <a:noFill/>
        </p:spPr>
        <p:txBody>
          <a:bodyPr wrap="square" lIns="73152" rIns="73152" tIns="73152" bIns="73152">
            <a:spAutoFit/>
          </a:bodyPr>
          <a:lstStyle/>
          <a:p>
            <a:pPr algn="ctr">
              <a:defRPr sz="800" b="1">
                <a:solidFill>
                  <a:srgbClr val="64777A"/>
                </a:solidFill>
                <a:latin typeface="Aptos"/>
              </a:defRPr>
            </a:pPr>
            <a:r>
              <a:t>FOX ANALOGY: notice subtle differences</a:t>
            </a:r>
          </a:p>
        </p:txBody>
      </p:sp>
      <p:sp>
        <p:nvSpPr>
          <p:cNvPr id="32" name="TextBox 31"/>
          <p:cNvSpPr txBox="1"/>
          <p:nvPr/>
        </p:nvSpPr>
        <p:spPr>
          <a:xfrm>
            <a:off x="777240" y="5349240"/>
            <a:ext cx="8046720" cy="731520"/>
          </a:xfrm>
          <a:prstGeom prst="rect">
            <a:avLst/>
          </a:prstGeom>
          <a:noFill/>
        </p:spPr>
        <p:txBody>
          <a:bodyPr wrap="square" lIns="73152" rIns="73152" tIns="73152" bIns="73152">
            <a:spAutoFit/>
          </a:bodyPr>
          <a:lstStyle/>
          <a:p>
            <a:pPr algn="ctr">
              <a:defRPr sz="1900" b="1">
                <a:solidFill>
                  <a:srgbClr val="173B43"/>
                </a:solidFill>
                <a:latin typeface="Aptos"/>
              </a:defRPr>
            </a:pPr>
            <a:r>
              <a:t>Label the relationship first. Choose system action second.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AVA policy: Agree, Verify, or preserve as Unresolved</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3794760" y="1234440"/>
            <a:ext cx="4526280" cy="640080"/>
          </a:xfrm>
          <a:prstGeom prst="roundRect">
            <a:avLst/>
          </a:prstGeom>
          <a:solidFill>
            <a:srgbClr val="173B43"/>
          </a:solidFill>
          <a:ln>
            <a:solidFill>
              <a:srgbClr val="173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380744"/>
            <a:ext cx="4251960" cy="310896"/>
          </a:xfrm>
          <a:prstGeom prst="rect">
            <a:avLst/>
          </a:prstGeom>
          <a:noFill/>
        </p:spPr>
        <p:txBody>
          <a:bodyPr wrap="square" lIns="73152" rIns="73152" tIns="73152" bIns="73152">
            <a:spAutoFit/>
          </a:bodyPr>
          <a:lstStyle/>
          <a:p>
            <a:pPr algn="ctr">
              <a:defRPr sz="1600" b="1">
                <a:solidFill>
                  <a:srgbClr val="FFFFFF"/>
                </a:solidFill>
                <a:latin typeface="Aptos"/>
              </a:defRPr>
            </a:pPr>
            <a:r>
              <a:t>SAME-KEY ASSERTION PAIR</a:t>
            </a:r>
          </a:p>
        </p:txBody>
      </p:sp>
      <p:cxnSp>
        <p:nvCxnSpPr>
          <p:cNvPr id="8" name="Connector 7"/>
          <p:cNvCxnSpPr/>
          <p:nvPr/>
        </p:nvCxnSpPr>
        <p:spPr>
          <a:xfrm>
            <a:off x="6053328" y="1883664"/>
            <a:ext cx="0" cy="402336"/>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794760" y="2304288"/>
            <a:ext cx="4526280" cy="640080"/>
          </a:xfrm>
          <a:prstGeom prst="round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13632" y="2441448"/>
            <a:ext cx="4297680" cy="320040"/>
          </a:xfrm>
          <a:prstGeom prst="rect">
            <a:avLst/>
          </a:prstGeom>
          <a:noFill/>
        </p:spPr>
        <p:txBody>
          <a:bodyPr wrap="square" lIns="73152" rIns="73152" tIns="73152" bIns="73152">
            <a:spAutoFit/>
          </a:bodyPr>
          <a:lstStyle/>
          <a:p>
            <a:pPr algn="ctr">
              <a:defRPr sz="1600" b="1">
                <a:solidFill>
                  <a:srgbClr val="FFFFFF"/>
                </a:solidFill>
                <a:latin typeface="Aptos"/>
              </a:defRPr>
            </a:pPr>
            <a:r>
              <a:t>RELATION CLASSIFIER</a:t>
            </a:r>
          </a:p>
        </p:txBody>
      </p:sp>
      <p:cxnSp>
        <p:nvCxnSpPr>
          <p:cNvPr id="11" name="Connector 10"/>
          <p:cNvCxnSpPr/>
          <p:nvPr/>
        </p:nvCxnSpPr>
        <p:spPr>
          <a:xfrm flipH="1">
            <a:off x="2377440" y="2944368"/>
            <a:ext cx="3675888" cy="466344"/>
          </a:xfrm>
          <a:prstGeom prst="line">
            <a:avLst/>
          </a:prstGeom>
          <a:ln w="25400">
            <a:solidFill>
              <a:srgbClr val="9CB79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005840" y="3419856"/>
            <a:ext cx="2743200" cy="612648"/>
          </a:xfrm>
          <a:prstGeom prst="roundRect">
            <a:avLst/>
          </a:prstGeom>
          <a:solidFill>
            <a:srgbClr val="9CB79B"/>
          </a:solidFill>
          <a:ln>
            <a:solidFill>
              <a:srgbClr val="9CB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3529584"/>
            <a:ext cx="2523744" cy="320040"/>
          </a:xfrm>
          <a:prstGeom prst="rect">
            <a:avLst/>
          </a:prstGeom>
          <a:noFill/>
        </p:spPr>
        <p:txBody>
          <a:bodyPr wrap="square" lIns="73152" rIns="73152" tIns="73152" bIns="73152">
            <a:spAutoFit/>
          </a:bodyPr>
          <a:lstStyle/>
          <a:p>
            <a:pPr algn="ctr">
              <a:defRPr sz="1600" b="1">
                <a:solidFill>
                  <a:srgbClr val="FFFFFF"/>
                </a:solidFill>
                <a:latin typeface="Aptos"/>
              </a:defRPr>
            </a:pPr>
            <a:r>
              <a:t>AGREE</a:t>
            </a:r>
          </a:p>
        </p:txBody>
      </p:sp>
      <p:sp>
        <p:nvSpPr>
          <p:cNvPr id="14" name="TextBox 13"/>
          <p:cNvSpPr txBox="1"/>
          <p:nvPr/>
        </p:nvSpPr>
        <p:spPr>
          <a:xfrm>
            <a:off x="1078992" y="4114800"/>
            <a:ext cx="2596896" cy="621792"/>
          </a:xfrm>
          <a:prstGeom prst="rect">
            <a:avLst/>
          </a:prstGeom>
          <a:noFill/>
        </p:spPr>
        <p:txBody>
          <a:bodyPr wrap="square" lIns="73152" rIns="73152" tIns="73152" bIns="73152">
            <a:spAutoFit/>
          </a:bodyPr>
          <a:lstStyle/>
          <a:p>
            <a:pPr algn="ctr">
              <a:defRPr sz="1200" b="0">
                <a:solidFill>
                  <a:srgbClr val="203338"/>
                </a:solidFill>
                <a:latin typeface="Aptos"/>
              </a:defRPr>
            </a:pPr>
            <a:r>
              <a:t>Direct safe reconciliation</a:t>
            </a:r>
            <a:br/>
            <a:r>
              <a:t>→ direct_agree</a:t>
            </a:r>
          </a:p>
        </p:txBody>
      </p:sp>
      <p:cxnSp>
        <p:nvCxnSpPr>
          <p:cNvPr id="15" name="Connector 14"/>
          <p:cNvCxnSpPr/>
          <p:nvPr/>
        </p:nvCxnSpPr>
        <p:spPr>
          <a:xfrm flipH="1">
            <a:off x="5989320" y="2944368"/>
            <a:ext cx="64008" cy="466344"/>
          </a:xfrm>
          <a:prstGeom prst="line">
            <a:avLst/>
          </a:prstGeom>
          <a:ln w="25400">
            <a:solidFill>
              <a:srgbClr val="E8B65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617720" y="3419856"/>
            <a:ext cx="2743200" cy="612648"/>
          </a:xfrm>
          <a:prstGeom prst="round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27448" y="3529584"/>
            <a:ext cx="2523744" cy="320040"/>
          </a:xfrm>
          <a:prstGeom prst="rect">
            <a:avLst/>
          </a:prstGeom>
          <a:noFill/>
        </p:spPr>
        <p:txBody>
          <a:bodyPr wrap="square" lIns="73152" rIns="73152" tIns="73152" bIns="73152">
            <a:spAutoFit/>
          </a:bodyPr>
          <a:lstStyle/>
          <a:p>
            <a:pPr algn="ctr">
              <a:defRPr sz="1600" b="1">
                <a:solidFill>
                  <a:srgbClr val="FFFFFF"/>
                </a:solidFill>
                <a:latin typeface="Aptos"/>
              </a:defRPr>
            </a:pPr>
            <a:r>
              <a:t>VERIFY</a:t>
            </a:r>
          </a:p>
        </p:txBody>
      </p:sp>
      <p:sp>
        <p:nvSpPr>
          <p:cNvPr id="18" name="TextBox 17"/>
          <p:cNvSpPr txBox="1"/>
          <p:nvPr/>
        </p:nvSpPr>
        <p:spPr>
          <a:xfrm>
            <a:off x="4690872" y="4114800"/>
            <a:ext cx="2596896" cy="621792"/>
          </a:xfrm>
          <a:prstGeom prst="rect">
            <a:avLst/>
          </a:prstGeom>
          <a:noFill/>
        </p:spPr>
        <p:txBody>
          <a:bodyPr wrap="square" lIns="73152" rIns="73152" tIns="73152" bIns="73152">
            <a:spAutoFit/>
          </a:bodyPr>
          <a:lstStyle/>
          <a:p>
            <a:pPr algn="ctr">
              <a:defRPr sz="1200" b="0">
                <a:solidFill>
                  <a:srgbClr val="203338"/>
                </a:solidFill>
                <a:latin typeface="Aptos"/>
              </a:defRPr>
            </a:pPr>
            <a:r>
              <a:t>Check provenance, time,</a:t>
            </a:r>
            <a:br/>
            <a:r>
              <a:t>causal evidence or rule</a:t>
            </a:r>
          </a:p>
        </p:txBody>
      </p:sp>
      <p:cxnSp>
        <p:nvCxnSpPr>
          <p:cNvPr id="19" name="Connector 18"/>
          <p:cNvCxnSpPr/>
          <p:nvPr/>
        </p:nvCxnSpPr>
        <p:spPr>
          <a:xfrm>
            <a:off x="6053328" y="2944368"/>
            <a:ext cx="3547872" cy="466344"/>
          </a:xfrm>
          <a:prstGeom prst="line">
            <a:avLst/>
          </a:prstGeom>
          <a:ln w="25400">
            <a:solidFill>
              <a:srgbClr val="D9786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229600" y="3419856"/>
            <a:ext cx="2743200" cy="612648"/>
          </a:xfrm>
          <a:prstGeom prst="round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3529584"/>
            <a:ext cx="2523744" cy="320040"/>
          </a:xfrm>
          <a:prstGeom prst="rect">
            <a:avLst/>
          </a:prstGeom>
          <a:noFill/>
        </p:spPr>
        <p:txBody>
          <a:bodyPr wrap="square" lIns="73152" rIns="73152" tIns="73152" bIns="73152">
            <a:spAutoFit/>
          </a:bodyPr>
          <a:lstStyle/>
          <a:p>
            <a:pPr algn="ctr">
              <a:defRPr sz="1600" b="1">
                <a:solidFill>
                  <a:srgbClr val="FFFFFF"/>
                </a:solidFill>
                <a:latin typeface="Aptos"/>
              </a:defRPr>
            </a:pPr>
            <a:r>
              <a:t>ABSTAIN</a:t>
            </a:r>
          </a:p>
        </p:txBody>
      </p:sp>
      <p:sp>
        <p:nvSpPr>
          <p:cNvPr id="22" name="TextBox 21"/>
          <p:cNvSpPr txBox="1"/>
          <p:nvPr/>
        </p:nvSpPr>
        <p:spPr>
          <a:xfrm>
            <a:off x="8302752" y="4114800"/>
            <a:ext cx="2596896" cy="621792"/>
          </a:xfrm>
          <a:prstGeom prst="rect">
            <a:avLst/>
          </a:prstGeom>
          <a:noFill/>
        </p:spPr>
        <p:txBody>
          <a:bodyPr wrap="square" lIns="73152" rIns="73152" tIns="73152" bIns="73152">
            <a:spAutoFit/>
          </a:bodyPr>
          <a:lstStyle/>
          <a:p>
            <a:pPr algn="ctr">
              <a:defRPr sz="1200" b="0">
                <a:solidFill>
                  <a:srgbClr val="203338"/>
                </a:solidFill>
                <a:latin typeface="Aptos"/>
              </a:defRPr>
            </a:pPr>
            <a:r>
              <a:t>Preserve claims</a:t>
            </a:r>
            <a:br/>
            <a:r>
              <a:t>→ UNRESOLVED</a:t>
            </a:r>
          </a:p>
        </p:txBody>
      </p:sp>
      <p:cxnSp>
        <p:nvCxnSpPr>
          <p:cNvPr id="23" name="Connector 22"/>
          <p:cNvCxnSpPr/>
          <p:nvPr/>
        </p:nvCxnSpPr>
        <p:spPr>
          <a:xfrm flipH="1">
            <a:off x="5394960" y="4736592"/>
            <a:ext cx="594360" cy="493776"/>
          </a:xfrm>
          <a:prstGeom prst="line">
            <a:avLst/>
          </a:prstGeom>
          <a:ln w="25400">
            <a:solidFill>
              <a:srgbClr val="E8B65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89320" y="4736592"/>
            <a:ext cx="640080" cy="493776"/>
          </a:xfrm>
          <a:prstGeom prst="line">
            <a:avLst/>
          </a:prstGeom>
          <a:ln w="25400">
            <a:solidFill>
              <a:srgbClr val="E8B65A"/>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389120" y="5230368"/>
            <a:ext cx="2057400" cy="603504"/>
          </a:xfrm>
          <a:prstGeom prst="round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5340096"/>
            <a:ext cx="1856231" cy="310896"/>
          </a:xfrm>
          <a:prstGeom prst="rect">
            <a:avLst/>
          </a:prstGeom>
          <a:noFill/>
        </p:spPr>
        <p:txBody>
          <a:bodyPr wrap="square" lIns="73152" rIns="73152" tIns="73152" bIns="73152">
            <a:spAutoFit/>
          </a:bodyPr>
          <a:lstStyle/>
          <a:p>
            <a:pPr algn="ctr">
              <a:defRPr sz="1100" b="1">
                <a:solidFill>
                  <a:srgbClr val="FFFFFF"/>
                </a:solidFill>
                <a:latin typeface="Aptos"/>
              </a:defRPr>
            </a:pPr>
            <a:r>
              <a:t>Evidence YES → agree</a:t>
            </a:r>
          </a:p>
        </p:txBody>
      </p:sp>
      <p:sp>
        <p:nvSpPr>
          <p:cNvPr id="27" name="Rounded Rectangle 26"/>
          <p:cNvSpPr/>
          <p:nvPr/>
        </p:nvSpPr>
        <p:spPr>
          <a:xfrm>
            <a:off x="6583680" y="5230368"/>
            <a:ext cx="2057400" cy="603504"/>
          </a:xfrm>
          <a:prstGeom prst="round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5340096"/>
            <a:ext cx="1883664" cy="310896"/>
          </a:xfrm>
          <a:prstGeom prst="rect">
            <a:avLst/>
          </a:prstGeom>
          <a:noFill/>
        </p:spPr>
        <p:txBody>
          <a:bodyPr wrap="square" lIns="73152" rIns="73152" tIns="73152" bIns="73152">
            <a:spAutoFit/>
          </a:bodyPr>
          <a:lstStyle/>
          <a:p>
            <a:pPr algn="ctr">
              <a:defRPr sz="1000" b="1">
                <a:solidFill>
                  <a:srgbClr val="FFFFFF"/>
                </a:solidFill>
                <a:latin typeface="Aptos"/>
              </a:defRPr>
            </a:pPr>
            <a:r>
              <a:t>Evidence NO → abstain</a:t>
            </a:r>
          </a:p>
        </p:txBody>
      </p:sp>
      <p:pic>
        <p:nvPicPr>
          <p:cNvPr id="29" name="Picture 28" descr="owl.png"/>
          <p:cNvPicPr>
            <a:picLocks noChangeAspect="1"/>
          </p:cNvPicPr>
          <p:nvPr/>
        </p:nvPicPr>
        <p:blipFill>
          <a:blip r:embed="rId2"/>
          <a:stretch>
            <a:fillRect/>
          </a:stretch>
        </p:blipFill>
        <p:spPr>
          <a:xfrm>
            <a:off x="9875520" y="4892040"/>
            <a:ext cx="731520" cy="731520"/>
          </a:xfrm>
          <a:prstGeom prst="rect">
            <a:avLst/>
          </a:prstGeom>
        </p:spPr>
      </p:pic>
      <p:sp>
        <p:nvSpPr>
          <p:cNvPr id="30" name="TextBox 29"/>
          <p:cNvSpPr txBox="1"/>
          <p:nvPr/>
        </p:nvSpPr>
        <p:spPr>
          <a:xfrm>
            <a:off x="9235440" y="5797296"/>
            <a:ext cx="2057400" cy="256032"/>
          </a:xfrm>
          <a:prstGeom prst="rect">
            <a:avLst/>
          </a:prstGeom>
          <a:noFill/>
        </p:spPr>
        <p:txBody>
          <a:bodyPr wrap="square" lIns="73152" rIns="73152" tIns="73152" bIns="73152">
            <a:spAutoFit/>
          </a:bodyPr>
          <a:lstStyle/>
          <a:p>
            <a:pPr algn="ctr">
              <a:defRPr sz="800" b="1">
                <a:solidFill>
                  <a:srgbClr val="64777A"/>
                </a:solidFill>
                <a:latin typeface="Aptos"/>
              </a:defRPr>
            </a:pPr>
            <a:r>
              <a:t>OWL ANALOGY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Seven arms — two different layers to compare</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685800" y="1371600"/>
            <a:ext cx="5120640" cy="4206240"/>
          </a:xfrm>
          <a:prstGeom prst="roundRect">
            <a:avLst/>
          </a:prstGeom>
          <a:solidFill>
            <a:srgbClr val="E7F0EB"/>
          </a:solidFill>
          <a:ln>
            <a:solidFill>
              <a:srgbClr val="E7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00200"/>
            <a:ext cx="4572000" cy="365760"/>
          </a:xfrm>
          <a:prstGeom prst="rect">
            <a:avLst/>
          </a:prstGeom>
          <a:noFill/>
        </p:spPr>
        <p:txBody>
          <a:bodyPr wrap="square" lIns="73152" rIns="73152" tIns="73152" bIns="73152">
            <a:spAutoFit/>
          </a:bodyPr>
          <a:lstStyle/>
          <a:p>
            <a:pPr algn="ctr">
              <a:defRPr sz="1500" b="1">
                <a:solidFill>
                  <a:srgbClr val="2F7775"/>
                </a:solidFill>
                <a:latin typeface="Aptos"/>
              </a:defRPr>
            </a:pPr>
            <a:r>
              <a:t>RELATION / CLASSIFICATION SIGNALS</a:t>
            </a:r>
          </a:p>
        </p:txBody>
      </p:sp>
      <p:sp>
        <p:nvSpPr>
          <p:cNvPr id="8" name="TextBox 7"/>
          <p:cNvSpPr txBox="1"/>
          <p:nvPr/>
        </p:nvSpPr>
        <p:spPr>
          <a:xfrm>
            <a:off x="1005840" y="2121408"/>
            <a:ext cx="1417320" cy="292608"/>
          </a:xfrm>
          <a:prstGeom prst="rect">
            <a:avLst/>
          </a:prstGeom>
          <a:noFill/>
        </p:spPr>
        <p:txBody>
          <a:bodyPr wrap="square" lIns="73152" rIns="73152" tIns="73152" bIns="73152">
            <a:spAutoFit/>
          </a:bodyPr>
          <a:lstStyle/>
          <a:p>
            <a:pPr algn="l">
              <a:defRPr sz="1200" b="1">
                <a:solidFill>
                  <a:srgbClr val="173B43"/>
                </a:solidFill>
                <a:latin typeface="Aptos"/>
              </a:defRPr>
            </a:pPr>
            <a:r>
              <a:t>B2 Embedding</a:t>
            </a:r>
          </a:p>
        </p:txBody>
      </p:sp>
      <p:sp>
        <p:nvSpPr>
          <p:cNvPr id="9" name="TextBox 8"/>
          <p:cNvSpPr txBox="1"/>
          <p:nvPr/>
        </p:nvSpPr>
        <p:spPr>
          <a:xfrm>
            <a:off x="2560320" y="2121408"/>
            <a:ext cx="2834640" cy="292608"/>
          </a:xfrm>
          <a:prstGeom prst="rect">
            <a:avLst/>
          </a:prstGeom>
          <a:noFill/>
        </p:spPr>
        <p:txBody>
          <a:bodyPr wrap="square" lIns="73152" rIns="73152" tIns="73152" bIns="73152">
            <a:spAutoFit/>
          </a:bodyPr>
          <a:lstStyle/>
          <a:p>
            <a:pPr algn="l">
              <a:defRPr sz="1100" b="0">
                <a:solidFill>
                  <a:srgbClr val="203338"/>
                </a:solidFill>
                <a:latin typeface="Aptos"/>
              </a:defRPr>
            </a:pPr>
            <a:r>
              <a:t>similarity</a:t>
            </a:r>
          </a:p>
        </p:txBody>
      </p:sp>
      <p:sp>
        <p:nvSpPr>
          <p:cNvPr id="10" name="TextBox 9"/>
          <p:cNvSpPr txBox="1"/>
          <p:nvPr/>
        </p:nvSpPr>
        <p:spPr>
          <a:xfrm>
            <a:off x="1005840" y="2688336"/>
            <a:ext cx="1417320" cy="292608"/>
          </a:xfrm>
          <a:prstGeom prst="rect">
            <a:avLst/>
          </a:prstGeom>
          <a:noFill/>
        </p:spPr>
        <p:txBody>
          <a:bodyPr wrap="square" lIns="73152" rIns="73152" tIns="73152" bIns="73152">
            <a:spAutoFit/>
          </a:bodyPr>
          <a:lstStyle/>
          <a:p>
            <a:pPr algn="l">
              <a:defRPr sz="1200" b="1">
                <a:solidFill>
                  <a:srgbClr val="173B43"/>
                </a:solidFill>
                <a:latin typeface="Aptos"/>
              </a:defRPr>
            </a:pPr>
            <a:r>
              <a:t>B3 NLI</a:t>
            </a:r>
          </a:p>
        </p:txBody>
      </p:sp>
      <p:sp>
        <p:nvSpPr>
          <p:cNvPr id="11" name="TextBox 10"/>
          <p:cNvSpPr txBox="1"/>
          <p:nvPr/>
        </p:nvSpPr>
        <p:spPr>
          <a:xfrm>
            <a:off x="2560320" y="2688336"/>
            <a:ext cx="2834640" cy="292608"/>
          </a:xfrm>
          <a:prstGeom prst="rect">
            <a:avLst/>
          </a:prstGeom>
          <a:noFill/>
        </p:spPr>
        <p:txBody>
          <a:bodyPr wrap="square" lIns="73152" rIns="73152" tIns="73152" bIns="73152">
            <a:spAutoFit/>
          </a:bodyPr>
          <a:lstStyle/>
          <a:p>
            <a:pPr algn="l">
              <a:defRPr sz="1100" b="0">
                <a:solidFill>
                  <a:srgbClr val="203338"/>
                </a:solidFill>
                <a:latin typeface="Aptos"/>
              </a:defRPr>
            </a:pPr>
            <a:r>
              <a:t>entail / contradict / neutral</a:t>
            </a:r>
          </a:p>
        </p:txBody>
      </p:sp>
      <p:sp>
        <p:nvSpPr>
          <p:cNvPr id="12" name="TextBox 11"/>
          <p:cNvSpPr txBox="1"/>
          <p:nvPr/>
        </p:nvSpPr>
        <p:spPr>
          <a:xfrm>
            <a:off x="1005840" y="3255263"/>
            <a:ext cx="1417320" cy="292608"/>
          </a:xfrm>
          <a:prstGeom prst="rect">
            <a:avLst/>
          </a:prstGeom>
          <a:noFill/>
        </p:spPr>
        <p:txBody>
          <a:bodyPr wrap="square" lIns="73152" rIns="73152" tIns="73152" bIns="73152">
            <a:spAutoFit/>
          </a:bodyPr>
          <a:lstStyle/>
          <a:p>
            <a:pPr algn="l">
              <a:defRPr sz="1200" b="1">
                <a:solidFill>
                  <a:srgbClr val="173B43"/>
                </a:solidFill>
                <a:latin typeface="Aptos"/>
              </a:defRPr>
            </a:pPr>
            <a:r>
              <a:t>B4 Hybrid SCS</a:t>
            </a:r>
          </a:p>
        </p:txBody>
      </p:sp>
      <p:sp>
        <p:nvSpPr>
          <p:cNvPr id="13" name="TextBox 12"/>
          <p:cNvSpPr txBox="1"/>
          <p:nvPr/>
        </p:nvSpPr>
        <p:spPr>
          <a:xfrm>
            <a:off x="2560320" y="3255263"/>
            <a:ext cx="2834640" cy="292608"/>
          </a:xfrm>
          <a:prstGeom prst="rect">
            <a:avLst/>
          </a:prstGeom>
          <a:noFill/>
        </p:spPr>
        <p:txBody>
          <a:bodyPr wrap="square" lIns="73152" rIns="73152" tIns="73152" bIns="73152">
            <a:spAutoFit/>
          </a:bodyPr>
          <a:lstStyle/>
          <a:p>
            <a:pPr algn="l">
              <a:defRPr sz="1100" b="0">
                <a:solidFill>
                  <a:srgbClr val="203338"/>
                </a:solidFill>
                <a:latin typeface="Aptos"/>
              </a:defRPr>
            </a:pPr>
            <a:r>
              <a:t>weighted semantic signals</a:t>
            </a:r>
          </a:p>
        </p:txBody>
      </p:sp>
      <p:sp>
        <p:nvSpPr>
          <p:cNvPr id="14" name="TextBox 13"/>
          <p:cNvSpPr txBox="1"/>
          <p:nvPr/>
        </p:nvSpPr>
        <p:spPr>
          <a:xfrm>
            <a:off x="1005840" y="3822191"/>
            <a:ext cx="1417320" cy="292608"/>
          </a:xfrm>
          <a:prstGeom prst="rect">
            <a:avLst/>
          </a:prstGeom>
          <a:noFill/>
        </p:spPr>
        <p:txBody>
          <a:bodyPr wrap="square" lIns="73152" rIns="73152" tIns="73152" bIns="73152">
            <a:spAutoFit/>
          </a:bodyPr>
          <a:lstStyle/>
          <a:p>
            <a:pPr algn="l">
              <a:defRPr sz="1200" b="1">
                <a:solidFill>
                  <a:srgbClr val="173B43"/>
                </a:solidFill>
                <a:latin typeface="Aptos"/>
              </a:defRPr>
            </a:pPr>
            <a:r>
              <a:t>B5 LLM Judge</a:t>
            </a:r>
          </a:p>
        </p:txBody>
      </p:sp>
      <p:sp>
        <p:nvSpPr>
          <p:cNvPr id="15" name="TextBox 14"/>
          <p:cNvSpPr txBox="1"/>
          <p:nvPr/>
        </p:nvSpPr>
        <p:spPr>
          <a:xfrm>
            <a:off x="2560320" y="3822191"/>
            <a:ext cx="2834640" cy="292608"/>
          </a:xfrm>
          <a:prstGeom prst="rect">
            <a:avLst/>
          </a:prstGeom>
          <a:noFill/>
        </p:spPr>
        <p:txBody>
          <a:bodyPr wrap="square" lIns="73152" rIns="73152" tIns="73152" bIns="73152">
            <a:spAutoFit/>
          </a:bodyPr>
          <a:lstStyle/>
          <a:p>
            <a:pPr algn="l">
              <a:defRPr sz="1100" b="0">
                <a:solidFill>
                  <a:srgbClr val="203338"/>
                </a:solidFill>
                <a:latin typeface="Aptos"/>
              </a:defRPr>
            </a:pPr>
            <a:r>
              <a:t>fixed prompt/model; repeated trials</a:t>
            </a:r>
          </a:p>
        </p:txBody>
      </p:sp>
      <p:sp>
        <p:nvSpPr>
          <p:cNvPr id="16" name="TextBox 15"/>
          <p:cNvSpPr txBox="1"/>
          <p:nvPr/>
        </p:nvSpPr>
        <p:spPr>
          <a:xfrm>
            <a:off x="1005840" y="4389120"/>
            <a:ext cx="1417320" cy="292608"/>
          </a:xfrm>
          <a:prstGeom prst="rect">
            <a:avLst/>
          </a:prstGeom>
          <a:noFill/>
        </p:spPr>
        <p:txBody>
          <a:bodyPr wrap="square" lIns="73152" rIns="73152" tIns="73152" bIns="73152">
            <a:spAutoFit/>
          </a:bodyPr>
          <a:lstStyle/>
          <a:p>
            <a:pPr algn="l">
              <a:defRPr sz="1200" b="1">
                <a:solidFill>
                  <a:srgbClr val="173B43"/>
                </a:solidFill>
                <a:latin typeface="Aptos"/>
              </a:defRPr>
            </a:pPr>
            <a:r>
              <a:t>B6 Jev</a:t>
            </a:r>
          </a:p>
        </p:txBody>
      </p:sp>
      <p:sp>
        <p:nvSpPr>
          <p:cNvPr id="17" name="TextBox 16"/>
          <p:cNvSpPr txBox="1"/>
          <p:nvPr/>
        </p:nvSpPr>
        <p:spPr>
          <a:xfrm>
            <a:off x="2560320" y="4389120"/>
            <a:ext cx="2834640" cy="292608"/>
          </a:xfrm>
          <a:prstGeom prst="rect">
            <a:avLst/>
          </a:prstGeom>
          <a:noFill/>
        </p:spPr>
        <p:txBody>
          <a:bodyPr wrap="square" lIns="73152" rIns="73152" tIns="73152" bIns="73152">
            <a:spAutoFit/>
          </a:bodyPr>
          <a:lstStyle/>
          <a:p>
            <a:pPr algn="l">
              <a:defRPr sz="1100" b="0">
                <a:solidFill>
                  <a:srgbClr val="203338"/>
                </a:solidFill>
                <a:latin typeface="Aptos"/>
              </a:defRPr>
            </a:pPr>
            <a:r>
              <a:t>structured System-One questions</a:t>
            </a:r>
          </a:p>
        </p:txBody>
      </p:sp>
      <p:sp>
        <p:nvSpPr>
          <p:cNvPr id="18" name="Rounded Rectangle 17"/>
          <p:cNvSpPr/>
          <p:nvPr/>
        </p:nvSpPr>
        <p:spPr>
          <a:xfrm>
            <a:off x="6263640" y="1371600"/>
            <a:ext cx="5212080" cy="4206240"/>
          </a:xfrm>
          <a:prstGeom prst="roundRect">
            <a:avLst/>
          </a:prstGeom>
          <a:solidFill>
            <a:srgbClr val="F7E9E2"/>
          </a:solidFill>
          <a:ln>
            <a:solidFill>
              <a:srgbClr val="F7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1600200"/>
            <a:ext cx="4572000" cy="365760"/>
          </a:xfrm>
          <a:prstGeom prst="rect">
            <a:avLst/>
          </a:prstGeom>
          <a:noFill/>
        </p:spPr>
        <p:txBody>
          <a:bodyPr wrap="square" lIns="73152" rIns="73152" tIns="73152" bIns="73152">
            <a:spAutoFit/>
          </a:bodyPr>
          <a:lstStyle/>
          <a:p>
            <a:pPr algn="ctr">
              <a:defRPr sz="1500" b="1">
                <a:solidFill>
                  <a:srgbClr val="D97862"/>
                </a:solidFill>
                <a:latin typeface="Aptos"/>
              </a:defRPr>
            </a:pPr>
            <a:r>
              <a:t>RESOLUTION / SAFETY POLICIES</a:t>
            </a:r>
          </a:p>
        </p:txBody>
      </p:sp>
      <p:sp>
        <p:nvSpPr>
          <p:cNvPr id="20" name="TextBox 19"/>
          <p:cNvSpPr txBox="1"/>
          <p:nvPr/>
        </p:nvSpPr>
        <p:spPr>
          <a:xfrm>
            <a:off x="6629400" y="2331720"/>
            <a:ext cx="1965960" cy="347472"/>
          </a:xfrm>
          <a:prstGeom prst="rect">
            <a:avLst/>
          </a:prstGeom>
          <a:noFill/>
        </p:spPr>
        <p:txBody>
          <a:bodyPr wrap="square" lIns="73152" rIns="73152" tIns="73152" bIns="73152">
            <a:spAutoFit/>
          </a:bodyPr>
          <a:lstStyle/>
          <a:p>
            <a:pPr algn="l">
              <a:defRPr sz="1300" b="1">
                <a:solidFill>
                  <a:srgbClr val="173B43"/>
                </a:solidFill>
                <a:latin typeface="Aptos"/>
              </a:defRPr>
            </a:pPr>
            <a:r>
              <a:t>B1 Deterministic</a:t>
            </a:r>
          </a:p>
        </p:txBody>
      </p:sp>
      <p:sp>
        <p:nvSpPr>
          <p:cNvPr id="21" name="TextBox 20"/>
          <p:cNvSpPr txBox="1"/>
          <p:nvPr/>
        </p:nvSpPr>
        <p:spPr>
          <a:xfrm>
            <a:off x="8686800" y="2331720"/>
            <a:ext cx="2468880" cy="457200"/>
          </a:xfrm>
          <a:prstGeom prst="rect">
            <a:avLst/>
          </a:prstGeom>
          <a:noFill/>
        </p:spPr>
        <p:txBody>
          <a:bodyPr wrap="square" lIns="73152" rIns="73152" tIns="73152" bIns="73152">
            <a:spAutoFit/>
          </a:bodyPr>
          <a:lstStyle/>
          <a:p>
            <a:pPr algn="l">
              <a:defRPr sz="1100" b="0">
                <a:solidFill>
                  <a:srgbClr val="203338"/>
                </a:solidFill>
                <a:latin typeface="Aptos"/>
              </a:defRPr>
            </a:pPr>
            <a:r>
              <a:t>argmax(timestamp, agent_id)</a:t>
            </a:r>
          </a:p>
        </p:txBody>
      </p:sp>
      <p:sp>
        <p:nvSpPr>
          <p:cNvPr id="22" name="TextBox 21"/>
          <p:cNvSpPr txBox="1"/>
          <p:nvPr/>
        </p:nvSpPr>
        <p:spPr>
          <a:xfrm>
            <a:off x="6629400" y="3246120"/>
            <a:ext cx="1965960" cy="347472"/>
          </a:xfrm>
          <a:prstGeom prst="rect">
            <a:avLst/>
          </a:prstGeom>
          <a:noFill/>
        </p:spPr>
        <p:txBody>
          <a:bodyPr wrap="square" lIns="73152" rIns="73152" tIns="73152" bIns="73152">
            <a:spAutoFit/>
          </a:bodyPr>
          <a:lstStyle/>
          <a:p>
            <a:pPr algn="l">
              <a:defRPr sz="1300" b="1">
                <a:solidFill>
                  <a:srgbClr val="173B43"/>
                </a:solidFill>
                <a:latin typeface="Aptos"/>
              </a:defRPr>
            </a:pPr>
            <a:r>
              <a:t>B7 Preserve / abstain</a:t>
            </a:r>
          </a:p>
        </p:txBody>
      </p:sp>
      <p:sp>
        <p:nvSpPr>
          <p:cNvPr id="23" name="TextBox 22"/>
          <p:cNvSpPr txBox="1"/>
          <p:nvPr/>
        </p:nvSpPr>
        <p:spPr>
          <a:xfrm>
            <a:off x="8686800" y="3246120"/>
            <a:ext cx="2468880" cy="457200"/>
          </a:xfrm>
          <a:prstGeom prst="rect">
            <a:avLst/>
          </a:prstGeom>
          <a:noFill/>
        </p:spPr>
        <p:txBody>
          <a:bodyPr wrap="square" lIns="73152" rIns="73152" tIns="73152" bIns="73152">
            <a:spAutoFit/>
          </a:bodyPr>
          <a:lstStyle/>
          <a:p>
            <a:pPr algn="l">
              <a:defRPr sz="1100" b="0">
                <a:solidFill>
                  <a:srgbClr val="203338"/>
                </a:solidFill>
                <a:latin typeface="Aptos"/>
              </a:defRPr>
            </a:pPr>
            <a:r>
              <a:t>non-identical remains unresolved</a:t>
            </a:r>
          </a:p>
        </p:txBody>
      </p:sp>
      <p:sp>
        <p:nvSpPr>
          <p:cNvPr id="24" name="TextBox 23"/>
          <p:cNvSpPr txBox="1"/>
          <p:nvPr/>
        </p:nvSpPr>
        <p:spPr>
          <a:xfrm>
            <a:off x="6629400" y="4160520"/>
            <a:ext cx="1965960" cy="347472"/>
          </a:xfrm>
          <a:prstGeom prst="rect">
            <a:avLst/>
          </a:prstGeom>
          <a:noFill/>
        </p:spPr>
        <p:txBody>
          <a:bodyPr wrap="square" lIns="73152" rIns="73152" tIns="73152" bIns="73152">
            <a:spAutoFit/>
          </a:bodyPr>
          <a:lstStyle/>
          <a:p>
            <a:pPr algn="l">
              <a:defRPr sz="1300" b="1">
                <a:solidFill>
                  <a:srgbClr val="173B43"/>
                </a:solidFill>
                <a:latin typeface="Aptos"/>
              </a:defRPr>
            </a:pPr>
            <a:r>
              <a:t>AVA Verify stage</a:t>
            </a:r>
          </a:p>
        </p:txBody>
      </p:sp>
      <p:sp>
        <p:nvSpPr>
          <p:cNvPr id="25" name="TextBox 24"/>
          <p:cNvSpPr txBox="1"/>
          <p:nvPr/>
        </p:nvSpPr>
        <p:spPr>
          <a:xfrm>
            <a:off x="8686800" y="4160520"/>
            <a:ext cx="2468880" cy="457200"/>
          </a:xfrm>
          <a:prstGeom prst="rect">
            <a:avLst/>
          </a:prstGeom>
          <a:noFill/>
        </p:spPr>
        <p:txBody>
          <a:bodyPr wrap="square" lIns="73152" rIns="73152" tIns="73152" bIns="73152">
            <a:spAutoFit/>
          </a:bodyPr>
          <a:lstStyle/>
          <a:p>
            <a:pPr algn="l">
              <a:defRPr sz="1100" b="0">
                <a:solidFill>
                  <a:srgbClr val="203338"/>
                </a:solidFill>
                <a:latin typeface="Aptos"/>
              </a:defRPr>
            </a:pPr>
            <a:r>
              <a:t>evidence-based intermediate check</a:t>
            </a:r>
          </a:p>
        </p:txBody>
      </p:sp>
      <p:cxnSp>
        <p:nvCxnSpPr>
          <p:cNvPr id="26" name="Connector 25"/>
          <p:cNvCxnSpPr/>
          <p:nvPr/>
        </p:nvCxnSpPr>
        <p:spPr>
          <a:xfrm>
            <a:off x="5623560" y="3520440"/>
            <a:ext cx="594360" cy="0"/>
          </a:xfrm>
          <a:prstGeom prst="line">
            <a:avLst/>
          </a:prstGeom>
          <a:ln w="25400">
            <a:solidFill>
              <a:srgbClr val="64777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14400" y="5852160"/>
            <a:ext cx="10058400" cy="411480"/>
          </a:xfrm>
          <a:prstGeom prst="rect">
            <a:avLst/>
          </a:prstGeom>
          <a:noFill/>
        </p:spPr>
        <p:txBody>
          <a:bodyPr wrap="square" lIns="73152" rIns="73152" tIns="73152" bIns="73152">
            <a:spAutoFit/>
          </a:bodyPr>
          <a:lstStyle/>
          <a:p>
            <a:pPr algn="ctr">
              <a:defRPr sz="1400" b="1">
                <a:solidFill>
                  <a:srgbClr val="173B43"/>
                </a:solidFill>
                <a:latin typeface="Aptos"/>
              </a:defRPr>
            </a:pPr>
            <a:r>
              <a:t>Fairness rule: report classifier accuracy separately from final safety and resolution outcomes.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Dataset: human-labelled pairs, context and evidence</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731520" y="1508760"/>
            <a:ext cx="3337560" cy="150876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700784"/>
            <a:ext cx="475488" cy="475488"/>
          </a:xfrm>
          <a:prstGeom prst="round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92224"/>
            <a:ext cx="384048" cy="256032"/>
          </a:xfrm>
          <a:prstGeom prst="rect">
            <a:avLst/>
          </a:prstGeom>
          <a:noFill/>
        </p:spPr>
        <p:txBody>
          <a:bodyPr wrap="square" lIns="73152" rIns="73152" tIns="73152" bIns="73152">
            <a:spAutoFit/>
          </a:bodyPr>
          <a:lstStyle/>
          <a:p>
            <a:pPr algn="ctr">
              <a:defRPr sz="1400" b="1">
                <a:solidFill>
                  <a:srgbClr val="FFFFFF"/>
                </a:solidFill>
                <a:latin typeface="Aptos"/>
              </a:defRPr>
            </a:pPr>
            <a:r>
              <a:t>1</a:t>
            </a:r>
          </a:p>
        </p:txBody>
      </p:sp>
      <p:sp>
        <p:nvSpPr>
          <p:cNvPr id="9" name="TextBox 8"/>
          <p:cNvSpPr txBox="1"/>
          <p:nvPr/>
        </p:nvSpPr>
        <p:spPr>
          <a:xfrm>
            <a:off x="1527048" y="1719072"/>
            <a:ext cx="2286000" cy="310896"/>
          </a:xfrm>
          <a:prstGeom prst="rect">
            <a:avLst/>
          </a:prstGeom>
          <a:noFill/>
        </p:spPr>
        <p:txBody>
          <a:bodyPr wrap="square" lIns="73152" rIns="73152" tIns="73152" bIns="73152">
            <a:spAutoFit/>
          </a:bodyPr>
          <a:lstStyle/>
          <a:p>
            <a:pPr algn="l">
              <a:defRPr sz="1300" b="1">
                <a:solidFill>
                  <a:srgbClr val="173B43"/>
                </a:solidFill>
                <a:latin typeface="Aptos"/>
              </a:defRPr>
            </a:pPr>
            <a:r>
              <a:t>Controlled synthetic</a:t>
            </a:r>
          </a:p>
        </p:txBody>
      </p:sp>
      <p:sp>
        <p:nvSpPr>
          <p:cNvPr id="10" name="TextBox 9"/>
          <p:cNvSpPr txBox="1"/>
          <p:nvPr/>
        </p:nvSpPr>
        <p:spPr>
          <a:xfrm>
            <a:off x="1527048" y="2148840"/>
            <a:ext cx="2286000" cy="594360"/>
          </a:xfrm>
          <a:prstGeom prst="rect">
            <a:avLst/>
          </a:prstGeom>
          <a:noFill/>
        </p:spPr>
        <p:txBody>
          <a:bodyPr wrap="square" lIns="73152" rIns="73152" tIns="73152" bIns="73152">
            <a:spAutoFit/>
          </a:bodyPr>
          <a:lstStyle/>
          <a:p>
            <a:pPr algn="l">
              <a:defRPr sz="1200" b="0">
                <a:solidFill>
                  <a:srgbClr val="203338"/>
                </a:solidFill>
                <a:latin typeface="Aptos"/>
              </a:defRPr>
            </a:pPr>
            <a:r>
              <a:t>balanced edge cases</a:t>
            </a:r>
          </a:p>
        </p:txBody>
      </p:sp>
      <p:cxnSp>
        <p:nvCxnSpPr>
          <p:cNvPr id="11" name="Connector 10"/>
          <p:cNvCxnSpPr/>
          <p:nvPr/>
        </p:nvCxnSpPr>
        <p:spPr>
          <a:xfrm>
            <a:off x="4096512" y="2240280"/>
            <a:ext cx="338328"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26280" y="1508760"/>
            <a:ext cx="3337560" cy="150876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09160" y="1700784"/>
            <a:ext cx="475488" cy="475488"/>
          </a:xfrm>
          <a:prstGeom prst="round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792224"/>
            <a:ext cx="384048" cy="256032"/>
          </a:xfrm>
          <a:prstGeom prst="rect">
            <a:avLst/>
          </a:prstGeom>
          <a:noFill/>
        </p:spPr>
        <p:txBody>
          <a:bodyPr wrap="square" lIns="73152" rIns="73152" tIns="73152" bIns="73152">
            <a:spAutoFit/>
          </a:bodyPr>
          <a:lstStyle/>
          <a:p>
            <a:pPr algn="ctr">
              <a:defRPr sz="1400" b="1">
                <a:solidFill>
                  <a:srgbClr val="FFFFFF"/>
                </a:solidFill>
                <a:latin typeface="Aptos"/>
              </a:defRPr>
            </a:pPr>
            <a:r>
              <a:t>2</a:t>
            </a:r>
          </a:p>
        </p:txBody>
      </p:sp>
      <p:sp>
        <p:nvSpPr>
          <p:cNvPr id="15" name="TextBox 14"/>
          <p:cNvSpPr txBox="1"/>
          <p:nvPr/>
        </p:nvSpPr>
        <p:spPr>
          <a:xfrm>
            <a:off x="5321808" y="1719072"/>
            <a:ext cx="2286000" cy="310896"/>
          </a:xfrm>
          <a:prstGeom prst="rect">
            <a:avLst/>
          </a:prstGeom>
          <a:noFill/>
        </p:spPr>
        <p:txBody>
          <a:bodyPr wrap="square" lIns="73152" rIns="73152" tIns="73152" bIns="73152">
            <a:spAutoFit/>
          </a:bodyPr>
          <a:lstStyle/>
          <a:p>
            <a:pPr algn="l">
              <a:defRPr sz="1300" b="1">
                <a:solidFill>
                  <a:srgbClr val="173B43"/>
                </a:solidFill>
                <a:latin typeface="Aptos"/>
              </a:defRPr>
            </a:pPr>
            <a:r>
              <a:t>LLM-generated realistic</a:t>
            </a:r>
          </a:p>
        </p:txBody>
      </p:sp>
      <p:sp>
        <p:nvSpPr>
          <p:cNvPr id="16" name="TextBox 15"/>
          <p:cNvSpPr txBox="1"/>
          <p:nvPr/>
        </p:nvSpPr>
        <p:spPr>
          <a:xfrm>
            <a:off x="5321808" y="2148840"/>
            <a:ext cx="2286000" cy="594360"/>
          </a:xfrm>
          <a:prstGeom prst="rect">
            <a:avLst/>
          </a:prstGeom>
          <a:noFill/>
        </p:spPr>
        <p:txBody>
          <a:bodyPr wrap="square" lIns="73152" rIns="73152" tIns="73152" bIns="73152">
            <a:spAutoFit/>
          </a:bodyPr>
          <a:lstStyle/>
          <a:p>
            <a:pPr algn="l">
              <a:defRPr sz="1200" b="0">
                <a:solidFill>
                  <a:srgbClr val="203338"/>
                </a:solidFill>
                <a:latin typeface="Aptos"/>
              </a:defRPr>
            </a:pPr>
            <a:r>
              <a:t>human checked</a:t>
            </a:r>
          </a:p>
        </p:txBody>
      </p:sp>
      <p:cxnSp>
        <p:nvCxnSpPr>
          <p:cNvPr id="17" name="Connector 16"/>
          <p:cNvCxnSpPr/>
          <p:nvPr/>
        </p:nvCxnSpPr>
        <p:spPr>
          <a:xfrm>
            <a:off x="7891272" y="2240280"/>
            <a:ext cx="338328"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321040" y="1508760"/>
            <a:ext cx="3337560" cy="150876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03920" y="1700784"/>
            <a:ext cx="475488" cy="475488"/>
          </a:xfrm>
          <a:prstGeom prst="round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1792224"/>
            <a:ext cx="384048" cy="256032"/>
          </a:xfrm>
          <a:prstGeom prst="rect">
            <a:avLst/>
          </a:prstGeom>
          <a:noFill/>
        </p:spPr>
        <p:txBody>
          <a:bodyPr wrap="square" lIns="73152" rIns="73152" tIns="73152" bIns="73152">
            <a:spAutoFit/>
          </a:bodyPr>
          <a:lstStyle/>
          <a:p>
            <a:pPr algn="ctr">
              <a:defRPr sz="1400" b="1">
                <a:solidFill>
                  <a:srgbClr val="FFFFFF"/>
                </a:solidFill>
                <a:latin typeface="Aptos"/>
              </a:defRPr>
            </a:pPr>
            <a:r>
              <a:t>3</a:t>
            </a:r>
          </a:p>
        </p:txBody>
      </p:sp>
      <p:sp>
        <p:nvSpPr>
          <p:cNvPr id="21" name="TextBox 20"/>
          <p:cNvSpPr txBox="1"/>
          <p:nvPr/>
        </p:nvSpPr>
        <p:spPr>
          <a:xfrm>
            <a:off x="9116568" y="1719072"/>
            <a:ext cx="2286000" cy="310896"/>
          </a:xfrm>
          <a:prstGeom prst="rect">
            <a:avLst/>
          </a:prstGeom>
          <a:noFill/>
        </p:spPr>
        <p:txBody>
          <a:bodyPr wrap="square" lIns="73152" rIns="73152" tIns="73152" bIns="73152">
            <a:spAutoFit/>
          </a:bodyPr>
          <a:lstStyle/>
          <a:p>
            <a:pPr algn="l">
              <a:defRPr sz="1300" b="1">
                <a:solidFill>
                  <a:srgbClr val="173B43"/>
                </a:solidFill>
                <a:latin typeface="Aptos"/>
              </a:defRPr>
            </a:pPr>
            <a:r>
              <a:t>Real traces (if feasible)</a:t>
            </a:r>
          </a:p>
        </p:txBody>
      </p:sp>
      <p:sp>
        <p:nvSpPr>
          <p:cNvPr id="22" name="TextBox 21"/>
          <p:cNvSpPr txBox="1"/>
          <p:nvPr/>
        </p:nvSpPr>
        <p:spPr>
          <a:xfrm>
            <a:off x="9116568" y="2148840"/>
            <a:ext cx="2286000" cy="594360"/>
          </a:xfrm>
          <a:prstGeom prst="rect">
            <a:avLst/>
          </a:prstGeom>
          <a:noFill/>
        </p:spPr>
        <p:txBody>
          <a:bodyPr wrap="square" lIns="73152" rIns="73152" tIns="73152" bIns="73152">
            <a:spAutoFit/>
          </a:bodyPr>
          <a:lstStyle/>
          <a:p>
            <a:pPr algn="l">
              <a:defRPr sz="1200" b="0">
                <a:solidFill>
                  <a:srgbClr val="203338"/>
                </a:solidFill>
                <a:latin typeface="Aptos"/>
              </a:defRPr>
            </a:pPr>
            <a:r>
              <a:t>legal/practical access</a:t>
            </a:r>
          </a:p>
        </p:txBody>
      </p:sp>
      <p:sp>
        <p:nvSpPr>
          <p:cNvPr id="23" name="Rounded Rectangle 22"/>
          <p:cNvSpPr/>
          <p:nvPr/>
        </p:nvSpPr>
        <p:spPr>
          <a:xfrm>
            <a:off x="822960" y="3520440"/>
            <a:ext cx="4754880" cy="16002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3520440"/>
            <a:ext cx="82296" cy="160020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630168"/>
            <a:ext cx="4462272" cy="320040"/>
          </a:xfrm>
          <a:prstGeom prst="rect">
            <a:avLst/>
          </a:prstGeom>
          <a:noFill/>
        </p:spPr>
        <p:txBody>
          <a:bodyPr wrap="square" lIns="73152" rIns="73152" tIns="73152" bIns="73152">
            <a:spAutoFit/>
          </a:bodyPr>
          <a:lstStyle/>
          <a:p>
            <a:pPr algn="l">
              <a:defRPr sz="1500" b="1">
                <a:solidFill>
                  <a:srgbClr val="2F7775"/>
                </a:solidFill>
                <a:latin typeface="Aptos"/>
              </a:defRPr>
            </a:pPr>
            <a:r>
              <a:t>Record fields</a:t>
            </a:r>
          </a:p>
        </p:txBody>
      </p:sp>
      <p:sp>
        <p:nvSpPr>
          <p:cNvPr id="26" name="TextBox 25"/>
          <p:cNvSpPr txBox="1"/>
          <p:nvPr/>
        </p:nvSpPr>
        <p:spPr>
          <a:xfrm>
            <a:off x="1005840" y="4005072"/>
            <a:ext cx="4443984" cy="1033271"/>
          </a:xfrm>
          <a:prstGeom prst="rect">
            <a:avLst/>
          </a:prstGeom>
          <a:noFill/>
        </p:spPr>
        <p:txBody>
          <a:bodyPr wrap="square" lIns="73152" rIns="73152" tIns="73152" bIns="73152">
            <a:spAutoFit/>
          </a:bodyPr>
          <a:lstStyle/>
          <a:p>
            <a:pPr algn="l">
              <a:defRPr sz="1300" b="0">
                <a:solidFill>
                  <a:srgbClr val="203338"/>
                </a:solidFill>
                <a:latin typeface="Aptos"/>
              </a:defRPr>
            </a:pPr>
            <a:r>
              <a:t>Declared key + type · assertion A/B · context/time</a:t>
            </a:r>
            <a:br/>
            <a:r>
              <a:t>Evidence/provenance · gold label · difficulty</a:t>
            </a:r>
          </a:p>
        </p:txBody>
      </p:sp>
      <p:sp>
        <p:nvSpPr>
          <p:cNvPr id="27" name="Rounded Rectangle 26"/>
          <p:cNvSpPr/>
          <p:nvPr/>
        </p:nvSpPr>
        <p:spPr>
          <a:xfrm>
            <a:off x="6217920" y="3520440"/>
            <a:ext cx="4846320" cy="16002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520440"/>
            <a:ext cx="82296" cy="160020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630168"/>
            <a:ext cx="4553712" cy="320040"/>
          </a:xfrm>
          <a:prstGeom prst="rect">
            <a:avLst/>
          </a:prstGeom>
          <a:noFill/>
        </p:spPr>
        <p:txBody>
          <a:bodyPr wrap="square" lIns="73152" rIns="73152" tIns="73152" bIns="73152">
            <a:spAutoFit/>
          </a:bodyPr>
          <a:lstStyle/>
          <a:p>
            <a:pPr algn="l">
              <a:defRPr sz="1500" b="1">
                <a:solidFill>
                  <a:srgbClr val="D97862"/>
                </a:solidFill>
                <a:latin typeface="Aptos"/>
              </a:defRPr>
            </a:pPr>
            <a:r>
              <a:t>Gold-label process</a:t>
            </a:r>
          </a:p>
        </p:txBody>
      </p:sp>
      <p:sp>
        <p:nvSpPr>
          <p:cNvPr id="30" name="TextBox 29"/>
          <p:cNvSpPr txBox="1"/>
          <p:nvPr/>
        </p:nvSpPr>
        <p:spPr>
          <a:xfrm>
            <a:off x="6400800" y="4005072"/>
            <a:ext cx="4535424" cy="1033271"/>
          </a:xfrm>
          <a:prstGeom prst="rect">
            <a:avLst/>
          </a:prstGeom>
          <a:noFill/>
        </p:spPr>
        <p:txBody>
          <a:bodyPr wrap="square" lIns="73152" rIns="73152" tIns="73152" bIns="73152">
            <a:spAutoFit/>
          </a:bodyPr>
          <a:lstStyle/>
          <a:p>
            <a:pPr algn="l">
              <a:defRPr sz="1300" b="0">
                <a:solidFill>
                  <a:srgbClr val="203338"/>
                </a:solidFill>
                <a:latin typeface="Aptos"/>
              </a:defRPr>
            </a:pPr>
            <a:r>
              <a:t>3 annotators → agreement statistic → adjudication</a:t>
            </a:r>
            <a:br/>
            <a:r>
              <a:t>LLM output alone is not ground truth</a:t>
            </a:r>
          </a:p>
        </p:txBody>
      </p:sp>
      <p:pic>
        <p:nvPicPr>
          <p:cNvPr id="31" name="Picture 30" descr="bee.png"/>
          <p:cNvPicPr>
            <a:picLocks noChangeAspect="1"/>
          </p:cNvPicPr>
          <p:nvPr/>
        </p:nvPicPr>
        <p:blipFill>
          <a:blip r:embed="rId2"/>
          <a:stretch>
            <a:fillRect/>
          </a:stretch>
        </p:blipFill>
        <p:spPr>
          <a:xfrm>
            <a:off x="10012680" y="5074920"/>
            <a:ext cx="731520" cy="731520"/>
          </a:xfrm>
          <a:prstGeom prst="rect">
            <a:avLst/>
          </a:prstGeom>
        </p:spPr>
      </p:pic>
      <p:sp>
        <p:nvSpPr>
          <p:cNvPr id="32" name="TextBox 31"/>
          <p:cNvSpPr txBox="1"/>
          <p:nvPr/>
        </p:nvSpPr>
        <p:spPr>
          <a:xfrm>
            <a:off x="9235440" y="5806440"/>
            <a:ext cx="2194560" cy="256032"/>
          </a:xfrm>
          <a:prstGeom prst="rect">
            <a:avLst/>
          </a:prstGeom>
          <a:noFill/>
        </p:spPr>
        <p:txBody>
          <a:bodyPr wrap="square" lIns="73152" rIns="73152" tIns="73152" bIns="73152">
            <a:spAutoFit/>
          </a:bodyPr>
          <a:lstStyle/>
          <a:p>
            <a:pPr algn="ctr">
              <a:defRPr sz="800" b="1">
                <a:solidFill>
                  <a:srgbClr val="64777A"/>
                </a:solidFill>
                <a:latin typeface="Aptos"/>
              </a:defRPr>
            </a:pPr>
            <a:r>
              <a:t>BEE ANALOGY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Safety metrics stay separate — no misleading composite</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640080" y="1417320"/>
            <a:ext cx="3520440" cy="18288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17320"/>
            <a:ext cx="82296" cy="182880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527048"/>
            <a:ext cx="3227832" cy="320040"/>
          </a:xfrm>
          <a:prstGeom prst="rect">
            <a:avLst/>
          </a:prstGeom>
          <a:noFill/>
        </p:spPr>
        <p:txBody>
          <a:bodyPr wrap="square" lIns="73152" rIns="73152" tIns="73152" bIns="73152">
            <a:spAutoFit/>
          </a:bodyPr>
          <a:lstStyle/>
          <a:p>
            <a:pPr algn="l">
              <a:defRPr sz="1500" b="1">
                <a:solidFill>
                  <a:srgbClr val="D97862"/>
                </a:solidFill>
                <a:latin typeface="Aptos"/>
              </a:defRPr>
            </a:pPr>
            <a:r>
              <a:t>FMR • unsafe agreement</a:t>
            </a:r>
          </a:p>
        </p:txBody>
      </p:sp>
      <p:sp>
        <p:nvSpPr>
          <p:cNvPr id="9" name="TextBox 8"/>
          <p:cNvSpPr txBox="1"/>
          <p:nvPr/>
        </p:nvSpPr>
        <p:spPr>
          <a:xfrm>
            <a:off x="822959" y="1901952"/>
            <a:ext cx="3209544" cy="1261872"/>
          </a:xfrm>
          <a:prstGeom prst="rect">
            <a:avLst/>
          </a:prstGeom>
          <a:noFill/>
        </p:spPr>
        <p:txBody>
          <a:bodyPr wrap="square" lIns="73152" rIns="73152" tIns="73152" bIns="73152">
            <a:spAutoFit/>
          </a:bodyPr>
          <a:lstStyle/>
          <a:p>
            <a:pPr algn="l">
              <a:defRPr sz="1400" b="0">
                <a:solidFill>
                  <a:srgbClr val="203338"/>
                </a:solidFill>
                <a:latin typeface="Aptos"/>
              </a:defRPr>
            </a:pPr>
            <a:r>
              <a:t>Wrong Agree on actual conflicts</a:t>
            </a:r>
            <a:br/>
            <a:r>
              <a:t>(direct or verified) ÷ actual conflicts</a:t>
            </a:r>
          </a:p>
        </p:txBody>
      </p:sp>
      <p:sp>
        <p:nvSpPr>
          <p:cNvPr id="10" name="Rounded Rectangle 9"/>
          <p:cNvSpPr/>
          <p:nvPr/>
        </p:nvSpPr>
        <p:spPr>
          <a:xfrm>
            <a:off x="4343400" y="1417320"/>
            <a:ext cx="3520440" cy="18288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417320"/>
            <a:ext cx="82296" cy="182880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527048"/>
            <a:ext cx="3227832" cy="320040"/>
          </a:xfrm>
          <a:prstGeom prst="rect">
            <a:avLst/>
          </a:prstGeom>
          <a:noFill/>
        </p:spPr>
        <p:txBody>
          <a:bodyPr wrap="square" lIns="73152" rIns="73152" tIns="73152" bIns="73152">
            <a:spAutoFit/>
          </a:bodyPr>
          <a:lstStyle/>
          <a:p>
            <a:pPr algn="l">
              <a:defRPr sz="1500" b="1">
                <a:solidFill>
                  <a:srgbClr val="E8B65A"/>
                </a:solidFill>
                <a:latin typeface="Aptos"/>
              </a:defRPr>
            </a:pPr>
            <a:r>
              <a:t>FCR • missed safe resolution</a:t>
            </a:r>
          </a:p>
        </p:txBody>
      </p:sp>
      <p:sp>
        <p:nvSpPr>
          <p:cNvPr id="13" name="TextBox 12"/>
          <p:cNvSpPr txBox="1"/>
          <p:nvPr/>
        </p:nvSpPr>
        <p:spPr>
          <a:xfrm>
            <a:off x="4526280" y="1901952"/>
            <a:ext cx="3209544" cy="1261872"/>
          </a:xfrm>
          <a:prstGeom prst="rect">
            <a:avLst/>
          </a:prstGeom>
          <a:noFill/>
        </p:spPr>
        <p:txBody>
          <a:bodyPr wrap="square" lIns="73152" rIns="73152" tIns="73152" bIns="73152">
            <a:spAutoFit/>
          </a:bodyPr>
          <a:lstStyle/>
          <a:p>
            <a:pPr algn="l">
              <a:defRPr sz="1300" b="0">
                <a:solidFill>
                  <a:srgbClr val="203338"/>
                </a:solidFill>
                <a:latin typeface="Aptos"/>
              </a:defRPr>
            </a:pPr>
            <a:r>
              <a:t>Failure to resolve actual Paraphrase + Compatible cases ÷ those resolvable cases</a:t>
            </a:r>
          </a:p>
        </p:txBody>
      </p:sp>
      <p:sp>
        <p:nvSpPr>
          <p:cNvPr id="14" name="Rounded Rectangle 13"/>
          <p:cNvSpPr/>
          <p:nvPr/>
        </p:nvSpPr>
        <p:spPr>
          <a:xfrm>
            <a:off x="8046720" y="1417320"/>
            <a:ext cx="3520440" cy="182880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417320"/>
            <a:ext cx="82296" cy="182880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527048"/>
            <a:ext cx="3227832" cy="320040"/>
          </a:xfrm>
          <a:prstGeom prst="rect">
            <a:avLst/>
          </a:prstGeom>
          <a:noFill/>
        </p:spPr>
        <p:txBody>
          <a:bodyPr wrap="square" lIns="73152" rIns="73152" tIns="73152" bIns="73152">
            <a:spAutoFit/>
          </a:bodyPr>
          <a:lstStyle/>
          <a:p>
            <a:pPr algn="l">
              <a:defRPr sz="1500" b="1">
                <a:solidFill>
                  <a:srgbClr val="2F7775"/>
                </a:solidFill>
                <a:latin typeface="Aptos"/>
              </a:defRPr>
            </a:pPr>
            <a:r>
              <a:t>Unnecessary abstention</a:t>
            </a:r>
          </a:p>
        </p:txBody>
      </p:sp>
      <p:sp>
        <p:nvSpPr>
          <p:cNvPr id="17" name="TextBox 16"/>
          <p:cNvSpPr txBox="1"/>
          <p:nvPr/>
        </p:nvSpPr>
        <p:spPr>
          <a:xfrm>
            <a:off x="8229600" y="1901952"/>
            <a:ext cx="3209544" cy="1261872"/>
          </a:xfrm>
          <a:prstGeom prst="rect">
            <a:avLst/>
          </a:prstGeom>
          <a:noFill/>
        </p:spPr>
        <p:txBody>
          <a:bodyPr wrap="square" lIns="73152" rIns="73152" tIns="73152" bIns="73152">
            <a:spAutoFit/>
          </a:bodyPr>
          <a:lstStyle/>
          <a:p>
            <a:pPr algn="l">
              <a:defRPr sz="1300" b="0">
                <a:solidFill>
                  <a:srgbClr val="203338"/>
                </a:solidFill>
                <a:latin typeface="Aptos"/>
              </a:defRPr>
            </a:pPr>
            <a:r>
              <a:t>Subset of FCR after Verify on resolvable cases; reported separately too</a:t>
            </a:r>
          </a:p>
        </p:txBody>
      </p:sp>
      <p:sp>
        <p:nvSpPr>
          <p:cNvPr id="18" name="Rounded Rectangle 17"/>
          <p:cNvSpPr/>
          <p:nvPr/>
        </p:nvSpPr>
        <p:spPr>
          <a:xfrm>
            <a:off x="914400" y="3794760"/>
            <a:ext cx="10287000" cy="1371600"/>
          </a:xfrm>
          <a:prstGeom prst="roundRect">
            <a:avLst/>
          </a:prstGeom>
          <a:solidFill>
            <a:srgbClr val="173B43"/>
          </a:solidFill>
          <a:ln>
            <a:solidFill>
              <a:srgbClr val="173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005072"/>
            <a:ext cx="9875520" cy="411480"/>
          </a:xfrm>
          <a:prstGeom prst="rect">
            <a:avLst/>
          </a:prstGeom>
          <a:noFill/>
        </p:spPr>
        <p:txBody>
          <a:bodyPr wrap="square" lIns="73152" rIns="73152" tIns="73152" bIns="73152">
            <a:spAutoFit/>
          </a:bodyPr>
          <a:lstStyle/>
          <a:p>
            <a:pPr algn="ctr">
              <a:defRPr sz="1900" b="1">
                <a:solidFill>
                  <a:srgbClr val="FFFFFF"/>
                </a:solidFill>
                <a:latin typeface="Aptos"/>
              </a:defRPr>
            </a:pPr>
            <a:r>
              <a:t>Report a safety–coverage picture, not one “winner” score.</a:t>
            </a:r>
          </a:p>
        </p:txBody>
      </p:sp>
      <p:sp>
        <p:nvSpPr>
          <p:cNvPr id="20" name="TextBox 19"/>
          <p:cNvSpPr txBox="1"/>
          <p:nvPr/>
        </p:nvSpPr>
        <p:spPr>
          <a:xfrm>
            <a:off x="1280160" y="4608576"/>
            <a:ext cx="9601200" cy="365760"/>
          </a:xfrm>
          <a:prstGeom prst="rect">
            <a:avLst/>
          </a:prstGeom>
          <a:noFill/>
        </p:spPr>
        <p:txBody>
          <a:bodyPr wrap="square" lIns="73152" rIns="73152" tIns="73152" bIns="73152">
            <a:spAutoFit/>
          </a:bodyPr>
          <a:lstStyle/>
          <a:p>
            <a:pPr algn="ctr">
              <a:defRPr sz="1200" b="0">
                <a:solidFill>
                  <a:srgbClr val="DCEBE4"/>
                </a:solidFill>
                <a:latin typeface="Aptos"/>
              </a:defRPr>
            </a:pPr>
            <a:r>
              <a:t>Also: per-class F1 · calibration (ECE / Brier) · latency · token / compute cost · throughput</a:t>
            </a:r>
          </a:p>
        </p:txBody>
      </p:sp>
      <p:pic>
        <p:nvPicPr>
          <p:cNvPr id="21" name="Picture 20" descr="turtle.png"/>
          <p:cNvPicPr>
            <a:picLocks noChangeAspect="1"/>
          </p:cNvPicPr>
          <p:nvPr/>
        </p:nvPicPr>
        <p:blipFill>
          <a:blip r:embed="rId2"/>
          <a:stretch>
            <a:fillRect/>
          </a:stretch>
        </p:blipFill>
        <p:spPr>
          <a:xfrm>
            <a:off x="10012680" y="5212080"/>
            <a:ext cx="685800" cy="685800"/>
          </a:xfrm>
          <a:prstGeom prst="rect">
            <a:avLst/>
          </a:prstGeom>
        </p:spPr>
      </p:pic>
      <p:sp>
        <p:nvSpPr>
          <p:cNvPr id="22" name="TextBox 21"/>
          <p:cNvSpPr txBox="1"/>
          <p:nvPr/>
        </p:nvSpPr>
        <p:spPr>
          <a:xfrm>
            <a:off x="9326880" y="5806440"/>
            <a:ext cx="2103120" cy="228600"/>
          </a:xfrm>
          <a:prstGeom prst="rect">
            <a:avLst/>
          </a:prstGeom>
          <a:noFill/>
        </p:spPr>
        <p:txBody>
          <a:bodyPr wrap="square" lIns="73152" rIns="73152" tIns="73152" bIns="73152">
            <a:spAutoFit/>
          </a:bodyPr>
          <a:lstStyle/>
          <a:p>
            <a:pPr algn="ctr">
              <a:defRPr sz="800" b="1">
                <a:solidFill>
                  <a:srgbClr val="64777A"/>
                </a:solidFill>
                <a:latin typeface="Aptos"/>
              </a:defRPr>
            </a:pPr>
            <a:r>
              <a:t>TURTLE ANALOGY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SCP-MA: test decisions under asynchronous event delivery</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502920" y="1691640"/>
            <a:ext cx="2487168" cy="13258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74519"/>
            <a:ext cx="2194560" cy="310896"/>
          </a:xfrm>
          <a:prstGeom prst="rect">
            <a:avLst/>
          </a:prstGeom>
          <a:noFill/>
        </p:spPr>
        <p:txBody>
          <a:bodyPr wrap="square" lIns="73152" rIns="73152" tIns="73152" bIns="73152">
            <a:spAutoFit/>
          </a:bodyPr>
          <a:lstStyle/>
          <a:p>
            <a:pPr algn="ctr">
              <a:defRPr sz="1400" b="1">
                <a:solidFill>
                  <a:srgbClr val="2F7775"/>
                </a:solidFill>
                <a:latin typeface="Aptos"/>
              </a:defRPr>
            </a:pPr>
            <a:r>
              <a:t>Agents</a:t>
            </a:r>
          </a:p>
        </p:txBody>
      </p:sp>
      <p:sp>
        <p:nvSpPr>
          <p:cNvPr id="8" name="TextBox 7"/>
          <p:cNvSpPr txBox="1"/>
          <p:nvPr/>
        </p:nvSpPr>
        <p:spPr>
          <a:xfrm>
            <a:off x="667512" y="2304288"/>
            <a:ext cx="2148840" cy="493776"/>
          </a:xfrm>
          <a:prstGeom prst="rect">
            <a:avLst/>
          </a:prstGeom>
          <a:noFill/>
        </p:spPr>
        <p:txBody>
          <a:bodyPr wrap="square" lIns="73152" rIns="73152" tIns="73152" bIns="73152">
            <a:spAutoFit/>
          </a:bodyPr>
          <a:lstStyle/>
          <a:p>
            <a:pPr algn="ctr">
              <a:defRPr sz="1100" b="0">
                <a:solidFill>
                  <a:srgbClr val="203338"/>
                </a:solidFill>
                <a:latin typeface="Aptos"/>
              </a:defRPr>
            </a:pPr>
            <a:r>
              <a:t>concurrent writes</a:t>
            </a:r>
          </a:p>
        </p:txBody>
      </p:sp>
      <p:cxnSp>
        <p:nvCxnSpPr>
          <p:cNvPr id="9" name="Connector 8"/>
          <p:cNvCxnSpPr/>
          <p:nvPr/>
        </p:nvCxnSpPr>
        <p:spPr>
          <a:xfrm>
            <a:off x="2999232" y="2350008"/>
            <a:ext cx="356616"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29000" y="1691640"/>
            <a:ext cx="2487168" cy="13258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874519"/>
            <a:ext cx="2194560" cy="310896"/>
          </a:xfrm>
          <a:prstGeom prst="rect">
            <a:avLst/>
          </a:prstGeom>
          <a:noFill/>
        </p:spPr>
        <p:txBody>
          <a:bodyPr wrap="square" lIns="73152" rIns="73152" tIns="73152" bIns="73152">
            <a:spAutoFit/>
          </a:bodyPr>
          <a:lstStyle/>
          <a:p>
            <a:pPr algn="ctr">
              <a:defRPr sz="1400" b="1">
                <a:solidFill>
                  <a:srgbClr val="2F7775"/>
                </a:solidFill>
                <a:latin typeface="Aptos"/>
              </a:defRPr>
            </a:pPr>
            <a:r>
              <a:t>Immutable log</a:t>
            </a:r>
          </a:p>
        </p:txBody>
      </p:sp>
      <p:sp>
        <p:nvSpPr>
          <p:cNvPr id="12" name="TextBox 11"/>
          <p:cNvSpPr txBox="1"/>
          <p:nvPr/>
        </p:nvSpPr>
        <p:spPr>
          <a:xfrm>
            <a:off x="3593592" y="2304288"/>
            <a:ext cx="2148840" cy="493776"/>
          </a:xfrm>
          <a:prstGeom prst="rect">
            <a:avLst/>
          </a:prstGeom>
          <a:noFill/>
        </p:spPr>
        <p:txBody>
          <a:bodyPr wrap="square" lIns="73152" rIns="73152" tIns="73152" bIns="73152">
            <a:spAutoFit/>
          </a:bodyPr>
          <a:lstStyle/>
          <a:p>
            <a:pPr algn="ctr">
              <a:defRPr sz="1100" b="0">
                <a:solidFill>
                  <a:srgbClr val="203338"/>
                </a:solidFill>
                <a:latin typeface="Aptos"/>
              </a:defRPr>
            </a:pPr>
            <a:r>
              <a:t>event IDs + causal metadata</a:t>
            </a:r>
          </a:p>
        </p:txBody>
      </p:sp>
      <p:cxnSp>
        <p:nvCxnSpPr>
          <p:cNvPr id="13" name="Connector 12"/>
          <p:cNvCxnSpPr/>
          <p:nvPr/>
        </p:nvCxnSpPr>
        <p:spPr>
          <a:xfrm>
            <a:off x="5925312" y="2350008"/>
            <a:ext cx="356616"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355080" y="1691640"/>
            <a:ext cx="2487168" cy="13258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874519"/>
            <a:ext cx="2194560" cy="310896"/>
          </a:xfrm>
          <a:prstGeom prst="rect">
            <a:avLst/>
          </a:prstGeom>
          <a:noFill/>
        </p:spPr>
        <p:txBody>
          <a:bodyPr wrap="square" lIns="73152" rIns="73152" tIns="73152" bIns="73152">
            <a:spAutoFit/>
          </a:bodyPr>
          <a:lstStyle/>
          <a:p>
            <a:pPr algn="ctr">
              <a:defRPr sz="1400" b="1">
                <a:solidFill>
                  <a:srgbClr val="2F7775"/>
                </a:solidFill>
                <a:latin typeface="Aptos"/>
              </a:defRPr>
            </a:pPr>
            <a:r>
              <a:t>Network</a:t>
            </a:r>
          </a:p>
        </p:txBody>
      </p:sp>
      <p:sp>
        <p:nvSpPr>
          <p:cNvPr id="16" name="TextBox 15"/>
          <p:cNvSpPr txBox="1"/>
          <p:nvPr/>
        </p:nvSpPr>
        <p:spPr>
          <a:xfrm>
            <a:off x="6519672" y="2304288"/>
            <a:ext cx="2148840" cy="493776"/>
          </a:xfrm>
          <a:prstGeom prst="rect">
            <a:avLst/>
          </a:prstGeom>
          <a:noFill/>
        </p:spPr>
        <p:txBody>
          <a:bodyPr wrap="square" lIns="73152" rIns="73152" tIns="73152" bIns="73152">
            <a:spAutoFit/>
          </a:bodyPr>
          <a:lstStyle/>
          <a:p>
            <a:pPr algn="ctr">
              <a:defRPr sz="1100" b="0">
                <a:solidFill>
                  <a:srgbClr val="203338"/>
                </a:solidFill>
                <a:latin typeface="Aptos"/>
              </a:defRPr>
            </a:pPr>
            <a:r>
              <a:t>delay · duplicate · reorder · disconnect</a:t>
            </a:r>
          </a:p>
        </p:txBody>
      </p:sp>
      <p:cxnSp>
        <p:nvCxnSpPr>
          <p:cNvPr id="17" name="Connector 16"/>
          <p:cNvCxnSpPr/>
          <p:nvPr/>
        </p:nvCxnSpPr>
        <p:spPr>
          <a:xfrm>
            <a:off x="8851392" y="2350008"/>
            <a:ext cx="356616"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281160" y="1691640"/>
            <a:ext cx="2487168" cy="13258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0" y="1874519"/>
            <a:ext cx="2194560" cy="310896"/>
          </a:xfrm>
          <a:prstGeom prst="rect">
            <a:avLst/>
          </a:prstGeom>
          <a:noFill/>
        </p:spPr>
        <p:txBody>
          <a:bodyPr wrap="square" lIns="73152" rIns="73152" tIns="73152" bIns="73152">
            <a:spAutoFit/>
          </a:bodyPr>
          <a:lstStyle/>
          <a:p>
            <a:pPr algn="ctr">
              <a:defRPr sz="1400" b="1">
                <a:solidFill>
                  <a:srgbClr val="D97862"/>
                </a:solidFill>
                <a:latin typeface="Aptos"/>
              </a:defRPr>
            </a:pPr>
            <a:r>
              <a:t>Projection</a:t>
            </a:r>
          </a:p>
        </p:txBody>
      </p:sp>
      <p:sp>
        <p:nvSpPr>
          <p:cNvPr id="20" name="TextBox 19"/>
          <p:cNvSpPr txBox="1"/>
          <p:nvPr/>
        </p:nvSpPr>
        <p:spPr>
          <a:xfrm>
            <a:off x="9445752" y="2304288"/>
            <a:ext cx="2148840" cy="493776"/>
          </a:xfrm>
          <a:prstGeom prst="rect">
            <a:avLst/>
          </a:prstGeom>
          <a:noFill/>
        </p:spPr>
        <p:txBody>
          <a:bodyPr wrap="square" lIns="73152" rIns="73152" tIns="73152" bIns="73152">
            <a:spAutoFit/>
          </a:bodyPr>
          <a:lstStyle/>
          <a:p>
            <a:pPr algn="ctr">
              <a:defRPr sz="1100" b="0">
                <a:solidFill>
                  <a:srgbClr val="203338"/>
                </a:solidFill>
                <a:latin typeface="Aptos"/>
              </a:defRPr>
            </a:pPr>
            <a:r>
              <a:t>resolve value or UNRESOLVED</a:t>
            </a:r>
          </a:p>
        </p:txBody>
      </p:sp>
      <p:sp>
        <p:nvSpPr>
          <p:cNvPr id="21" name="Rounded Rectangle 20"/>
          <p:cNvSpPr/>
          <p:nvPr/>
        </p:nvSpPr>
        <p:spPr>
          <a:xfrm>
            <a:off x="1325880" y="3246120"/>
            <a:ext cx="2240280" cy="438912"/>
          </a:xfrm>
          <a:prstGeom prst="roundRect">
            <a:avLst/>
          </a:prstGeom>
          <a:solidFill>
            <a:srgbClr val="FFF1D8"/>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99032" y="3310128"/>
            <a:ext cx="2093976" cy="256032"/>
          </a:xfrm>
          <a:prstGeom prst="rect">
            <a:avLst/>
          </a:prstGeom>
          <a:noFill/>
        </p:spPr>
        <p:txBody>
          <a:bodyPr wrap="square" lIns="73152" rIns="73152" tIns="73152" bIns="73152">
            <a:spAutoFit/>
          </a:bodyPr>
          <a:lstStyle/>
          <a:p>
            <a:pPr algn="ctr">
              <a:defRPr sz="900" b="1">
                <a:solidFill>
                  <a:srgbClr val="64777A"/>
                </a:solidFill>
                <a:latin typeface="Aptos"/>
              </a:defRPr>
            </a:pPr>
            <a:r>
              <a:t>duplicate delivery</a:t>
            </a:r>
          </a:p>
        </p:txBody>
      </p:sp>
      <p:sp>
        <p:nvSpPr>
          <p:cNvPr id="23" name="Rounded Rectangle 22"/>
          <p:cNvSpPr/>
          <p:nvPr/>
        </p:nvSpPr>
        <p:spPr>
          <a:xfrm>
            <a:off x="4617720" y="3246120"/>
            <a:ext cx="2240280" cy="438912"/>
          </a:xfrm>
          <a:prstGeom prst="roundRect">
            <a:avLst/>
          </a:prstGeom>
          <a:solidFill>
            <a:srgbClr val="FFF1D8"/>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90872" y="3310128"/>
            <a:ext cx="2093976" cy="256032"/>
          </a:xfrm>
          <a:prstGeom prst="rect">
            <a:avLst/>
          </a:prstGeom>
          <a:noFill/>
        </p:spPr>
        <p:txBody>
          <a:bodyPr wrap="square" lIns="73152" rIns="73152" tIns="73152" bIns="73152">
            <a:spAutoFit/>
          </a:bodyPr>
          <a:lstStyle/>
          <a:p>
            <a:pPr algn="ctr">
              <a:defRPr sz="900" b="1">
                <a:solidFill>
                  <a:srgbClr val="64777A"/>
                </a:solidFill>
                <a:latin typeface="Aptos"/>
              </a:defRPr>
            </a:pPr>
            <a:r>
              <a:t>reordered delivery</a:t>
            </a:r>
          </a:p>
        </p:txBody>
      </p:sp>
      <p:sp>
        <p:nvSpPr>
          <p:cNvPr id="25" name="Rounded Rectangle 24"/>
          <p:cNvSpPr/>
          <p:nvPr/>
        </p:nvSpPr>
        <p:spPr>
          <a:xfrm>
            <a:off x="7909560" y="3246120"/>
            <a:ext cx="2240280" cy="438912"/>
          </a:xfrm>
          <a:prstGeom prst="roundRect">
            <a:avLst/>
          </a:prstGeom>
          <a:solidFill>
            <a:srgbClr val="FFF1D8"/>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82712" y="3310128"/>
            <a:ext cx="2093976" cy="256032"/>
          </a:xfrm>
          <a:prstGeom prst="rect">
            <a:avLst/>
          </a:prstGeom>
          <a:noFill/>
        </p:spPr>
        <p:txBody>
          <a:bodyPr wrap="square" lIns="73152" rIns="73152" tIns="73152" bIns="73152">
            <a:spAutoFit/>
          </a:bodyPr>
          <a:lstStyle/>
          <a:p>
            <a:pPr algn="ctr">
              <a:defRPr sz="900" b="1">
                <a:solidFill>
                  <a:srgbClr val="64777A"/>
                </a:solidFill>
                <a:latin typeface="Aptos"/>
              </a:defRPr>
            </a:pPr>
            <a:r>
              <a:t>delayed delivery</a:t>
            </a:r>
          </a:p>
        </p:txBody>
      </p:sp>
      <p:sp>
        <p:nvSpPr>
          <p:cNvPr id="27" name="Rounded Rectangle 26"/>
          <p:cNvSpPr/>
          <p:nvPr/>
        </p:nvSpPr>
        <p:spPr>
          <a:xfrm>
            <a:off x="914400" y="4251960"/>
            <a:ext cx="4663440" cy="123444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4251960"/>
            <a:ext cx="82296" cy="123444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4361688"/>
            <a:ext cx="4370831" cy="320040"/>
          </a:xfrm>
          <a:prstGeom prst="rect">
            <a:avLst/>
          </a:prstGeom>
          <a:noFill/>
        </p:spPr>
        <p:txBody>
          <a:bodyPr wrap="square" lIns="73152" rIns="73152" tIns="73152" bIns="73152">
            <a:spAutoFit/>
          </a:bodyPr>
          <a:lstStyle/>
          <a:p>
            <a:pPr algn="l">
              <a:defRPr sz="1500" b="1">
                <a:solidFill>
                  <a:srgbClr val="2F7775"/>
                </a:solidFill>
                <a:latin typeface="Aptos"/>
              </a:defRPr>
            </a:pPr>
            <a:r>
              <a:t>Measure</a:t>
            </a:r>
          </a:p>
        </p:txBody>
      </p:sp>
      <p:sp>
        <p:nvSpPr>
          <p:cNvPr id="30" name="TextBox 29"/>
          <p:cNvSpPr txBox="1"/>
          <p:nvPr/>
        </p:nvSpPr>
        <p:spPr>
          <a:xfrm>
            <a:off x="1097280" y="4736592"/>
            <a:ext cx="4352544" cy="667512"/>
          </a:xfrm>
          <a:prstGeom prst="rect">
            <a:avLst/>
          </a:prstGeom>
          <a:noFill/>
        </p:spPr>
        <p:txBody>
          <a:bodyPr wrap="square" lIns="73152" rIns="73152" tIns="73152" bIns="73152">
            <a:spAutoFit/>
          </a:bodyPr>
          <a:lstStyle/>
          <a:p>
            <a:pPr algn="l">
              <a:defRPr sz="1200" b="0">
                <a:solidFill>
                  <a:srgbClr val="203338"/>
                </a:solidFill>
                <a:latin typeface="Aptos"/>
              </a:defRPr>
            </a:pPr>
            <a:r>
              <a:t>Convergence rate/latency · divergence · bytes/messages · duplicate handling · recovery</a:t>
            </a:r>
          </a:p>
        </p:txBody>
      </p:sp>
      <p:sp>
        <p:nvSpPr>
          <p:cNvPr id="31" name="Rounded Rectangle 30"/>
          <p:cNvSpPr/>
          <p:nvPr/>
        </p:nvSpPr>
        <p:spPr>
          <a:xfrm>
            <a:off x="6309360" y="4251960"/>
            <a:ext cx="4663440" cy="123444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4251960"/>
            <a:ext cx="82296" cy="123444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4361688"/>
            <a:ext cx="4370831" cy="320040"/>
          </a:xfrm>
          <a:prstGeom prst="rect">
            <a:avLst/>
          </a:prstGeom>
          <a:noFill/>
        </p:spPr>
        <p:txBody>
          <a:bodyPr wrap="square" lIns="73152" rIns="73152" tIns="73152" bIns="73152">
            <a:spAutoFit/>
          </a:bodyPr>
          <a:lstStyle/>
          <a:p>
            <a:pPr algn="l">
              <a:defRPr sz="1500" b="1">
                <a:solidFill>
                  <a:srgbClr val="D97862"/>
                </a:solidFill>
                <a:latin typeface="Aptos"/>
              </a:defRPr>
            </a:pPr>
            <a:r>
              <a:t>First validation</a:t>
            </a:r>
          </a:p>
        </p:txBody>
      </p:sp>
      <p:sp>
        <p:nvSpPr>
          <p:cNvPr id="34" name="TextBox 33"/>
          <p:cNvSpPr txBox="1"/>
          <p:nvPr/>
        </p:nvSpPr>
        <p:spPr>
          <a:xfrm>
            <a:off x="6492240" y="4736592"/>
            <a:ext cx="4352544" cy="667512"/>
          </a:xfrm>
          <a:prstGeom prst="rect">
            <a:avLst/>
          </a:prstGeom>
          <a:noFill/>
        </p:spPr>
        <p:txBody>
          <a:bodyPr wrap="square" lIns="73152" rIns="73152" tIns="73152" bIns="73152">
            <a:spAutoFit/>
          </a:bodyPr>
          <a:lstStyle/>
          <a:p>
            <a:pPr algn="l">
              <a:defRPr sz="1200" b="0">
                <a:solidFill>
                  <a:srgbClr val="203338"/>
                </a:solidFill>
                <a:latin typeface="Aptos"/>
              </a:defRPr>
            </a:pPr>
            <a:r>
              <a:t>Semantics-free deterministic simulator before semantic methods are connected</a:t>
            </a:r>
          </a:p>
        </p:txBody>
      </p:sp>
      <p:pic>
        <p:nvPicPr>
          <p:cNvPr id="35" name="Picture 34" descr="penguin.png"/>
          <p:cNvPicPr>
            <a:picLocks noChangeAspect="1"/>
          </p:cNvPicPr>
          <p:nvPr/>
        </p:nvPicPr>
        <p:blipFill>
          <a:blip r:embed="rId2"/>
          <a:stretch>
            <a:fillRect/>
          </a:stretch>
        </p:blipFill>
        <p:spPr>
          <a:xfrm>
            <a:off x="10241280" y="5486400"/>
            <a:ext cx="548640" cy="548640"/>
          </a:xfrm>
          <a:prstGeom prst="rect">
            <a:avLst/>
          </a:prstGeom>
        </p:spPr>
      </p:pic>
      <p:sp>
        <p:nvSpPr>
          <p:cNvPr id="36" name="TextBox 35"/>
          <p:cNvSpPr txBox="1"/>
          <p:nvPr/>
        </p:nvSpPr>
        <p:spPr>
          <a:xfrm>
            <a:off x="9372600" y="5897880"/>
            <a:ext cx="2377440" cy="182880"/>
          </a:xfrm>
          <a:prstGeom prst="rect">
            <a:avLst/>
          </a:prstGeom>
          <a:noFill/>
        </p:spPr>
        <p:txBody>
          <a:bodyPr wrap="square" lIns="73152" rIns="73152" tIns="73152" bIns="73152">
            <a:spAutoFit/>
          </a:bodyPr>
          <a:lstStyle/>
          <a:p>
            <a:pPr algn="ctr">
              <a:defRPr sz="800" b="1">
                <a:solidFill>
                  <a:srgbClr val="64777A"/>
                </a:solidFill>
                <a:latin typeface="Aptos"/>
              </a:defRPr>
            </a:pPr>
            <a:r>
              <a:t>PENGUIN ANALOGY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Convergence is a target condition — not yet proved</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914400" y="1417320"/>
            <a:ext cx="10332720" cy="1143000"/>
          </a:xfrm>
          <a:prstGeom prst="roundRect">
            <a:avLst/>
          </a:prstGeom>
          <a:solidFill>
            <a:srgbClr val="E5F0EB"/>
          </a:solidFill>
          <a:ln>
            <a:solidFill>
              <a:srgbClr val="E5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645920"/>
            <a:ext cx="9784080" cy="594360"/>
          </a:xfrm>
          <a:prstGeom prst="rect">
            <a:avLst/>
          </a:prstGeom>
          <a:noFill/>
        </p:spPr>
        <p:txBody>
          <a:bodyPr wrap="square" lIns="73152" rIns="73152" tIns="73152" bIns="73152">
            <a:spAutoFit/>
          </a:bodyPr>
          <a:lstStyle/>
          <a:p>
            <a:pPr algn="ctr">
              <a:defRPr sz="1800" b="1">
                <a:solidFill>
                  <a:srgbClr val="173B43"/>
                </a:solidFill>
                <a:latin typeface="Aptos"/>
              </a:defRPr>
            </a:pPr>
            <a:r>
              <a:t>Same valid event set E + deterministic Resolve(Canonicalize(E))</a:t>
            </a:r>
            <a:br/>
            <a:r>
              <a:t>⇒ identical projected state at every replica</a:t>
            </a:r>
          </a:p>
        </p:txBody>
      </p:sp>
      <p:sp>
        <p:nvSpPr>
          <p:cNvPr id="8" name="Rounded Rectangle 7"/>
          <p:cNvSpPr/>
          <p:nvPr/>
        </p:nvSpPr>
        <p:spPr>
          <a:xfrm>
            <a:off x="1005840" y="3154680"/>
            <a:ext cx="3200400" cy="13258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05840" y="3154680"/>
            <a:ext cx="82296" cy="132588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264408"/>
            <a:ext cx="2907792" cy="320040"/>
          </a:xfrm>
          <a:prstGeom prst="rect">
            <a:avLst/>
          </a:prstGeom>
          <a:noFill/>
        </p:spPr>
        <p:txBody>
          <a:bodyPr wrap="square" lIns="73152" rIns="73152" tIns="73152" bIns="73152">
            <a:spAutoFit/>
          </a:bodyPr>
          <a:lstStyle/>
          <a:p>
            <a:pPr algn="l">
              <a:defRPr sz="1500" b="1">
                <a:solidFill>
                  <a:srgbClr val="2F7775"/>
                </a:solidFill>
                <a:latin typeface="Aptos"/>
              </a:defRPr>
            </a:pPr>
            <a:r>
              <a:t>Canonicalize</a:t>
            </a:r>
          </a:p>
        </p:txBody>
      </p:sp>
      <p:sp>
        <p:nvSpPr>
          <p:cNvPr id="11" name="TextBox 10"/>
          <p:cNvSpPr txBox="1"/>
          <p:nvPr/>
        </p:nvSpPr>
        <p:spPr>
          <a:xfrm>
            <a:off x="1188720" y="3639312"/>
            <a:ext cx="2889504" cy="758952"/>
          </a:xfrm>
          <a:prstGeom prst="rect">
            <a:avLst/>
          </a:prstGeom>
          <a:noFill/>
        </p:spPr>
        <p:txBody>
          <a:bodyPr wrap="square" lIns="73152" rIns="73152" tIns="73152" bIns="73152">
            <a:spAutoFit/>
          </a:bodyPr>
          <a:lstStyle/>
          <a:p>
            <a:pPr algn="l">
              <a:defRPr sz="1300" b="0">
                <a:solidFill>
                  <a:srgbClr val="203338"/>
                </a:solidFill>
                <a:latin typeface="Aptos"/>
              </a:defRPr>
            </a:pPr>
            <a:r>
              <a:t>same event set</a:t>
            </a:r>
          </a:p>
        </p:txBody>
      </p:sp>
      <p:cxnSp>
        <p:nvCxnSpPr>
          <p:cNvPr id="12" name="Connector 11"/>
          <p:cNvCxnSpPr/>
          <p:nvPr/>
        </p:nvCxnSpPr>
        <p:spPr>
          <a:xfrm>
            <a:off x="4224528" y="3794760"/>
            <a:ext cx="438912"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54879" y="3154680"/>
            <a:ext cx="3200400" cy="13258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79" y="3154680"/>
            <a:ext cx="82296" cy="132588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59" y="3264408"/>
            <a:ext cx="2907792" cy="320040"/>
          </a:xfrm>
          <a:prstGeom prst="rect">
            <a:avLst/>
          </a:prstGeom>
          <a:noFill/>
        </p:spPr>
        <p:txBody>
          <a:bodyPr wrap="square" lIns="73152" rIns="73152" tIns="73152" bIns="73152">
            <a:spAutoFit/>
          </a:bodyPr>
          <a:lstStyle/>
          <a:p>
            <a:pPr algn="l">
              <a:defRPr sz="1500" b="1">
                <a:solidFill>
                  <a:srgbClr val="E8B65A"/>
                </a:solidFill>
                <a:latin typeface="Aptos"/>
              </a:defRPr>
            </a:pPr>
            <a:r>
              <a:t>Resolve</a:t>
            </a:r>
          </a:p>
        </p:txBody>
      </p:sp>
      <p:sp>
        <p:nvSpPr>
          <p:cNvPr id="16" name="TextBox 15"/>
          <p:cNvSpPr txBox="1"/>
          <p:nvPr/>
        </p:nvSpPr>
        <p:spPr>
          <a:xfrm>
            <a:off x="4937759" y="3639312"/>
            <a:ext cx="2889504" cy="758952"/>
          </a:xfrm>
          <a:prstGeom prst="rect">
            <a:avLst/>
          </a:prstGeom>
          <a:noFill/>
        </p:spPr>
        <p:txBody>
          <a:bodyPr wrap="square" lIns="73152" rIns="73152" tIns="73152" bIns="73152">
            <a:spAutoFit/>
          </a:bodyPr>
          <a:lstStyle/>
          <a:p>
            <a:pPr algn="l">
              <a:defRPr sz="1300" b="0">
                <a:solidFill>
                  <a:srgbClr val="203338"/>
                </a:solidFill>
                <a:latin typeface="Aptos"/>
              </a:defRPr>
            </a:pPr>
            <a:r>
              <a:t>pure deterministic function</a:t>
            </a:r>
          </a:p>
        </p:txBody>
      </p:sp>
      <p:cxnSp>
        <p:nvCxnSpPr>
          <p:cNvPr id="17" name="Connector 16"/>
          <p:cNvCxnSpPr/>
          <p:nvPr/>
        </p:nvCxnSpPr>
        <p:spPr>
          <a:xfrm>
            <a:off x="7973567" y="3794760"/>
            <a:ext cx="438913"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503919" y="3154680"/>
            <a:ext cx="3200400" cy="13258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03919" y="3154680"/>
            <a:ext cx="82296" cy="132588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799" y="3264408"/>
            <a:ext cx="2907792" cy="320040"/>
          </a:xfrm>
          <a:prstGeom prst="rect">
            <a:avLst/>
          </a:prstGeom>
          <a:noFill/>
        </p:spPr>
        <p:txBody>
          <a:bodyPr wrap="square" lIns="73152" rIns="73152" tIns="73152" bIns="73152">
            <a:spAutoFit/>
          </a:bodyPr>
          <a:lstStyle/>
          <a:p>
            <a:pPr algn="l">
              <a:defRPr sz="1500" b="1">
                <a:solidFill>
                  <a:srgbClr val="D97862"/>
                </a:solidFill>
                <a:latin typeface="Aptos"/>
              </a:defRPr>
            </a:pPr>
            <a:r>
              <a:t>Project</a:t>
            </a:r>
          </a:p>
        </p:txBody>
      </p:sp>
      <p:sp>
        <p:nvSpPr>
          <p:cNvPr id="21" name="TextBox 20"/>
          <p:cNvSpPr txBox="1"/>
          <p:nvPr/>
        </p:nvSpPr>
        <p:spPr>
          <a:xfrm>
            <a:off x="8686799" y="3639312"/>
            <a:ext cx="2889504" cy="758952"/>
          </a:xfrm>
          <a:prstGeom prst="rect">
            <a:avLst/>
          </a:prstGeom>
          <a:noFill/>
        </p:spPr>
        <p:txBody>
          <a:bodyPr wrap="square" lIns="73152" rIns="73152" tIns="73152" bIns="73152">
            <a:spAutoFit/>
          </a:bodyPr>
          <a:lstStyle/>
          <a:p>
            <a:pPr algn="l">
              <a:defRPr sz="1300" b="0">
                <a:solidFill>
                  <a:srgbClr val="203338"/>
                </a:solidFill>
                <a:latin typeface="Aptos"/>
              </a:defRPr>
            </a:pPr>
            <a:r>
              <a:t>same value or UNRESOLVED</a:t>
            </a:r>
          </a:p>
        </p:txBody>
      </p:sp>
      <p:sp>
        <p:nvSpPr>
          <p:cNvPr id="22" name="Rounded Rectangle 21"/>
          <p:cNvSpPr/>
          <p:nvPr/>
        </p:nvSpPr>
        <p:spPr>
          <a:xfrm>
            <a:off x="1828800" y="5120640"/>
            <a:ext cx="8549640" cy="713232"/>
          </a:xfrm>
          <a:prstGeom prst="roundRect">
            <a:avLst/>
          </a:prstGeom>
          <a:solidFill>
            <a:srgbClr val="FCE2DA"/>
          </a:solidFill>
          <a:ln>
            <a:solidFill>
              <a:srgbClr val="FC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0" y="5303520"/>
            <a:ext cx="8183879" cy="320040"/>
          </a:xfrm>
          <a:prstGeom prst="rect">
            <a:avLst/>
          </a:prstGeom>
          <a:noFill/>
        </p:spPr>
        <p:txBody>
          <a:bodyPr wrap="square" lIns="73152" rIns="73152" tIns="73152" bIns="73152">
            <a:spAutoFit/>
          </a:bodyPr>
          <a:lstStyle/>
          <a:p>
            <a:pPr algn="ctr">
              <a:defRPr sz="1200" b="1">
                <a:solidFill>
                  <a:srgbClr val="A84F48"/>
                </a:solidFill>
                <a:latin typeface="Aptos"/>
              </a:defRPr>
            </a:pPr>
            <a:r>
              <a:t>Open proof obligations: canonical inputs · tie rules · deterministic Verify · exact meaning of “state”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Prior work narrows broad claims</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822960" y="1280160"/>
            <a:ext cx="10561320" cy="713232"/>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280160"/>
            <a:ext cx="91440" cy="713232"/>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371600"/>
            <a:ext cx="2468880" cy="274320"/>
          </a:xfrm>
          <a:prstGeom prst="rect">
            <a:avLst/>
          </a:prstGeom>
          <a:noFill/>
        </p:spPr>
        <p:txBody>
          <a:bodyPr wrap="square" lIns="73152" rIns="73152" tIns="73152" bIns="73152">
            <a:spAutoFit/>
          </a:bodyPr>
          <a:lstStyle/>
          <a:p>
            <a:pPr algn="l">
              <a:defRPr sz="1200" b="1">
                <a:solidFill>
                  <a:srgbClr val="173B43"/>
                </a:solidFill>
                <a:latin typeface="Aptos"/>
              </a:defRPr>
            </a:pPr>
            <a:r>
              <a:t>Pair relations / false merges</a:t>
            </a:r>
          </a:p>
        </p:txBody>
      </p:sp>
      <p:sp>
        <p:nvSpPr>
          <p:cNvPr id="9" name="TextBox 8"/>
          <p:cNvSpPr txBox="1"/>
          <p:nvPr/>
        </p:nvSpPr>
        <p:spPr>
          <a:xfrm>
            <a:off x="3657600" y="1371600"/>
            <a:ext cx="2468880" cy="274320"/>
          </a:xfrm>
          <a:prstGeom prst="rect">
            <a:avLst/>
          </a:prstGeom>
          <a:noFill/>
        </p:spPr>
        <p:txBody>
          <a:bodyPr wrap="square" lIns="73152" rIns="73152" tIns="73152" bIns="73152">
            <a:spAutoFit/>
          </a:bodyPr>
          <a:lstStyle/>
          <a:p>
            <a:pPr algn="l">
              <a:defRPr sz="1200" b="1">
                <a:solidFill>
                  <a:srgbClr val="2F7775"/>
                </a:solidFill>
                <a:latin typeface="Aptos"/>
              </a:defRPr>
            </a:pPr>
            <a:r>
              <a:t>MELD</a:t>
            </a:r>
          </a:p>
        </p:txBody>
      </p:sp>
      <p:sp>
        <p:nvSpPr>
          <p:cNvPr id="10" name="TextBox 9"/>
          <p:cNvSpPr txBox="1"/>
          <p:nvPr/>
        </p:nvSpPr>
        <p:spPr>
          <a:xfrm>
            <a:off x="6400800" y="1371600"/>
            <a:ext cx="4572000" cy="411480"/>
          </a:xfrm>
          <a:prstGeom prst="rect">
            <a:avLst/>
          </a:prstGeom>
          <a:noFill/>
        </p:spPr>
        <p:txBody>
          <a:bodyPr wrap="square" lIns="73152" rIns="73152" tIns="73152" bIns="73152">
            <a:spAutoFit/>
          </a:bodyPr>
          <a:lstStyle/>
          <a:p>
            <a:pPr algn="l">
              <a:defRPr sz="1100" b="0">
                <a:solidFill>
                  <a:srgbClr val="203338"/>
                </a:solidFill>
                <a:latin typeface="Aptos"/>
              </a:defRPr>
            </a:pPr>
            <a:r>
              <a:t>104 pairs; distinct keys</a:t>
            </a:r>
          </a:p>
        </p:txBody>
      </p:sp>
      <p:sp>
        <p:nvSpPr>
          <p:cNvPr id="11" name="Rounded Rectangle 10"/>
          <p:cNvSpPr/>
          <p:nvPr/>
        </p:nvSpPr>
        <p:spPr>
          <a:xfrm>
            <a:off x="822960" y="2194560"/>
            <a:ext cx="10561320" cy="713232"/>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194560"/>
            <a:ext cx="91440" cy="713232"/>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286000"/>
            <a:ext cx="2468880" cy="274320"/>
          </a:xfrm>
          <a:prstGeom prst="rect">
            <a:avLst/>
          </a:prstGeom>
          <a:noFill/>
        </p:spPr>
        <p:txBody>
          <a:bodyPr wrap="square" lIns="73152" rIns="73152" tIns="73152" bIns="73152">
            <a:spAutoFit/>
          </a:bodyPr>
          <a:lstStyle/>
          <a:p>
            <a:pPr algn="l">
              <a:defRPr sz="1200" b="1">
                <a:solidFill>
                  <a:srgbClr val="173B43"/>
                </a:solidFill>
                <a:latin typeface="Aptos"/>
              </a:defRPr>
            </a:pPr>
            <a:r>
              <a:t>Conflict-preserving state</a:t>
            </a:r>
          </a:p>
        </p:txBody>
      </p:sp>
      <p:sp>
        <p:nvSpPr>
          <p:cNvPr id="14" name="TextBox 13"/>
          <p:cNvSpPr txBox="1"/>
          <p:nvPr/>
        </p:nvSpPr>
        <p:spPr>
          <a:xfrm>
            <a:off x="3657600" y="2286000"/>
            <a:ext cx="2468880" cy="274320"/>
          </a:xfrm>
          <a:prstGeom prst="rect">
            <a:avLst/>
          </a:prstGeom>
          <a:noFill/>
        </p:spPr>
        <p:txBody>
          <a:bodyPr wrap="square" lIns="73152" rIns="73152" tIns="73152" bIns="73152">
            <a:spAutoFit/>
          </a:bodyPr>
          <a:lstStyle/>
          <a:p>
            <a:pPr algn="l">
              <a:defRPr sz="1200" b="1">
                <a:solidFill>
                  <a:srgbClr val="D97862"/>
                </a:solidFill>
                <a:latin typeface="Aptos"/>
              </a:defRPr>
            </a:pPr>
            <a:r>
              <a:t>StateFuse · TOKI</a:t>
            </a:r>
          </a:p>
        </p:txBody>
      </p:sp>
      <p:sp>
        <p:nvSpPr>
          <p:cNvPr id="15" name="TextBox 14"/>
          <p:cNvSpPr txBox="1"/>
          <p:nvPr/>
        </p:nvSpPr>
        <p:spPr>
          <a:xfrm>
            <a:off x="6400800" y="2286000"/>
            <a:ext cx="4572000" cy="411480"/>
          </a:xfrm>
          <a:prstGeom prst="rect">
            <a:avLst/>
          </a:prstGeom>
          <a:noFill/>
        </p:spPr>
        <p:txBody>
          <a:bodyPr wrap="square" lIns="73152" rIns="73152" tIns="73152" bIns="73152">
            <a:spAutoFit/>
          </a:bodyPr>
          <a:lstStyle/>
          <a:p>
            <a:pPr algn="l">
              <a:defRPr sz="1100" b="0">
                <a:solidFill>
                  <a:srgbClr val="203338"/>
                </a:solidFill>
                <a:latin typeface="Aptos"/>
              </a:defRPr>
            </a:pPr>
            <a:r>
              <a:t>history, provenance, projection, abstention</a:t>
            </a:r>
          </a:p>
        </p:txBody>
      </p:sp>
      <p:sp>
        <p:nvSpPr>
          <p:cNvPr id="16" name="Rounded Rectangle 15"/>
          <p:cNvSpPr/>
          <p:nvPr/>
        </p:nvSpPr>
        <p:spPr>
          <a:xfrm>
            <a:off x="822960" y="3108960"/>
            <a:ext cx="10561320" cy="713232"/>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108960"/>
            <a:ext cx="91440" cy="713232"/>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200400"/>
            <a:ext cx="2468880" cy="274320"/>
          </a:xfrm>
          <a:prstGeom prst="rect">
            <a:avLst/>
          </a:prstGeom>
          <a:noFill/>
        </p:spPr>
        <p:txBody>
          <a:bodyPr wrap="square" lIns="73152" rIns="73152" tIns="73152" bIns="73152">
            <a:spAutoFit/>
          </a:bodyPr>
          <a:lstStyle/>
          <a:p>
            <a:pPr algn="l">
              <a:defRPr sz="1200" b="1">
                <a:solidFill>
                  <a:srgbClr val="173B43"/>
                </a:solidFill>
                <a:latin typeface="Aptos"/>
              </a:defRPr>
            </a:pPr>
            <a:r>
              <a:t>Long-history relational QA</a:t>
            </a:r>
          </a:p>
        </p:txBody>
      </p:sp>
      <p:sp>
        <p:nvSpPr>
          <p:cNvPr id="19" name="TextBox 18"/>
          <p:cNvSpPr txBox="1"/>
          <p:nvPr/>
        </p:nvSpPr>
        <p:spPr>
          <a:xfrm>
            <a:off x="3657600" y="3200400"/>
            <a:ext cx="2468880" cy="274320"/>
          </a:xfrm>
          <a:prstGeom prst="rect">
            <a:avLst/>
          </a:prstGeom>
          <a:noFill/>
        </p:spPr>
        <p:txBody>
          <a:bodyPr wrap="square" lIns="73152" rIns="73152" tIns="73152" bIns="73152">
            <a:spAutoFit/>
          </a:bodyPr>
          <a:lstStyle/>
          <a:p>
            <a:pPr algn="l">
              <a:defRPr sz="1200" b="1">
                <a:solidFill>
                  <a:srgbClr val="E8B65A"/>
                </a:solidFill>
                <a:latin typeface="Aptos"/>
              </a:defRPr>
            </a:pPr>
            <a:r>
              <a:t>SubtleMemory · TANGLE · STALE</a:t>
            </a:r>
          </a:p>
        </p:txBody>
      </p:sp>
      <p:sp>
        <p:nvSpPr>
          <p:cNvPr id="20" name="TextBox 19"/>
          <p:cNvSpPr txBox="1"/>
          <p:nvPr/>
        </p:nvSpPr>
        <p:spPr>
          <a:xfrm>
            <a:off x="6400800" y="3200400"/>
            <a:ext cx="4572000" cy="411480"/>
          </a:xfrm>
          <a:prstGeom prst="rect">
            <a:avLst/>
          </a:prstGeom>
          <a:noFill/>
        </p:spPr>
        <p:txBody>
          <a:bodyPr wrap="square" lIns="73152" rIns="73152" tIns="73152" bIns="73152">
            <a:spAutoFit/>
          </a:bodyPr>
          <a:lstStyle/>
          <a:p>
            <a:pPr algn="l">
              <a:defRPr sz="1100" b="0">
                <a:solidFill>
                  <a:srgbClr val="203338"/>
                </a:solidFill>
                <a:latin typeface="Aptos"/>
              </a:defRPr>
            </a:pPr>
            <a:r>
              <a:t>downstream memory tasks</a:t>
            </a:r>
          </a:p>
        </p:txBody>
      </p:sp>
      <p:sp>
        <p:nvSpPr>
          <p:cNvPr id="21" name="Rounded Rectangle 20"/>
          <p:cNvSpPr/>
          <p:nvPr/>
        </p:nvSpPr>
        <p:spPr>
          <a:xfrm>
            <a:off x="822960" y="4023360"/>
            <a:ext cx="10561320" cy="713232"/>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023360"/>
            <a:ext cx="91440" cy="713232"/>
          </a:xfrm>
          <a:prstGeom prst="rect">
            <a:avLst/>
          </a:prstGeom>
          <a:solidFill>
            <a:srgbClr val="9CB79B"/>
          </a:solidFill>
          <a:ln>
            <a:solidFill>
              <a:srgbClr val="9CB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114800"/>
            <a:ext cx="2468880" cy="274320"/>
          </a:xfrm>
          <a:prstGeom prst="rect">
            <a:avLst/>
          </a:prstGeom>
          <a:noFill/>
        </p:spPr>
        <p:txBody>
          <a:bodyPr wrap="square" lIns="73152" rIns="73152" tIns="73152" bIns="73152">
            <a:spAutoFit/>
          </a:bodyPr>
          <a:lstStyle/>
          <a:p>
            <a:pPr algn="l">
              <a:defRPr sz="1200" b="1">
                <a:solidFill>
                  <a:srgbClr val="173B43"/>
                </a:solidFill>
                <a:latin typeface="Aptos"/>
              </a:defRPr>
            </a:pPr>
            <a:r>
              <a:t>Coordination / governance</a:t>
            </a:r>
          </a:p>
        </p:txBody>
      </p:sp>
      <p:sp>
        <p:nvSpPr>
          <p:cNvPr id="24" name="TextBox 23"/>
          <p:cNvSpPr txBox="1"/>
          <p:nvPr/>
        </p:nvSpPr>
        <p:spPr>
          <a:xfrm>
            <a:off x="3657600" y="4114800"/>
            <a:ext cx="2468880" cy="274320"/>
          </a:xfrm>
          <a:prstGeom prst="rect">
            <a:avLst/>
          </a:prstGeom>
          <a:noFill/>
        </p:spPr>
        <p:txBody>
          <a:bodyPr wrap="square" lIns="73152" rIns="73152" tIns="73152" bIns="73152">
            <a:spAutoFit/>
          </a:bodyPr>
          <a:lstStyle/>
          <a:p>
            <a:pPr algn="l">
              <a:defRPr sz="1200" b="1">
                <a:solidFill>
                  <a:srgbClr val="9CB79B"/>
                </a:solidFill>
                <a:latin typeface="Aptos"/>
              </a:defRPr>
            </a:pPr>
            <a:r>
              <a:t>S-Bus · Governed Shared Memory</a:t>
            </a:r>
          </a:p>
        </p:txBody>
      </p:sp>
      <p:sp>
        <p:nvSpPr>
          <p:cNvPr id="25" name="TextBox 24"/>
          <p:cNvSpPr txBox="1"/>
          <p:nvPr/>
        </p:nvSpPr>
        <p:spPr>
          <a:xfrm>
            <a:off x="6400800" y="4114800"/>
            <a:ext cx="4572000" cy="411480"/>
          </a:xfrm>
          <a:prstGeom prst="rect">
            <a:avLst/>
          </a:prstGeom>
          <a:noFill/>
        </p:spPr>
        <p:txBody>
          <a:bodyPr wrap="square" lIns="73152" rIns="73152" tIns="73152" bIns="73152">
            <a:spAutoFit/>
          </a:bodyPr>
          <a:lstStyle/>
          <a:p>
            <a:pPr algn="l">
              <a:defRPr sz="1100" b="0">
                <a:solidFill>
                  <a:srgbClr val="203338"/>
                </a:solidFill>
                <a:latin typeface="Aptos"/>
              </a:defRPr>
            </a:pPr>
            <a:r>
              <a:t>structural concurrency / supersession</a:t>
            </a:r>
          </a:p>
        </p:txBody>
      </p:sp>
      <p:sp>
        <p:nvSpPr>
          <p:cNvPr id="26" name="Rounded Rectangle 25"/>
          <p:cNvSpPr/>
          <p:nvPr/>
        </p:nvSpPr>
        <p:spPr>
          <a:xfrm>
            <a:off x="822960" y="4937760"/>
            <a:ext cx="10561320" cy="713232"/>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4937760"/>
            <a:ext cx="91440" cy="713232"/>
          </a:xfrm>
          <a:prstGeom prst="rect">
            <a:avLst/>
          </a:prstGeom>
          <a:solidFill>
            <a:srgbClr val="7286A3"/>
          </a:solidFill>
          <a:ln>
            <a:solidFill>
              <a:srgbClr val="7286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029200"/>
            <a:ext cx="2468880" cy="274320"/>
          </a:xfrm>
          <a:prstGeom prst="rect">
            <a:avLst/>
          </a:prstGeom>
          <a:noFill/>
        </p:spPr>
        <p:txBody>
          <a:bodyPr wrap="square" lIns="73152" rIns="73152" tIns="73152" bIns="73152">
            <a:spAutoFit/>
          </a:bodyPr>
          <a:lstStyle/>
          <a:p>
            <a:pPr algn="l">
              <a:defRPr sz="1200" b="1">
                <a:solidFill>
                  <a:srgbClr val="173B43"/>
                </a:solidFill>
                <a:latin typeface="Aptos"/>
              </a:defRPr>
            </a:pPr>
            <a:r>
              <a:t>NLI / evidence pairs</a:t>
            </a:r>
          </a:p>
        </p:txBody>
      </p:sp>
      <p:sp>
        <p:nvSpPr>
          <p:cNvPr id="29" name="TextBox 28"/>
          <p:cNvSpPr txBox="1"/>
          <p:nvPr/>
        </p:nvSpPr>
        <p:spPr>
          <a:xfrm>
            <a:off x="3657600" y="5029200"/>
            <a:ext cx="2468880" cy="274320"/>
          </a:xfrm>
          <a:prstGeom prst="rect">
            <a:avLst/>
          </a:prstGeom>
          <a:noFill/>
        </p:spPr>
        <p:txBody>
          <a:bodyPr wrap="square" lIns="73152" rIns="73152" tIns="73152" bIns="73152">
            <a:spAutoFit/>
          </a:bodyPr>
          <a:lstStyle/>
          <a:p>
            <a:pPr algn="l">
              <a:defRPr sz="1200" b="1">
                <a:solidFill>
                  <a:srgbClr val="7286A3"/>
                </a:solidFill>
                <a:latin typeface="Aptos"/>
              </a:defRPr>
            </a:pPr>
            <a:r>
              <a:t>ECon · RefNLI · ANLI</a:t>
            </a:r>
          </a:p>
        </p:txBody>
      </p:sp>
      <p:sp>
        <p:nvSpPr>
          <p:cNvPr id="30" name="TextBox 29"/>
          <p:cNvSpPr txBox="1"/>
          <p:nvPr/>
        </p:nvSpPr>
        <p:spPr>
          <a:xfrm>
            <a:off x="6400800" y="5029200"/>
            <a:ext cx="4572000" cy="411480"/>
          </a:xfrm>
          <a:prstGeom prst="rect">
            <a:avLst/>
          </a:prstGeom>
          <a:noFill/>
        </p:spPr>
        <p:txBody>
          <a:bodyPr wrap="square" lIns="73152" rIns="73152" tIns="73152" bIns="73152">
            <a:spAutoFit/>
          </a:bodyPr>
          <a:lstStyle/>
          <a:p>
            <a:pPr algn="l">
              <a:defRPr sz="1100" b="0">
                <a:solidFill>
                  <a:srgbClr val="203338"/>
                </a:solidFill>
                <a:latin typeface="Aptos"/>
              </a:defRPr>
            </a:pPr>
            <a:r>
              <a:t>adjacent pair reasoning; different setup</a:t>
            </a:r>
          </a:p>
        </p:txBody>
      </p:sp>
      <p:pic>
        <p:nvPicPr>
          <p:cNvPr id="31" name="Picture 30" descr="fox.png"/>
          <p:cNvPicPr>
            <a:picLocks noChangeAspect="1"/>
          </p:cNvPicPr>
          <p:nvPr/>
        </p:nvPicPr>
        <p:blipFill>
          <a:blip r:embed="rId2"/>
          <a:stretch>
            <a:fillRect/>
          </a:stretch>
        </p:blipFill>
        <p:spPr>
          <a:xfrm>
            <a:off x="10652760" y="5715000"/>
            <a:ext cx="457200" cy="457200"/>
          </a:xfrm>
          <a:prstGeom prst="rect">
            <a:avLst/>
          </a:prstGeom>
        </p:spPr>
      </p:pic>
      <p:sp>
        <p:nvSpPr>
          <p:cNvPr id="32" name="TextBox 31"/>
          <p:cNvSpPr txBox="1"/>
          <p:nvPr/>
        </p:nvSpPr>
        <p:spPr>
          <a:xfrm>
            <a:off x="1051560" y="5788152"/>
            <a:ext cx="9144000" cy="310896"/>
          </a:xfrm>
          <a:prstGeom prst="rect">
            <a:avLst/>
          </a:prstGeom>
          <a:noFill/>
        </p:spPr>
        <p:txBody>
          <a:bodyPr wrap="square" lIns="73152" rIns="73152" tIns="73152" bIns="73152">
            <a:spAutoFit/>
          </a:bodyPr>
          <a:lstStyle/>
          <a:p>
            <a:pPr algn="ctr">
              <a:defRPr sz="1100" b="1">
                <a:solidFill>
                  <a:srgbClr val="A84F48"/>
                </a:solidFill>
                <a:latin typeface="Aptos"/>
              </a:defRPr>
            </a:pPr>
            <a:r>
              <a:t>Interpretation: substantial overlap exists; novelty remains unresolved pending full source-wide verification.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State the literature numbers with their caveats</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822960" y="1508760"/>
            <a:ext cx="4983480" cy="123444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508760"/>
            <a:ext cx="82296" cy="123444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18488"/>
            <a:ext cx="4690872" cy="320040"/>
          </a:xfrm>
          <a:prstGeom prst="rect">
            <a:avLst/>
          </a:prstGeom>
          <a:noFill/>
        </p:spPr>
        <p:txBody>
          <a:bodyPr wrap="square" lIns="73152" rIns="73152" tIns="73152" bIns="73152">
            <a:spAutoFit/>
          </a:bodyPr>
          <a:lstStyle/>
          <a:p>
            <a:pPr algn="l">
              <a:defRPr sz="1500" b="1">
                <a:solidFill>
                  <a:srgbClr val="2F7775"/>
                </a:solidFill>
                <a:latin typeface="Aptos"/>
              </a:defRPr>
            </a:pPr>
            <a:r>
              <a:t>MELD</a:t>
            </a:r>
          </a:p>
        </p:txBody>
      </p:sp>
      <p:sp>
        <p:nvSpPr>
          <p:cNvPr id="9" name="TextBox 8"/>
          <p:cNvSpPr txBox="1"/>
          <p:nvPr/>
        </p:nvSpPr>
        <p:spPr>
          <a:xfrm>
            <a:off x="1005840" y="1993391"/>
            <a:ext cx="4672584" cy="667512"/>
          </a:xfrm>
          <a:prstGeom prst="rect">
            <a:avLst/>
          </a:prstGeom>
          <a:noFill/>
        </p:spPr>
        <p:txBody>
          <a:bodyPr wrap="square" lIns="73152" rIns="73152" tIns="73152" bIns="73152">
            <a:spAutoFit/>
          </a:bodyPr>
          <a:lstStyle/>
          <a:p>
            <a:pPr algn="l">
              <a:defRPr sz="1400" b="0">
                <a:solidFill>
                  <a:srgbClr val="203338"/>
                </a:solidFill>
                <a:latin typeface="Aptos"/>
              </a:defRPr>
            </a:pPr>
            <a:r>
              <a:t>104-pair set uses distinct claim keys</a:t>
            </a:r>
          </a:p>
        </p:txBody>
      </p:sp>
      <p:sp>
        <p:nvSpPr>
          <p:cNvPr id="10" name="Rounded Rectangle 9"/>
          <p:cNvSpPr/>
          <p:nvPr/>
        </p:nvSpPr>
        <p:spPr>
          <a:xfrm>
            <a:off x="6309360" y="1508760"/>
            <a:ext cx="4983480" cy="123444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508760"/>
            <a:ext cx="82296" cy="123444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18488"/>
            <a:ext cx="4690872" cy="320040"/>
          </a:xfrm>
          <a:prstGeom prst="rect">
            <a:avLst/>
          </a:prstGeom>
          <a:noFill/>
        </p:spPr>
        <p:txBody>
          <a:bodyPr wrap="square" lIns="73152" rIns="73152" tIns="73152" bIns="73152">
            <a:spAutoFit/>
          </a:bodyPr>
          <a:lstStyle/>
          <a:p>
            <a:pPr algn="l">
              <a:defRPr sz="1500" b="1">
                <a:solidFill>
                  <a:srgbClr val="D97862"/>
                </a:solidFill>
                <a:latin typeface="Aptos"/>
              </a:defRPr>
            </a:pPr>
            <a:r>
              <a:t>CodeCRDT</a:t>
            </a:r>
          </a:p>
        </p:txBody>
      </p:sp>
      <p:sp>
        <p:nvSpPr>
          <p:cNvPr id="13" name="TextBox 12"/>
          <p:cNvSpPr txBox="1"/>
          <p:nvPr/>
        </p:nvSpPr>
        <p:spPr>
          <a:xfrm>
            <a:off x="6492240" y="1993391"/>
            <a:ext cx="4672584" cy="667512"/>
          </a:xfrm>
          <a:prstGeom prst="rect">
            <a:avLst/>
          </a:prstGeom>
          <a:noFill/>
        </p:spPr>
        <p:txBody>
          <a:bodyPr wrap="square" lIns="73152" rIns="73152" tIns="73152" bIns="73152">
            <a:spAutoFit/>
          </a:bodyPr>
          <a:lstStyle/>
          <a:p>
            <a:pPr algn="l">
              <a:defRPr sz="1400" b="0">
                <a:solidFill>
                  <a:srgbClr val="203338"/>
                </a:solidFill>
                <a:latin typeface="Aptos"/>
              </a:defRPr>
            </a:pPr>
            <a:r>
              <a:t>5–10% from manual 60/600 sample</a:t>
            </a:r>
          </a:p>
        </p:txBody>
      </p:sp>
      <p:sp>
        <p:nvSpPr>
          <p:cNvPr id="14" name="Rounded Rectangle 13"/>
          <p:cNvSpPr/>
          <p:nvPr/>
        </p:nvSpPr>
        <p:spPr>
          <a:xfrm>
            <a:off x="822960" y="3108960"/>
            <a:ext cx="4983480" cy="123444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108960"/>
            <a:ext cx="82296" cy="123444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218688"/>
            <a:ext cx="4690872" cy="320040"/>
          </a:xfrm>
          <a:prstGeom prst="rect">
            <a:avLst/>
          </a:prstGeom>
          <a:noFill/>
        </p:spPr>
        <p:txBody>
          <a:bodyPr wrap="square" lIns="73152" rIns="73152" tIns="73152" bIns="73152">
            <a:spAutoFit/>
          </a:bodyPr>
          <a:lstStyle/>
          <a:p>
            <a:pPr algn="l">
              <a:defRPr sz="1500" b="1">
                <a:solidFill>
                  <a:srgbClr val="E8B65A"/>
                </a:solidFill>
                <a:latin typeface="Aptos"/>
              </a:defRPr>
            </a:pPr>
            <a:r>
              <a:t>SCF</a:t>
            </a:r>
          </a:p>
        </p:txBody>
      </p:sp>
      <p:sp>
        <p:nvSpPr>
          <p:cNvPr id="17" name="TextBox 16"/>
          <p:cNvSpPr txBox="1"/>
          <p:nvPr/>
        </p:nvSpPr>
        <p:spPr>
          <a:xfrm>
            <a:off x="1005840" y="3593591"/>
            <a:ext cx="4672584" cy="667512"/>
          </a:xfrm>
          <a:prstGeom prst="rect">
            <a:avLst/>
          </a:prstGeom>
          <a:noFill/>
        </p:spPr>
        <p:txBody>
          <a:bodyPr wrap="square" lIns="73152" rIns="73152" tIns="73152" bIns="73152">
            <a:spAutoFit/>
          </a:bodyPr>
          <a:lstStyle/>
          <a:p>
            <a:pPr algn="l">
              <a:defRPr sz="1400" b="0">
                <a:solidFill>
                  <a:srgbClr val="203338"/>
                </a:solidFill>
                <a:latin typeface="Aptos"/>
              </a:defRPr>
            </a:pPr>
            <a:r>
              <a:t>27.9% precision · 65.2% recall · F1 39.0</a:t>
            </a:r>
          </a:p>
        </p:txBody>
      </p:sp>
      <p:sp>
        <p:nvSpPr>
          <p:cNvPr id="18" name="Rounded Rectangle 17"/>
          <p:cNvSpPr/>
          <p:nvPr/>
        </p:nvSpPr>
        <p:spPr>
          <a:xfrm>
            <a:off x="6309360" y="3108960"/>
            <a:ext cx="4983480" cy="123444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3108960"/>
            <a:ext cx="82296" cy="1234440"/>
          </a:xfrm>
          <a:prstGeom prst="rect">
            <a:avLst/>
          </a:prstGeom>
          <a:solidFill>
            <a:srgbClr val="7286A3"/>
          </a:solidFill>
          <a:ln>
            <a:solidFill>
              <a:srgbClr val="7286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218688"/>
            <a:ext cx="4690872" cy="320040"/>
          </a:xfrm>
          <a:prstGeom prst="rect">
            <a:avLst/>
          </a:prstGeom>
          <a:noFill/>
        </p:spPr>
        <p:txBody>
          <a:bodyPr wrap="square" lIns="73152" rIns="73152" tIns="73152" bIns="73152">
            <a:spAutoFit/>
          </a:bodyPr>
          <a:lstStyle/>
          <a:p>
            <a:pPr algn="l">
              <a:defRPr sz="1500" b="1">
                <a:solidFill>
                  <a:srgbClr val="7286A3"/>
                </a:solidFill>
                <a:latin typeface="Aptos"/>
              </a:defRPr>
            </a:pPr>
            <a:r>
              <a:t>Freshness pipeline</a:t>
            </a:r>
          </a:p>
        </p:txBody>
      </p:sp>
      <p:sp>
        <p:nvSpPr>
          <p:cNvPr id="21" name="TextBox 20"/>
          <p:cNvSpPr txBox="1"/>
          <p:nvPr/>
        </p:nvSpPr>
        <p:spPr>
          <a:xfrm>
            <a:off x="6492240" y="3593591"/>
            <a:ext cx="4672584" cy="667512"/>
          </a:xfrm>
          <a:prstGeom prst="rect">
            <a:avLst/>
          </a:prstGeom>
          <a:noFill/>
        </p:spPr>
        <p:txBody>
          <a:bodyPr wrap="square" lIns="73152" rIns="73152" tIns="73152" bIns="73152">
            <a:spAutoFit/>
          </a:bodyPr>
          <a:lstStyle/>
          <a:p>
            <a:pPr algn="l">
              <a:defRPr sz="1400" b="0">
                <a:solidFill>
                  <a:srgbClr val="203338"/>
                </a:solidFill>
                <a:latin typeface="Aptos"/>
              </a:defRPr>
            </a:pPr>
            <a:r>
              <a:t>+10.8 / +21 pp are whole-pipeline; executor-only +2 / 0</a:t>
            </a:r>
          </a:p>
        </p:txBody>
      </p:sp>
      <p:sp>
        <p:nvSpPr>
          <p:cNvPr id="22" name="Rounded Rectangle 21"/>
          <p:cNvSpPr/>
          <p:nvPr/>
        </p:nvSpPr>
        <p:spPr>
          <a:xfrm>
            <a:off x="2011680" y="5074920"/>
            <a:ext cx="8138160" cy="777240"/>
          </a:xfrm>
          <a:prstGeom prst="roundRect">
            <a:avLst/>
          </a:prstGeom>
          <a:solidFill>
            <a:srgbClr val="FCE2DA"/>
          </a:solidFill>
          <a:ln>
            <a:solidFill>
              <a:srgbClr val="FC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94560" y="5285232"/>
            <a:ext cx="7772400" cy="329184"/>
          </a:xfrm>
          <a:prstGeom prst="rect">
            <a:avLst/>
          </a:prstGeom>
          <a:noFill/>
        </p:spPr>
        <p:txBody>
          <a:bodyPr wrap="square" lIns="73152" rIns="73152" tIns="73152" bIns="73152">
            <a:spAutoFit/>
          </a:bodyPr>
          <a:lstStyle/>
          <a:p>
            <a:pPr algn="ctr">
              <a:defRPr sz="1400" b="1">
                <a:solidFill>
                  <a:srgbClr val="A84F48"/>
                </a:solidFill>
                <a:latin typeface="Aptos"/>
              </a:defRPr>
            </a:pPr>
            <a:r>
              <a:t>Partial findings challenge scope; they are not a final novelty verdict.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Key decisions before any build</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685800" y="1463040"/>
            <a:ext cx="3429000" cy="141732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63040"/>
            <a:ext cx="82296" cy="141732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72768"/>
            <a:ext cx="3136392" cy="320040"/>
          </a:xfrm>
          <a:prstGeom prst="rect">
            <a:avLst/>
          </a:prstGeom>
          <a:noFill/>
        </p:spPr>
        <p:txBody>
          <a:bodyPr wrap="square" lIns="73152" rIns="73152" tIns="73152" bIns="73152">
            <a:spAutoFit/>
          </a:bodyPr>
          <a:lstStyle/>
          <a:p>
            <a:pPr algn="l">
              <a:defRPr sz="1500" b="1">
                <a:solidFill>
                  <a:srgbClr val="2F7775"/>
                </a:solidFill>
                <a:latin typeface="Aptos"/>
              </a:defRPr>
            </a:pPr>
            <a:r>
              <a:t>Key schema</a:t>
            </a:r>
          </a:p>
        </p:txBody>
      </p:sp>
      <p:sp>
        <p:nvSpPr>
          <p:cNvPr id="9" name="TextBox 8"/>
          <p:cNvSpPr txBox="1"/>
          <p:nvPr/>
        </p:nvSpPr>
        <p:spPr>
          <a:xfrm>
            <a:off x="868680" y="1947672"/>
            <a:ext cx="3118104" cy="850392"/>
          </a:xfrm>
          <a:prstGeom prst="rect">
            <a:avLst/>
          </a:prstGeom>
          <a:noFill/>
        </p:spPr>
        <p:txBody>
          <a:bodyPr wrap="square" lIns="73152" rIns="73152" tIns="73152" bIns="73152">
            <a:spAutoFit/>
          </a:bodyPr>
          <a:lstStyle/>
          <a:p>
            <a:pPr algn="l">
              <a:defRPr sz="1200" b="0">
                <a:solidFill>
                  <a:srgbClr val="203338"/>
                </a:solidFill>
                <a:latin typeface="Aptos"/>
              </a:defRPr>
            </a:pPr>
            <a:r>
              <a:t>Cardinality, type, role, temporal scope</a:t>
            </a:r>
          </a:p>
        </p:txBody>
      </p:sp>
      <p:sp>
        <p:nvSpPr>
          <p:cNvPr id="10" name="Rounded Rectangle 9"/>
          <p:cNvSpPr/>
          <p:nvPr/>
        </p:nvSpPr>
        <p:spPr>
          <a:xfrm>
            <a:off x="4526280" y="1463040"/>
            <a:ext cx="3429000" cy="141732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1463040"/>
            <a:ext cx="82296" cy="141732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572768"/>
            <a:ext cx="3136392" cy="320040"/>
          </a:xfrm>
          <a:prstGeom prst="rect">
            <a:avLst/>
          </a:prstGeom>
          <a:noFill/>
        </p:spPr>
        <p:txBody>
          <a:bodyPr wrap="square" lIns="73152" rIns="73152" tIns="73152" bIns="73152">
            <a:spAutoFit/>
          </a:bodyPr>
          <a:lstStyle/>
          <a:p>
            <a:pPr algn="l">
              <a:defRPr sz="1500" b="1">
                <a:solidFill>
                  <a:srgbClr val="D97862"/>
                </a:solidFill>
                <a:latin typeface="Aptos"/>
              </a:defRPr>
            </a:pPr>
            <a:r>
              <a:t>Label guide</a:t>
            </a:r>
          </a:p>
        </p:txBody>
      </p:sp>
      <p:sp>
        <p:nvSpPr>
          <p:cNvPr id="13" name="TextBox 12"/>
          <p:cNvSpPr txBox="1"/>
          <p:nvPr/>
        </p:nvSpPr>
        <p:spPr>
          <a:xfrm>
            <a:off x="4709160" y="1947672"/>
            <a:ext cx="3118104" cy="850392"/>
          </a:xfrm>
          <a:prstGeom prst="rect">
            <a:avLst/>
          </a:prstGeom>
          <a:noFill/>
        </p:spPr>
        <p:txBody>
          <a:bodyPr wrap="square" lIns="73152" rIns="73152" tIns="73152" bIns="73152">
            <a:spAutoFit/>
          </a:bodyPr>
          <a:lstStyle/>
          <a:p>
            <a:pPr algn="l">
              <a:defRPr sz="1200" b="0">
                <a:solidFill>
                  <a:srgbClr val="203338"/>
                </a:solidFill>
                <a:latin typeface="Aptos"/>
              </a:defRPr>
            </a:pPr>
            <a:r>
              <a:t>Soft vs hard; pair vs context</a:t>
            </a:r>
          </a:p>
        </p:txBody>
      </p:sp>
      <p:sp>
        <p:nvSpPr>
          <p:cNvPr id="14" name="Rounded Rectangle 13"/>
          <p:cNvSpPr/>
          <p:nvPr/>
        </p:nvSpPr>
        <p:spPr>
          <a:xfrm>
            <a:off x="8366760" y="1463040"/>
            <a:ext cx="3429000" cy="141732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6760" y="1463040"/>
            <a:ext cx="82296" cy="141732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40" y="1572768"/>
            <a:ext cx="3136392" cy="320040"/>
          </a:xfrm>
          <a:prstGeom prst="rect">
            <a:avLst/>
          </a:prstGeom>
          <a:noFill/>
        </p:spPr>
        <p:txBody>
          <a:bodyPr wrap="square" lIns="73152" rIns="73152" tIns="73152" bIns="73152">
            <a:spAutoFit/>
          </a:bodyPr>
          <a:lstStyle/>
          <a:p>
            <a:pPr algn="l">
              <a:defRPr sz="1500" b="1">
                <a:solidFill>
                  <a:srgbClr val="E8B65A"/>
                </a:solidFill>
                <a:latin typeface="Aptos"/>
              </a:defRPr>
            </a:pPr>
            <a:r>
              <a:t>Layer boundary</a:t>
            </a:r>
          </a:p>
        </p:txBody>
      </p:sp>
      <p:sp>
        <p:nvSpPr>
          <p:cNvPr id="17" name="TextBox 16"/>
          <p:cNvSpPr txBox="1"/>
          <p:nvPr/>
        </p:nvSpPr>
        <p:spPr>
          <a:xfrm>
            <a:off x="8549640" y="1947672"/>
            <a:ext cx="3118104" cy="850392"/>
          </a:xfrm>
          <a:prstGeom prst="rect">
            <a:avLst/>
          </a:prstGeom>
          <a:noFill/>
        </p:spPr>
        <p:txBody>
          <a:bodyPr wrap="square" lIns="73152" rIns="73152" tIns="73152" bIns="73152">
            <a:spAutoFit/>
          </a:bodyPr>
          <a:lstStyle/>
          <a:p>
            <a:pPr algn="l">
              <a:defRPr sz="1200" b="0">
                <a:solidFill>
                  <a:srgbClr val="203338"/>
                </a:solidFill>
                <a:latin typeface="Aptos"/>
              </a:defRPr>
            </a:pPr>
            <a:r>
              <a:t>Classifier output → policy action mapping</a:t>
            </a:r>
          </a:p>
        </p:txBody>
      </p:sp>
      <p:sp>
        <p:nvSpPr>
          <p:cNvPr id="18" name="Rounded Rectangle 17"/>
          <p:cNvSpPr/>
          <p:nvPr/>
        </p:nvSpPr>
        <p:spPr>
          <a:xfrm>
            <a:off x="685800" y="3337560"/>
            <a:ext cx="3429000" cy="141732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3337560"/>
            <a:ext cx="82296" cy="141732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447288"/>
            <a:ext cx="3136392" cy="320040"/>
          </a:xfrm>
          <a:prstGeom prst="rect">
            <a:avLst/>
          </a:prstGeom>
          <a:noFill/>
        </p:spPr>
        <p:txBody>
          <a:bodyPr wrap="square" lIns="73152" rIns="73152" tIns="73152" bIns="73152">
            <a:spAutoFit/>
          </a:bodyPr>
          <a:lstStyle/>
          <a:p>
            <a:pPr algn="l">
              <a:defRPr sz="1500" b="1">
                <a:solidFill>
                  <a:srgbClr val="2F7775"/>
                </a:solidFill>
                <a:latin typeface="Aptos"/>
              </a:defRPr>
            </a:pPr>
            <a:r>
              <a:t>Evidence for Verify</a:t>
            </a:r>
          </a:p>
        </p:txBody>
      </p:sp>
      <p:sp>
        <p:nvSpPr>
          <p:cNvPr id="21" name="TextBox 20"/>
          <p:cNvSpPr txBox="1"/>
          <p:nvPr/>
        </p:nvSpPr>
        <p:spPr>
          <a:xfrm>
            <a:off x="868680" y="3822191"/>
            <a:ext cx="3118104" cy="850392"/>
          </a:xfrm>
          <a:prstGeom prst="rect">
            <a:avLst/>
          </a:prstGeom>
          <a:noFill/>
        </p:spPr>
        <p:txBody>
          <a:bodyPr wrap="square" lIns="73152" rIns="73152" tIns="73152" bIns="73152">
            <a:spAutoFit/>
          </a:bodyPr>
          <a:lstStyle/>
          <a:p>
            <a:pPr algn="l">
              <a:defRPr sz="1200" b="0">
                <a:solidFill>
                  <a:srgbClr val="203338"/>
                </a:solidFill>
                <a:latin typeface="Aptos"/>
              </a:defRPr>
            </a:pPr>
            <a:r>
              <a:t>Allowed deterministic sources and rules</a:t>
            </a:r>
          </a:p>
        </p:txBody>
      </p:sp>
      <p:sp>
        <p:nvSpPr>
          <p:cNvPr id="22" name="Rounded Rectangle 21"/>
          <p:cNvSpPr/>
          <p:nvPr/>
        </p:nvSpPr>
        <p:spPr>
          <a:xfrm>
            <a:off x="4526280" y="3337560"/>
            <a:ext cx="3429000" cy="141732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26280" y="3337560"/>
            <a:ext cx="82296" cy="1417320"/>
          </a:xfrm>
          <a:prstGeom prst="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3447288"/>
            <a:ext cx="3136392" cy="320040"/>
          </a:xfrm>
          <a:prstGeom prst="rect">
            <a:avLst/>
          </a:prstGeom>
          <a:noFill/>
        </p:spPr>
        <p:txBody>
          <a:bodyPr wrap="square" lIns="73152" rIns="73152" tIns="73152" bIns="73152">
            <a:spAutoFit/>
          </a:bodyPr>
          <a:lstStyle/>
          <a:p>
            <a:pPr algn="l">
              <a:defRPr sz="1500" b="1">
                <a:solidFill>
                  <a:srgbClr val="D97862"/>
                </a:solidFill>
                <a:latin typeface="Aptos"/>
              </a:defRPr>
            </a:pPr>
            <a:r>
              <a:t>Feasibility</a:t>
            </a:r>
          </a:p>
        </p:txBody>
      </p:sp>
      <p:sp>
        <p:nvSpPr>
          <p:cNvPr id="25" name="TextBox 24"/>
          <p:cNvSpPr txBox="1"/>
          <p:nvPr/>
        </p:nvSpPr>
        <p:spPr>
          <a:xfrm>
            <a:off x="4709160" y="3822191"/>
            <a:ext cx="3118104" cy="850392"/>
          </a:xfrm>
          <a:prstGeom prst="rect">
            <a:avLst/>
          </a:prstGeom>
          <a:noFill/>
        </p:spPr>
        <p:txBody>
          <a:bodyPr wrap="square" lIns="73152" rIns="73152" tIns="73152" bIns="73152">
            <a:spAutoFit/>
          </a:bodyPr>
          <a:lstStyle/>
          <a:p>
            <a:pPr algn="l">
              <a:defRPr sz="1200" b="0">
                <a:solidFill>
                  <a:srgbClr val="203338"/>
                </a:solidFill>
                <a:latin typeface="Aptos"/>
              </a:defRPr>
            </a:pPr>
            <a:r>
              <a:t>Annotators, sample size, compute/API budget</a:t>
            </a:r>
          </a:p>
        </p:txBody>
      </p:sp>
      <p:sp>
        <p:nvSpPr>
          <p:cNvPr id="26" name="Rounded Rectangle 25"/>
          <p:cNvSpPr/>
          <p:nvPr/>
        </p:nvSpPr>
        <p:spPr>
          <a:xfrm>
            <a:off x="8366760" y="3337560"/>
            <a:ext cx="3429000" cy="141732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3337560"/>
            <a:ext cx="82296" cy="141732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3447288"/>
            <a:ext cx="3136392" cy="320040"/>
          </a:xfrm>
          <a:prstGeom prst="rect">
            <a:avLst/>
          </a:prstGeom>
          <a:noFill/>
        </p:spPr>
        <p:txBody>
          <a:bodyPr wrap="square" lIns="73152" rIns="73152" tIns="73152" bIns="73152">
            <a:spAutoFit/>
          </a:bodyPr>
          <a:lstStyle/>
          <a:p>
            <a:pPr algn="l">
              <a:defRPr sz="1500" b="1">
                <a:solidFill>
                  <a:srgbClr val="E8B65A"/>
                </a:solidFill>
                <a:latin typeface="Aptos"/>
              </a:defRPr>
            </a:pPr>
            <a:r>
              <a:t>Requirements</a:t>
            </a:r>
          </a:p>
        </p:txBody>
      </p:sp>
      <p:sp>
        <p:nvSpPr>
          <p:cNvPr id="29" name="TextBox 28"/>
          <p:cNvSpPr txBox="1"/>
          <p:nvPr/>
        </p:nvSpPr>
        <p:spPr>
          <a:xfrm>
            <a:off x="8549640" y="3822191"/>
            <a:ext cx="3118104" cy="850392"/>
          </a:xfrm>
          <a:prstGeom prst="rect">
            <a:avLst/>
          </a:prstGeom>
          <a:noFill/>
        </p:spPr>
        <p:txBody>
          <a:bodyPr wrap="square" lIns="73152" rIns="73152" tIns="73152" bIns="73152">
            <a:spAutoFit/>
          </a:bodyPr>
          <a:lstStyle/>
          <a:p>
            <a:pPr algn="l">
              <a:defRPr sz="1200" b="0">
                <a:solidFill>
                  <a:srgbClr val="203338"/>
                </a:solidFill>
                <a:latin typeface="Aptos"/>
              </a:defRPr>
            </a:pPr>
            <a:r>
              <a:t>Supervisor, college format and milestones unknown</a:t>
            </a:r>
          </a:p>
        </p:txBody>
      </p:sp>
      <p:pic>
        <p:nvPicPr>
          <p:cNvPr id="30" name="Picture 29" descr="owl.png"/>
          <p:cNvPicPr>
            <a:picLocks noChangeAspect="1"/>
          </p:cNvPicPr>
          <p:nvPr/>
        </p:nvPicPr>
        <p:blipFill>
          <a:blip r:embed="rId2"/>
          <a:stretch>
            <a:fillRect/>
          </a:stretch>
        </p:blipFill>
        <p:spPr>
          <a:xfrm>
            <a:off x="10607040" y="5440680"/>
            <a:ext cx="566928" cy="566928"/>
          </a:xfrm>
          <a:prstGeom prst="rect">
            <a:avLst/>
          </a:prstGeom>
        </p:spPr>
      </p:pic>
      <p:sp>
        <p:nvSpPr>
          <p:cNvPr id="31" name="TextBox 30"/>
          <p:cNvSpPr txBox="1"/>
          <p:nvPr/>
        </p:nvSpPr>
        <p:spPr>
          <a:xfrm>
            <a:off x="9509760" y="5925312"/>
            <a:ext cx="2651760" cy="219456"/>
          </a:xfrm>
          <a:prstGeom prst="rect">
            <a:avLst/>
          </a:prstGeom>
          <a:noFill/>
        </p:spPr>
        <p:txBody>
          <a:bodyPr wrap="square" lIns="73152" rIns="73152" tIns="73152" bIns="73152">
            <a:spAutoFit/>
          </a:bodyPr>
          <a:lstStyle/>
          <a:p>
            <a:pPr algn="ctr">
              <a:defRPr sz="800" b="1">
                <a:solidFill>
                  <a:srgbClr val="64777A"/>
                </a:solidFill>
                <a:latin typeface="Aptos"/>
              </a:defRPr>
            </a:pPr>
            <a:r>
              <a:t>OWL ANALOGY: ask before assuming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064240" cy="228600"/>
          </a:xfrm>
          <a:prstGeom prst="rect">
            <a:avLst/>
          </a:prstGeom>
          <a:noFill/>
        </p:spPr>
        <p:txBody>
          <a:bodyPr wrap="square" lIns="73152" rIns="73152" tIns="73152" bIns="73152">
            <a:spAutoFit/>
          </a:bodyPr>
          <a:lstStyle/>
          <a:p>
            <a:pPr algn="l">
              <a:defRPr sz="900" b="1">
                <a:solidFill>
                  <a:srgbClr val="2F7775"/>
                </a:solidFill>
                <a:latin typeface="Aptos"/>
              </a:defRPr>
            </a:pPr>
            <a:r>
              <a:t>AVA EVALUATION • PROVISIONAL REVIEW PACK</a:t>
            </a:r>
          </a:p>
        </p:txBody>
      </p:sp>
      <p:sp>
        <p:nvSpPr>
          <p:cNvPr id="4" name="TextBox 3"/>
          <p:cNvSpPr txBox="1"/>
          <p:nvPr/>
        </p:nvSpPr>
        <p:spPr>
          <a:xfrm>
            <a:off x="502920" y="530352"/>
            <a:ext cx="11064240" cy="493776"/>
          </a:xfrm>
          <a:prstGeom prst="rect">
            <a:avLst/>
          </a:prstGeom>
          <a:noFill/>
        </p:spPr>
        <p:txBody>
          <a:bodyPr wrap="square" lIns="73152" rIns="73152" tIns="73152" bIns="73152">
            <a:spAutoFit/>
          </a:bodyPr>
          <a:lstStyle/>
          <a:p>
            <a:pPr algn="l">
              <a:defRPr sz="2600" b="1">
                <a:solidFill>
                  <a:srgbClr val="173B43"/>
                </a:solidFill>
                <a:latin typeface="Aptos"/>
              </a:defRPr>
            </a:pPr>
            <a:r>
              <a:t>Staged plan — preserve the research gate</a:t>
            </a:r>
          </a:p>
        </p:txBody>
      </p:sp>
      <p:sp>
        <p:nvSpPr>
          <p:cNvPr id="5" name="TextBox 4"/>
          <p:cNvSpPr txBox="1"/>
          <p:nvPr/>
        </p:nvSpPr>
        <p:spPr>
          <a:xfrm>
            <a:off x="502920" y="6565392"/>
            <a:ext cx="9144000" cy="155448"/>
          </a:xfrm>
          <a:prstGeom prst="rect">
            <a:avLst/>
          </a:prstGeom>
          <a:noFill/>
        </p:spPr>
        <p:txBody>
          <a:bodyPr wrap="square" lIns="73152" rIns="73152" tIns="73152" bIns="73152">
            <a:spAutoFit/>
          </a:bodyPr>
          <a:lstStyle/>
          <a:p>
            <a:pPr algn="l">
              <a:defRPr sz="800" b="0">
                <a:solidFill>
                  <a:srgbClr val="64777A"/>
                </a:solidFill>
                <a:latin typeface="Aptos"/>
              </a:defRPr>
            </a:pPr>
            <a:r>
              <a:t>Review aid only · novelty unresolved · no implementation authorized</a:t>
            </a:r>
          </a:p>
        </p:txBody>
      </p:sp>
      <p:sp>
        <p:nvSpPr>
          <p:cNvPr id="6" name="Rounded Rectangle 5"/>
          <p:cNvSpPr/>
          <p:nvPr/>
        </p:nvSpPr>
        <p:spPr>
          <a:xfrm>
            <a:off x="457200" y="1874519"/>
            <a:ext cx="2057400" cy="20116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61288" y="1417320"/>
            <a:ext cx="640080" cy="640080"/>
          </a:xfrm>
          <a:prstGeom prst="roundRect">
            <a:avLst/>
          </a:prstGeom>
          <a:solidFill>
            <a:srgbClr val="2F7775"/>
          </a:solidFill>
          <a:ln>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1581912"/>
            <a:ext cx="457200" cy="274320"/>
          </a:xfrm>
          <a:prstGeom prst="rect">
            <a:avLst/>
          </a:prstGeom>
          <a:noFill/>
        </p:spPr>
        <p:txBody>
          <a:bodyPr wrap="square" lIns="73152" rIns="73152" tIns="73152" bIns="73152">
            <a:spAutoFit/>
          </a:bodyPr>
          <a:lstStyle/>
          <a:p>
            <a:pPr algn="ctr">
              <a:defRPr sz="1700" b="1">
                <a:solidFill>
                  <a:srgbClr val="FFFFFF"/>
                </a:solidFill>
                <a:latin typeface="Aptos"/>
              </a:defRPr>
            </a:pPr>
            <a:r>
              <a:t>A</a:t>
            </a:r>
          </a:p>
        </p:txBody>
      </p:sp>
      <p:sp>
        <p:nvSpPr>
          <p:cNvPr id="9" name="TextBox 8"/>
          <p:cNvSpPr txBox="1"/>
          <p:nvPr/>
        </p:nvSpPr>
        <p:spPr>
          <a:xfrm>
            <a:off x="566928" y="2267712"/>
            <a:ext cx="1828800" cy="310896"/>
          </a:xfrm>
          <a:prstGeom prst="rect">
            <a:avLst/>
          </a:prstGeom>
          <a:noFill/>
        </p:spPr>
        <p:txBody>
          <a:bodyPr wrap="square" lIns="73152" rIns="73152" tIns="73152" bIns="73152">
            <a:spAutoFit/>
          </a:bodyPr>
          <a:lstStyle/>
          <a:p>
            <a:pPr algn="ctr">
              <a:defRPr sz="1400" b="1">
                <a:solidFill>
                  <a:srgbClr val="173B43"/>
                </a:solidFill>
                <a:latin typeface="Aptos"/>
              </a:defRPr>
            </a:pPr>
            <a:r>
              <a:t>Verify literature</a:t>
            </a:r>
          </a:p>
        </p:txBody>
      </p:sp>
      <p:sp>
        <p:nvSpPr>
          <p:cNvPr id="10" name="TextBox 9"/>
          <p:cNvSpPr txBox="1"/>
          <p:nvPr/>
        </p:nvSpPr>
        <p:spPr>
          <a:xfrm>
            <a:off x="603504" y="2770632"/>
            <a:ext cx="1755648" cy="777240"/>
          </a:xfrm>
          <a:prstGeom prst="rect">
            <a:avLst/>
          </a:prstGeom>
          <a:noFill/>
        </p:spPr>
        <p:txBody>
          <a:bodyPr wrap="square" lIns="73152" rIns="73152" tIns="73152" bIns="73152">
            <a:spAutoFit/>
          </a:bodyPr>
          <a:lstStyle/>
          <a:p>
            <a:pPr algn="ctr">
              <a:defRPr sz="1000" b="0">
                <a:solidFill>
                  <a:srgbClr val="203338"/>
                </a:solidFill>
                <a:latin typeface="Aptos"/>
              </a:defRPr>
            </a:pPr>
            <a:r>
              <a:t>full texts, appendices, active disconfirmation</a:t>
            </a:r>
          </a:p>
        </p:txBody>
      </p:sp>
      <p:cxnSp>
        <p:nvCxnSpPr>
          <p:cNvPr id="11" name="Connector 10"/>
          <p:cNvCxnSpPr/>
          <p:nvPr/>
        </p:nvCxnSpPr>
        <p:spPr>
          <a:xfrm>
            <a:off x="2542032" y="2834640"/>
            <a:ext cx="228600"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6352" y="1874519"/>
            <a:ext cx="2057400" cy="20116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20440" y="1417320"/>
            <a:ext cx="640080" cy="640080"/>
          </a:xfrm>
          <a:prstGeom prst="roundRect">
            <a:avLst/>
          </a:prstGeom>
          <a:solidFill>
            <a:srgbClr val="D97862"/>
          </a:solidFill>
          <a:ln>
            <a:solidFill>
              <a:srgbClr val="D978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1024" y="1581912"/>
            <a:ext cx="457200" cy="274320"/>
          </a:xfrm>
          <a:prstGeom prst="rect">
            <a:avLst/>
          </a:prstGeom>
          <a:noFill/>
        </p:spPr>
        <p:txBody>
          <a:bodyPr wrap="square" lIns="73152" rIns="73152" tIns="73152" bIns="73152">
            <a:spAutoFit/>
          </a:bodyPr>
          <a:lstStyle/>
          <a:p>
            <a:pPr algn="ctr">
              <a:defRPr sz="1700" b="1">
                <a:solidFill>
                  <a:srgbClr val="FFFFFF"/>
                </a:solidFill>
                <a:latin typeface="Aptos"/>
              </a:defRPr>
            </a:pPr>
            <a:r>
              <a:t>B</a:t>
            </a:r>
          </a:p>
        </p:txBody>
      </p:sp>
      <p:sp>
        <p:nvSpPr>
          <p:cNvPr id="15" name="TextBox 14"/>
          <p:cNvSpPr txBox="1"/>
          <p:nvPr/>
        </p:nvSpPr>
        <p:spPr>
          <a:xfrm>
            <a:off x="2926080" y="2267712"/>
            <a:ext cx="1828800" cy="310896"/>
          </a:xfrm>
          <a:prstGeom prst="rect">
            <a:avLst/>
          </a:prstGeom>
          <a:noFill/>
        </p:spPr>
        <p:txBody>
          <a:bodyPr wrap="square" lIns="73152" rIns="73152" tIns="73152" bIns="73152">
            <a:spAutoFit/>
          </a:bodyPr>
          <a:lstStyle/>
          <a:p>
            <a:pPr algn="ctr">
              <a:defRPr sz="1400" b="1">
                <a:solidFill>
                  <a:srgbClr val="173B43"/>
                </a:solidFill>
                <a:latin typeface="Aptos"/>
              </a:defRPr>
            </a:pPr>
            <a:r>
              <a:t>Settle design</a:t>
            </a:r>
          </a:p>
        </p:txBody>
      </p:sp>
      <p:sp>
        <p:nvSpPr>
          <p:cNvPr id="16" name="TextBox 15"/>
          <p:cNvSpPr txBox="1"/>
          <p:nvPr/>
        </p:nvSpPr>
        <p:spPr>
          <a:xfrm>
            <a:off x="2962656" y="2770632"/>
            <a:ext cx="1755648" cy="777240"/>
          </a:xfrm>
          <a:prstGeom prst="rect">
            <a:avLst/>
          </a:prstGeom>
          <a:noFill/>
        </p:spPr>
        <p:txBody>
          <a:bodyPr wrap="square" lIns="73152" rIns="73152" tIns="73152" bIns="73152">
            <a:spAutoFit/>
          </a:bodyPr>
          <a:lstStyle/>
          <a:p>
            <a:pPr algn="ctr">
              <a:defRPr sz="1000" b="0">
                <a:solidFill>
                  <a:srgbClr val="203338"/>
                </a:solidFill>
                <a:latin typeface="Aptos"/>
              </a:defRPr>
            </a:pPr>
            <a:r>
              <a:t>key schema, labels, policy mapping, feasibility</a:t>
            </a:r>
          </a:p>
        </p:txBody>
      </p:sp>
      <p:cxnSp>
        <p:nvCxnSpPr>
          <p:cNvPr id="17" name="Connector 16"/>
          <p:cNvCxnSpPr/>
          <p:nvPr/>
        </p:nvCxnSpPr>
        <p:spPr>
          <a:xfrm>
            <a:off x="4901183" y="2834640"/>
            <a:ext cx="228600"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5504" y="1874519"/>
            <a:ext cx="2057400" cy="20116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79592" y="1417320"/>
            <a:ext cx="640080" cy="640080"/>
          </a:xfrm>
          <a:prstGeom prst="round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1581912"/>
            <a:ext cx="457200" cy="274320"/>
          </a:xfrm>
          <a:prstGeom prst="rect">
            <a:avLst/>
          </a:prstGeom>
          <a:noFill/>
        </p:spPr>
        <p:txBody>
          <a:bodyPr wrap="square" lIns="73152" rIns="73152" tIns="73152" bIns="73152">
            <a:spAutoFit/>
          </a:bodyPr>
          <a:lstStyle/>
          <a:p>
            <a:pPr algn="ctr">
              <a:defRPr sz="1700" b="1">
                <a:solidFill>
                  <a:srgbClr val="FFFFFF"/>
                </a:solidFill>
                <a:latin typeface="Aptos"/>
              </a:defRPr>
            </a:pPr>
            <a:r>
              <a:t>C</a:t>
            </a:r>
          </a:p>
        </p:txBody>
      </p:sp>
      <p:sp>
        <p:nvSpPr>
          <p:cNvPr id="21" name="TextBox 20"/>
          <p:cNvSpPr txBox="1"/>
          <p:nvPr/>
        </p:nvSpPr>
        <p:spPr>
          <a:xfrm>
            <a:off x="5285232" y="2267712"/>
            <a:ext cx="1828800" cy="310896"/>
          </a:xfrm>
          <a:prstGeom prst="rect">
            <a:avLst/>
          </a:prstGeom>
          <a:noFill/>
        </p:spPr>
        <p:txBody>
          <a:bodyPr wrap="square" lIns="73152" rIns="73152" tIns="73152" bIns="73152">
            <a:spAutoFit/>
          </a:bodyPr>
          <a:lstStyle/>
          <a:p>
            <a:pPr algn="ctr">
              <a:defRPr sz="1400" b="1">
                <a:solidFill>
                  <a:srgbClr val="173B43"/>
                </a:solidFill>
                <a:latin typeface="Aptos"/>
              </a:defRPr>
            </a:pPr>
            <a:r>
              <a:t>Core benchmark</a:t>
            </a:r>
          </a:p>
        </p:txBody>
      </p:sp>
      <p:sp>
        <p:nvSpPr>
          <p:cNvPr id="22" name="TextBox 21"/>
          <p:cNvSpPr txBox="1"/>
          <p:nvPr/>
        </p:nvSpPr>
        <p:spPr>
          <a:xfrm>
            <a:off x="5321808" y="2770632"/>
            <a:ext cx="1755648" cy="777240"/>
          </a:xfrm>
          <a:prstGeom prst="rect">
            <a:avLst/>
          </a:prstGeom>
          <a:noFill/>
        </p:spPr>
        <p:txBody>
          <a:bodyPr wrap="square" lIns="73152" rIns="73152" tIns="73152" bIns="73152">
            <a:spAutoFit/>
          </a:bodyPr>
          <a:lstStyle/>
          <a:p>
            <a:pPr algn="ctr">
              <a:defRPr sz="1000" b="0">
                <a:solidFill>
                  <a:srgbClr val="203338"/>
                </a:solidFill>
                <a:latin typeface="Aptos"/>
              </a:defRPr>
            </a:pPr>
            <a:r>
              <a:t>only if gate survives; human gold labels</a:t>
            </a:r>
          </a:p>
        </p:txBody>
      </p:sp>
      <p:cxnSp>
        <p:nvCxnSpPr>
          <p:cNvPr id="23" name="Connector 22"/>
          <p:cNvCxnSpPr/>
          <p:nvPr/>
        </p:nvCxnSpPr>
        <p:spPr>
          <a:xfrm>
            <a:off x="7260336" y="2834640"/>
            <a:ext cx="228600"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534656" y="1874519"/>
            <a:ext cx="2057400" cy="20116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38744" y="1417320"/>
            <a:ext cx="640080" cy="640080"/>
          </a:xfrm>
          <a:prstGeom prst="roundRect">
            <a:avLst/>
          </a:prstGeom>
          <a:solidFill>
            <a:srgbClr val="9CB79B"/>
          </a:solidFill>
          <a:ln>
            <a:solidFill>
              <a:srgbClr val="9CB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8" y="1581912"/>
            <a:ext cx="457200" cy="274320"/>
          </a:xfrm>
          <a:prstGeom prst="rect">
            <a:avLst/>
          </a:prstGeom>
          <a:noFill/>
        </p:spPr>
        <p:txBody>
          <a:bodyPr wrap="square" lIns="73152" rIns="73152" tIns="73152" bIns="73152">
            <a:spAutoFit/>
          </a:bodyPr>
          <a:lstStyle/>
          <a:p>
            <a:pPr algn="ctr">
              <a:defRPr sz="1700" b="1">
                <a:solidFill>
                  <a:srgbClr val="FFFFFF"/>
                </a:solidFill>
                <a:latin typeface="Aptos"/>
              </a:defRPr>
            </a:pPr>
            <a:r>
              <a:t>D</a:t>
            </a:r>
          </a:p>
        </p:txBody>
      </p:sp>
      <p:sp>
        <p:nvSpPr>
          <p:cNvPr id="27" name="TextBox 26"/>
          <p:cNvSpPr txBox="1"/>
          <p:nvPr/>
        </p:nvSpPr>
        <p:spPr>
          <a:xfrm>
            <a:off x="7644383" y="2267712"/>
            <a:ext cx="1828800" cy="310896"/>
          </a:xfrm>
          <a:prstGeom prst="rect">
            <a:avLst/>
          </a:prstGeom>
          <a:noFill/>
        </p:spPr>
        <p:txBody>
          <a:bodyPr wrap="square" lIns="73152" rIns="73152" tIns="73152" bIns="73152">
            <a:spAutoFit/>
          </a:bodyPr>
          <a:lstStyle/>
          <a:p>
            <a:pPr algn="ctr">
              <a:defRPr sz="1400" b="1">
                <a:solidFill>
                  <a:srgbClr val="173B43"/>
                </a:solidFill>
                <a:latin typeface="Aptos"/>
              </a:defRPr>
            </a:pPr>
            <a:r>
              <a:t>Minimal simulator</a:t>
            </a:r>
          </a:p>
        </p:txBody>
      </p:sp>
      <p:sp>
        <p:nvSpPr>
          <p:cNvPr id="28" name="TextBox 27"/>
          <p:cNvSpPr txBox="1"/>
          <p:nvPr/>
        </p:nvSpPr>
        <p:spPr>
          <a:xfrm>
            <a:off x="7680960" y="2770632"/>
            <a:ext cx="1755648" cy="777240"/>
          </a:xfrm>
          <a:prstGeom prst="rect">
            <a:avLst/>
          </a:prstGeom>
          <a:noFill/>
        </p:spPr>
        <p:txBody>
          <a:bodyPr wrap="square" lIns="73152" rIns="73152" tIns="73152" bIns="73152">
            <a:spAutoFit/>
          </a:bodyPr>
          <a:lstStyle/>
          <a:p>
            <a:pPr algn="ctr">
              <a:defRPr sz="1000" b="0">
                <a:solidFill>
                  <a:srgbClr val="203338"/>
                </a:solidFill>
                <a:latin typeface="Aptos"/>
              </a:defRPr>
            </a:pPr>
            <a:r>
              <a:t>validate deterministic event projection first</a:t>
            </a:r>
          </a:p>
        </p:txBody>
      </p:sp>
      <p:cxnSp>
        <p:nvCxnSpPr>
          <p:cNvPr id="29" name="Connector 28"/>
          <p:cNvCxnSpPr/>
          <p:nvPr/>
        </p:nvCxnSpPr>
        <p:spPr>
          <a:xfrm>
            <a:off x="9619488" y="2834640"/>
            <a:ext cx="228600" cy="0"/>
          </a:xfrm>
          <a:prstGeom prst="line">
            <a:avLst/>
          </a:prstGeom>
          <a:ln w="25400">
            <a:solidFill>
              <a:srgbClr val="2F7775"/>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893808" y="1874519"/>
            <a:ext cx="2057400" cy="2011680"/>
          </a:xfrm>
          <a:prstGeom prst="roundRect">
            <a:avLst/>
          </a:prstGeom>
          <a:solidFill>
            <a:srgbClr val="FFFFFF"/>
          </a:solidFill>
          <a:ln>
            <a:solidFill>
              <a:srgbClr val="D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597896" y="1417320"/>
            <a:ext cx="640080" cy="640080"/>
          </a:xfrm>
          <a:prstGeom prst="roundRect">
            <a:avLst/>
          </a:prstGeom>
          <a:solidFill>
            <a:srgbClr val="173B43"/>
          </a:solidFill>
          <a:ln>
            <a:solidFill>
              <a:srgbClr val="173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98480" y="1581912"/>
            <a:ext cx="457200" cy="274320"/>
          </a:xfrm>
          <a:prstGeom prst="rect">
            <a:avLst/>
          </a:prstGeom>
          <a:noFill/>
        </p:spPr>
        <p:txBody>
          <a:bodyPr wrap="square" lIns="73152" rIns="73152" tIns="73152" bIns="73152">
            <a:spAutoFit/>
          </a:bodyPr>
          <a:lstStyle/>
          <a:p>
            <a:pPr algn="ctr">
              <a:defRPr sz="1700" b="1">
                <a:solidFill>
                  <a:srgbClr val="FFFFFF"/>
                </a:solidFill>
                <a:latin typeface="Aptos"/>
              </a:defRPr>
            </a:pPr>
            <a:r>
              <a:t>E</a:t>
            </a:r>
          </a:p>
        </p:txBody>
      </p:sp>
      <p:sp>
        <p:nvSpPr>
          <p:cNvPr id="33" name="TextBox 32"/>
          <p:cNvSpPr txBox="1"/>
          <p:nvPr/>
        </p:nvSpPr>
        <p:spPr>
          <a:xfrm>
            <a:off x="10003536" y="2267712"/>
            <a:ext cx="1828800" cy="310896"/>
          </a:xfrm>
          <a:prstGeom prst="rect">
            <a:avLst/>
          </a:prstGeom>
          <a:noFill/>
        </p:spPr>
        <p:txBody>
          <a:bodyPr wrap="square" lIns="73152" rIns="73152" tIns="73152" bIns="73152">
            <a:spAutoFit/>
          </a:bodyPr>
          <a:lstStyle/>
          <a:p>
            <a:pPr algn="ctr">
              <a:defRPr sz="1400" b="1">
                <a:solidFill>
                  <a:srgbClr val="173B43"/>
                </a:solidFill>
                <a:latin typeface="Aptos"/>
              </a:defRPr>
            </a:pPr>
            <a:r>
              <a:t>Decide scope</a:t>
            </a:r>
          </a:p>
        </p:txBody>
      </p:sp>
      <p:sp>
        <p:nvSpPr>
          <p:cNvPr id="34" name="TextBox 33"/>
          <p:cNvSpPr txBox="1"/>
          <p:nvPr/>
        </p:nvSpPr>
        <p:spPr>
          <a:xfrm>
            <a:off x="10040112" y="2770632"/>
            <a:ext cx="1755648" cy="777240"/>
          </a:xfrm>
          <a:prstGeom prst="rect">
            <a:avLst/>
          </a:prstGeom>
          <a:noFill/>
        </p:spPr>
        <p:txBody>
          <a:bodyPr wrap="square" lIns="73152" rIns="73152" tIns="73152" bIns="73152">
            <a:spAutoFit/>
          </a:bodyPr>
          <a:lstStyle/>
          <a:p>
            <a:pPr algn="ctr">
              <a:defRPr sz="1000" b="0">
                <a:solidFill>
                  <a:srgbClr val="203338"/>
                </a:solidFill>
                <a:latin typeface="Aptos"/>
              </a:defRPr>
            </a:pPr>
            <a:r>
              <a:t>retain / narrow / reframe / abandon</a:t>
            </a:r>
          </a:p>
        </p:txBody>
      </p:sp>
      <p:sp>
        <p:nvSpPr>
          <p:cNvPr id="35" name="Rounded Rectangle 34"/>
          <p:cNvSpPr/>
          <p:nvPr/>
        </p:nvSpPr>
        <p:spPr>
          <a:xfrm>
            <a:off x="1005840" y="4754880"/>
            <a:ext cx="10058400" cy="685800"/>
          </a:xfrm>
          <a:prstGeom prst="roundRect">
            <a:avLst/>
          </a:prstGeom>
          <a:solidFill>
            <a:srgbClr val="FCE2DA"/>
          </a:solidFill>
          <a:ln>
            <a:solidFill>
              <a:srgbClr val="FC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0432" y="4956048"/>
            <a:ext cx="9738360" cy="310896"/>
          </a:xfrm>
          <a:prstGeom prst="rect">
            <a:avLst/>
          </a:prstGeom>
          <a:noFill/>
        </p:spPr>
        <p:txBody>
          <a:bodyPr wrap="square" lIns="73152" rIns="73152" tIns="73152" bIns="73152">
            <a:spAutoFit/>
          </a:bodyPr>
          <a:lstStyle/>
          <a:p>
            <a:pPr algn="ctr">
              <a:defRPr sz="1200" b="1">
                <a:solidFill>
                  <a:srgbClr val="A84F48"/>
                </a:solidFill>
                <a:latin typeface="Aptos"/>
              </a:defRPr>
            </a:pPr>
            <a:r>
              <a:t>Current gate: Pass 3 incomplete · novelty unresolved · implementation and formal drafting not authorized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B43"/>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E8B65A"/>
          </a:solidFill>
          <a:ln>
            <a:solidFill>
              <a:srgbClr val="E8B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89920" cy="365760"/>
          </a:xfrm>
          <a:prstGeom prst="rect">
            <a:avLst/>
          </a:prstGeom>
          <a:noFill/>
        </p:spPr>
        <p:txBody>
          <a:bodyPr wrap="square" lIns="73152" rIns="73152" tIns="73152" bIns="73152">
            <a:spAutoFit/>
          </a:bodyPr>
          <a:lstStyle/>
          <a:p>
            <a:pPr algn="l">
              <a:defRPr sz="1100" b="1">
                <a:solidFill>
                  <a:srgbClr val="A9D6C6"/>
                </a:solidFill>
                <a:latin typeface="Aptos"/>
              </a:defRPr>
            </a:pPr>
            <a:r>
              <a:t>THE STUDY IN ONE SENTENCE</a:t>
            </a:r>
          </a:p>
        </p:txBody>
      </p:sp>
      <p:sp>
        <p:nvSpPr>
          <p:cNvPr id="4" name="TextBox 3"/>
          <p:cNvSpPr txBox="1"/>
          <p:nvPr/>
        </p:nvSpPr>
        <p:spPr>
          <a:xfrm>
            <a:off x="822960" y="1280160"/>
            <a:ext cx="8138160" cy="2011680"/>
          </a:xfrm>
          <a:prstGeom prst="rect">
            <a:avLst/>
          </a:prstGeom>
          <a:noFill/>
        </p:spPr>
        <p:txBody>
          <a:bodyPr wrap="square" lIns="73152" rIns="73152" tIns="73152" bIns="73152">
            <a:spAutoFit/>
          </a:bodyPr>
          <a:lstStyle/>
          <a:p>
            <a:pPr algn="l">
              <a:defRPr sz="2500" b="1">
                <a:solidFill>
                  <a:srgbClr val="FFFFFF"/>
                </a:solidFill>
                <a:latin typeface="Aptos"/>
              </a:defRPr>
            </a:pPr>
            <a:r>
              <a:t>When agents disagree about the same state key, when is it safe to agree, when should the system verify, and when should it preserve uncertainty?</a:t>
            </a:r>
          </a:p>
        </p:txBody>
      </p:sp>
      <p:sp>
        <p:nvSpPr>
          <p:cNvPr id="5" name="TextBox 4"/>
          <p:cNvSpPr txBox="1"/>
          <p:nvPr/>
        </p:nvSpPr>
        <p:spPr>
          <a:xfrm>
            <a:off x="822960" y="3657600"/>
            <a:ext cx="7955279" cy="1005840"/>
          </a:xfrm>
          <a:prstGeom prst="rect">
            <a:avLst/>
          </a:prstGeom>
          <a:noFill/>
        </p:spPr>
        <p:txBody>
          <a:bodyPr wrap="square" lIns="73152" rIns="73152" tIns="73152" bIns="73152">
            <a:spAutoFit/>
          </a:bodyPr>
          <a:lstStyle/>
          <a:p>
            <a:pPr algn="l">
              <a:defRPr sz="2000" b="1">
                <a:solidFill>
                  <a:srgbClr val="E8B65A"/>
                </a:solidFill>
                <a:latin typeface="Aptos"/>
              </a:defRPr>
            </a:pPr>
            <a:r>
              <a:t>Measure it. Don’t assume the intelligent method is better.</a:t>
            </a:r>
          </a:p>
        </p:txBody>
      </p:sp>
      <p:pic>
        <p:nvPicPr>
          <p:cNvPr id="6" name="Picture 5" descr="fox.png"/>
          <p:cNvPicPr>
            <a:picLocks noChangeAspect="1"/>
          </p:cNvPicPr>
          <p:nvPr/>
        </p:nvPicPr>
        <p:blipFill>
          <a:blip r:embed="rId2"/>
          <a:stretch>
            <a:fillRect/>
          </a:stretch>
        </p:blipFill>
        <p:spPr>
          <a:xfrm>
            <a:off x="9189720" y="1554480"/>
            <a:ext cx="2103120" cy="2103120"/>
          </a:xfrm>
          <a:prstGeom prst="rect">
            <a:avLst/>
          </a:prstGeom>
        </p:spPr>
      </p:pic>
      <p:sp>
        <p:nvSpPr>
          <p:cNvPr id="7" name="TextBox 6"/>
          <p:cNvSpPr txBox="1"/>
          <p:nvPr/>
        </p:nvSpPr>
        <p:spPr>
          <a:xfrm>
            <a:off x="8869680" y="3931920"/>
            <a:ext cx="2697480" cy="365760"/>
          </a:xfrm>
          <a:prstGeom prst="rect">
            <a:avLst/>
          </a:prstGeom>
          <a:noFill/>
        </p:spPr>
        <p:txBody>
          <a:bodyPr wrap="square" lIns="73152" rIns="73152" tIns="73152" bIns="73152">
            <a:spAutoFit/>
          </a:bodyPr>
          <a:lstStyle/>
          <a:p>
            <a:pPr algn="ctr">
              <a:defRPr sz="900" b="1">
                <a:solidFill>
                  <a:srgbClr val="D6E1DC"/>
                </a:solidFill>
                <a:latin typeface="Aptos"/>
              </a:defRPr>
            </a:pPr>
            <a:r>
              <a:t>FOX ANALOGY — question carefully</a:t>
            </a:r>
          </a:p>
        </p:txBody>
      </p:sp>
      <p:sp>
        <p:nvSpPr>
          <p:cNvPr id="8" name="TextBox 7"/>
          <p:cNvSpPr txBox="1"/>
          <p:nvPr/>
        </p:nvSpPr>
        <p:spPr>
          <a:xfrm>
            <a:off x="822960" y="5623560"/>
            <a:ext cx="10698480" cy="365760"/>
          </a:xfrm>
          <a:prstGeom prst="rect">
            <a:avLst/>
          </a:prstGeom>
          <a:noFill/>
        </p:spPr>
        <p:txBody>
          <a:bodyPr wrap="square" lIns="73152" rIns="73152" tIns="73152" bIns="73152">
            <a:spAutoFit/>
          </a:bodyPr>
          <a:lstStyle/>
          <a:p>
            <a:pPr algn="l">
              <a:defRPr sz="1100" b="0">
                <a:solidFill>
                  <a:srgbClr val="D6E1DC"/>
                </a:solidFill>
                <a:latin typeface="Aptos"/>
              </a:defRPr>
            </a:pPr>
            <a:r>
              <a:t>Research proposal only · no result claimed · novelty and proof obligations remain open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3E9"/>
        </a:solidFill>
        <a:effectLst/>
      </p:bgPr>
    </p:bg>
    <p:spTree>
      <p:nvGrpSpPr>
        <p:cNvPr id="1" name=""/>
        <p:cNvGrpSpPr/>
        <p:nvPr/>
      </p:nvGrpSpPr>
      <p:grpSpPr/>
      <p:sp>
        <p:nvSpPr>
          <p:cNvPr id="2" name="TextBox 1"/>
          <p:cNvSpPr txBox="1"/>
          <p:nvPr/>
        </p:nvSpPr>
        <p:spPr>
          <a:xfrm>
            <a:off x="502920" y="219456"/>
            <a:ext cx="11155680" cy="274320"/>
          </a:xfrm>
          <a:prstGeom prst="rect">
            <a:avLst/>
          </a:prstGeom>
          <a:noFill/>
        </p:spPr>
        <p:txBody>
          <a:bodyPr wrap="square" lIns="36576" rIns="36576" tIns="18288" bIns="18288">
            <a:spAutoFit/>
          </a:bodyPr>
          <a:lstStyle/>
          <a:p>
            <a:pPr algn="l">
              <a:defRPr sz="1200" b="1">
                <a:solidFill>
                  <a:srgbClr val="2F7775"/>
                </a:solidFill>
                <a:latin typeface="Aptos"/>
              </a:defRPr>
            </a:pPr>
            <a:r>
              <a:t>AVA EVALUATION • MONDAY REVIEW • PROVISIONAL PACK</a:t>
            </a:r>
          </a:p>
        </p:txBody>
      </p:sp>
      <p:sp>
        <p:nvSpPr>
          <p:cNvPr id="3" name="TextBox 2"/>
          <p:cNvSpPr txBox="1"/>
          <p:nvPr/>
        </p:nvSpPr>
        <p:spPr>
          <a:xfrm>
            <a:off x="502920" y="603504"/>
            <a:ext cx="11155680" cy="566928"/>
          </a:xfrm>
          <a:prstGeom prst="rect">
            <a:avLst/>
          </a:prstGeom>
          <a:noFill/>
        </p:spPr>
        <p:txBody>
          <a:bodyPr wrap="square" lIns="36576" rIns="36576" tIns="18288" bIns="18288">
            <a:spAutoFit/>
          </a:bodyPr>
          <a:lstStyle/>
          <a:p>
            <a:pPr algn="l">
              <a:defRPr sz="2700" b="1">
                <a:solidFill>
                  <a:srgbClr val="173E45"/>
                </a:solidFill>
                <a:latin typeface="Aptos"/>
              </a:defRPr>
            </a:pPr>
            <a:r>
              <a:t>A hypothetical AI-agent team shares one key</a:t>
            </a:r>
          </a:p>
        </p:txBody>
      </p:sp>
      <p:sp>
        <p:nvSpPr>
          <p:cNvPr id="4" name="TextBox 3"/>
          <p:cNvSpPr txBox="1"/>
          <p:nvPr/>
        </p:nvSpPr>
        <p:spPr>
          <a:xfrm>
            <a:off x="530352" y="1197864"/>
            <a:ext cx="10972800" cy="384048"/>
          </a:xfrm>
          <a:prstGeom prst="rect">
            <a:avLst/>
          </a:prstGeom>
          <a:noFill/>
        </p:spPr>
        <p:txBody>
          <a:bodyPr wrap="square" lIns="36576" rIns="36576" tIns="18288" bIns="18288">
            <a:spAutoFit/>
          </a:bodyPr>
          <a:lstStyle/>
          <a:p>
            <a:pPr algn="l">
              <a:defRPr sz="1400" b="0">
                <a:solidFill>
                  <a:srgbClr val="64777A"/>
                </a:solidFill>
                <a:latin typeface="Aptos"/>
              </a:defRPr>
            </a:pPr>
            <a:r>
              <a:t>The labels are illustrative only: no real identity, capabilities, integrations, roles or performance are implied.</a:t>
            </a:r>
          </a:p>
        </p:txBody>
      </p:sp>
      <p:sp>
        <p:nvSpPr>
          <p:cNvPr id="5" name="Rectangle 4"/>
          <p:cNvSpPr/>
          <p:nvPr/>
        </p:nvSpPr>
        <p:spPr>
          <a:xfrm>
            <a:off x="502920" y="1088136"/>
            <a:ext cx="11155680" cy="22860"/>
          </a:xfrm>
          <a:prstGeom prst="rect">
            <a:avLst/>
          </a:prstGeom>
          <a:solidFill>
            <a:srgbClr val="2F7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492240"/>
            <a:ext cx="9875520" cy="182880"/>
          </a:xfrm>
          <a:prstGeom prst="rect">
            <a:avLst/>
          </a:prstGeom>
          <a:noFill/>
        </p:spPr>
        <p:txBody>
          <a:bodyPr wrap="square" lIns="36576" rIns="36576" tIns="18288" bIns="18288">
            <a:spAutoFit/>
          </a:bodyPr>
          <a:lstStyle/>
          <a:p>
            <a:pPr algn="l">
              <a:defRPr sz="900" b="0">
                <a:solidFill>
                  <a:srgbClr val="64777A"/>
                </a:solidFill>
                <a:latin typeface="Aptos"/>
              </a:defRPr>
            </a:pPr>
            <a:r>
              <a:t>Review aid only • novelty unresolved • no implementation authorized</a:t>
            </a:r>
          </a:p>
        </p:txBody>
      </p:sp>
      <p:sp>
        <p:nvSpPr>
          <p:cNvPr id="7" name="Rounded Rectangle 6"/>
          <p:cNvSpPr/>
          <p:nvPr/>
        </p:nvSpPr>
        <p:spPr>
          <a:xfrm>
            <a:off x="530352" y="1700784"/>
            <a:ext cx="11064240" cy="749808"/>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0512"/>
            <a:ext cx="5486400" cy="256032"/>
          </a:xfrm>
          <a:prstGeom prst="rect">
            <a:avLst/>
          </a:prstGeom>
          <a:noFill/>
        </p:spPr>
        <p:txBody>
          <a:bodyPr wrap="square" lIns="36576" rIns="36576" tIns="18288" bIns="18288">
            <a:spAutoFit/>
          </a:bodyPr>
          <a:lstStyle/>
          <a:p>
            <a:pPr algn="l">
              <a:defRPr sz="1800" b="1">
                <a:solidFill>
                  <a:srgbClr val="2F7775"/>
                </a:solidFill>
                <a:latin typeface="Aptos"/>
              </a:defRPr>
            </a:pPr>
            <a:r>
              <a:t>KEY  service.demo-api.primary_db</a:t>
            </a:r>
          </a:p>
        </p:txBody>
      </p:sp>
      <p:sp>
        <p:nvSpPr>
          <p:cNvPr id="9" name="TextBox 8"/>
          <p:cNvSpPr txBox="1"/>
          <p:nvPr/>
        </p:nvSpPr>
        <p:spPr>
          <a:xfrm>
            <a:off x="749808" y="2112264"/>
            <a:ext cx="10424160" cy="219456"/>
          </a:xfrm>
          <a:prstGeom prst="rect">
            <a:avLst/>
          </a:prstGeom>
          <a:noFill/>
        </p:spPr>
        <p:txBody>
          <a:bodyPr wrap="square" lIns="36576" rIns="36576" tIns="18288" bIns="18288">
            <a:spAutoFit/>
          </a:bodyPr>
          <a:lstStyle/>
          <a:p>
            <a:pPr algn="l">
              <a:defRPr sz="1200" b="0">
                <a:solidFill>
                  <a:srgbClr val="173E45"/>
                </a:solidFill>
                <a:latin typeface="Aptos"/>
              </a:defRPr>
            </a:pPr>
            <a:r>
              <a:t>Scope: demo-api • current release window • database enum • exactly one value</a:t>
            </a:r>
          </a:p>
        </p:txBody>
      </p:sp>
      <p:sp>
        <p:nvSpPr>
          <p:cNvPr id="10" name="Rounded Rectangle 9"/>
          <p:cNvSpPr/>
          <p:nvPr/>
        </p:nvSpPr>
        <p:spPr>
          <a:xfrm>
            <a:off x="530352" y="2724912"/>
            <a:ext cx="1719072" cy="1207008"/>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30352" y="2724912"/>
            <a:ext cx="1719072" cy="384048"/>
          </a:xfrm>
          <a:prstGeom prst="roundRect">
            <a:avLst/>
          </a:prstGeom>
          <a:solidFill>
            <a:srgbClr val="2F7775"/>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5" y="2798064"/>
            <a:ext cx="1609344" cy="228600"/>
          </a:xfrm>
          <a:prstGeom prst="rect">
            <a:avLst/>
          </a:prstGeom>
          <a:noFill/>
        </p:spPr>
        <p:txBody>
          <a:bodyPr wrap="square" lIns="36576" rIns="36576" tIns="18288" bIns="18288">
            <a:spAutoFit/>
          </a:bodyPr>
          <a:lstStyle/>
          <a:p>
            <a:pPr algn="ctr">
              <a:defRPr sz="1200" b="1">
                <a:solidFill>
                  <a:srgbClr val="FFFFFF"/>
                </a:solidFill>
                <a:latin typeface="Aptos"/>
              </a:defRPr>
            </a:pPr>
            <a:r>
              <a:t>Grok bot</a:t>
            </a:r>
          </a:p>
        </p:txBody>
      </p:sp>
      <p:sp>
        <p:nvSpPr>
          <p:cNvPr id="13" name="TextBox 12"/>
          <p:cNvSpPr txBox="1"/>
          <p:nvPr/>
        </p:nvSpPr>
        <p:spPr>
          <a:xfrm>
            <a:off x="603503" y="3200400"/>
            <a:ext cx="1572768" cy="201168"/>
          </a:xfrm>
          <a:prstGeom prst="rect">
            <a:avLst/>
          </a:prstGeom>
          <a:noFill/>
        </p:spPr>
        <p:txBody>
          <a:bodyPr wrap="square" lIns="36576" rIns="36576" tIns="18288" bIns="18288">
            <a:spAutoFit/>
          </a:bodyPr>
          <a:lstStyle/>
          <a:p>
            <a:pPr algn="ctr">
              <a:defRPr sz="1000" b="0">
                <a:solidFill>
                  <a:srgbClr val="64777A"/>
                </a:solidFill>
                <a:latin typeface="Aptos"/>
              </a:defRPr>
            </a:pPr>
            <a:r>
              <a:t>hypothetical write</a:t>
            </a:r>
          </a:p>
        </p:txBody>
      </p:sp>
      <p:sp>
        <p:nvSpPr>
          <p:cNvPr id="14" name="TextBox 13"/>
          <p:cNvSpPr txBox="1"/>
          <p:nvPr/>
        </p:nvSpPr>
        <p:spPr>
          <a:xfrm>
            <a:off x="603503" y="3474720"/>
            <a:ext cx="1572768" cy="265176"/>
          </a:xfrm>
          <a:prstGeom prst="rect">
            <a:avLst/>
          </a:prstGeom>
          <a:noFill/>
        </p:spPr>
        <p:txBody>
          <a:bodyPr wrap="square" lIns="36576" rIns="36576" tIns="18288" bIns="18288">
            <a:spAutoFit/>
          </a:bodyPr>
          <a:lstStyle/>
          <a:p>
            <a:pPr algn="ctr">
              <a:defRPr sz="1400" b="1">
                <a:solidFill>
                  <a:srgbClr val="2F7775"/>
                </a:solidFill>
                <a:latin typeface="Aptos"/>
              </a:defRPr>
            </a:pPr>
            <a:r>
              <a:t>PostgreSQL</a:t>
            </a:r>
          </a:p>
        </p:txBody>
      </p:sp>
      <p:sp>
        <p:nvSpPr>
          <p:cNvPr id="15" name="Rounded Rectangle 14"/>
          <p:cNvSpPr/>
          <p:nvPr/>
        </p:nvSpPr>
        <p:spPr>
          <a:xfrm>
            <a:off x="2395728" y="2724912"/>
            <a:ext cx="1719072" cy="1207008"/>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95728" y="2724912"/>
            <a:ext cx="1719072" cy="384048"/>
          </a:xfrm>
          <a:prstGeom prst="roundRect">
            <a:avLst/>
          </a:prstGeom>
          <a:solidFill>
            <a:srgbClr val="2F7775"/>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0592" y="2798064"/>
            <a:ext cx="1609344" cy="228600"/>
          </a:xfrm>
          <a:prstGeom prst="rect">
            <a:avLst/>
          </a:prstGeom>
          <a:noFill/>
        </p:spPr>
        <p:txBody>
          <a:bodyPr wrap="square" lIns="36576" rIns="36576" tIns="18288" bIns="18288">
            <a:spAutoFit/>
          </a:bodyPr>
          <a:lstStyle/>
          <a:p>
            <a:pPr algn="ctr">
              <a:defRPr sz="1200" b="1">
                <a:solidFill>
                  <a:srgbClr val="FFFFFF"/>
                </a:solidFill>
                <a:latin typeface="Aptos"/>
              </a:defRPr>
            </a:pPr>
            <a:r>
              <a:t>GPT dots</a:t>
            </a:r>
          </a:p>
        </p:txBody>
      </p:sp>
      <p:sp>
        <p:nvSpPr>
          <p:cNvPr id="18" name="TextBox 17"/>
          <p:cNvSpPr txBox="1"/>
          <p:nvPr/>
        </p:nvSpPr>
        <p:spPr>
          <a:xfrm>
            <a:off x="2468880" y="3200400"/>
            <a:ext cx="1572768" cy="201168"/>
          </a:xfrm>
          <a:prstGeom prst="rect">
            <a:avLst/>
          </a:prstGeom>
          <a:noFill/>
        </p:spPr>
        <p:txBody>
          <a:bodyPr wrap="square" lIns="36576" rIns="36576" tIns="18288" bIns="18288">
            <a:spAutoFit/>
          </a:bodyPr>
          <a:lstStyle/>
          <a:p>
            <a:pPr algn="ctr">
              <a:defRPr sz="1000" b="0">
                <a:solidFill>
                  <a:srgbClr val="64777A"/>
                </a:solidFill>
                <a:latin typeface="Aptos"/>
              </a:defRPr>
            </a:pPr>
            <a:r>
              <a:t>hypothetical write</a:t>
            </a:r>
          </a:p>
        </p:txBody>
      </p:sp>
      <p:sp>
        <p:nvSpPr>
          <p:cNvPr id="19" name="TextBox 18"/>
          <p:cNvSpPr txBox="1"/>
          <p:nvPr/>
        </p:nvSpPr>
        <p:spPr>
          <a:xfrm>
            <a:off x="2468880" y="3474720"/>
            <a:ext cx="1572768" cy="265176"/>
          </a:xfrm>
          <a:prstGeom prst="rect">
            <a:avLst/>
          </a:prstGeom>
          <a:noFill/>
        </p:spPr>
        <p:txBody>
          <a:bodyPr wrap="square" lIns="36576" rIns="36576" tIns="18288" bIns="18288">
            <a:spAutoFit/>
          </a:bodyPr>
          <a:lstStyle/>
          <a:p>
            <a:pPr algn="ctr">
              <a:defRPr sz="1400" b="1">
                <a:solidFill>
                  <a:srgbClr val="2F7775"/>
                </a:solidFill>
                <a:latin typeface="Aptos"/>
              </a:defRPr>
            </a:pPr>
            <a:r>
              <a:t>PostgreSQL</a:t>
            </a:r>
          </a:p>
        </p:txBody>
      </p:sp>
      <p:sp>
        <p:nvSpPr>
          <p:cNvPr id="20" name="Rounded Rectangle 19"/>
          <p:cNvSpPr/>
          <p:nvPr/>
        </p:nvSpPr>
        <p:spPr>
          <a:xfrm>
            <a:off x="4261104" y="2724912"/>
            <a:ext cx="1719072" cy="1207008"/>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261104" y="2724912"/>
            <a:ext cx="1719072" cy="384048"/>
          </a:xfrm>
          <a:prstGeom prst="roundRect">
            <a:avLst/>
          </a:prstGeom>
          <a:solidFill>
            <a:srgbClr val="2F7775"/>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5968" y="2798064"/>
            <a:ext cx="1609344" cy="228600"/>
          </a:xfrm>
          <a:prstGeom prst="rect">
            <a:avLst/>
          </a:prstGeom>
          <a:noFill/>
        </p:spPr>
        <p:txBody>
          <a:bodyPr wrap="square" lIns="36576" rIns="36576" tIns="18288" bIns="18288">
            <a:spAutoFit/>
          </a:bodyPr>
          <a:lstStyle/>
          <a:p>
            <a:pPr algn="ctr">
              <a:defRPr sz="1200" b="1">
                <a:solidFill>
                  <a:srgbClr val="FFFFFF"/>
                </a:solidFill>
                <a:latin typeface="Aptos"/>
              </a:defRPr>
            </a:pPr>
            <a:r>
              <a:t>Claude duet</a:t>
            </a:r>
          </a:p>
        </p:txBody>
      </p:sp>
      <p:sp>
        <p:nvSpPr>
          <p:cNvPr id="23" name="TextBox 22"/>
          <p:cNvSpPr txBox="1"/>
          <p:nvPr/>
        </p:nvSpPr>
        <p:spPr>
          <a:xfrm>
            <a:off x="4334256" y="3200400"/>
            <a:ext cx="1572768" cy="201168"/>
          </a:xfrm>
          <a:prstGeom prst="rect">
            <a:avLst/>
          </a:prstGeom>
          <a:noFill/>
        </p:spPr>
        <p:txBody>
          <a:bodyPr wrap="square" lIns="36576" rIns="36576" tIns="18288" bIns="18288">
            <a:spAutoFit/>
          </a:bodyPr>
          <a:lstStyle/>
          <a:p>
            <a:pPr algn="ctr">
              <a:defRPr sz="1000" b="0">
                <a:solidFill>
                  <a:srgbClr val="64777A"/>
                </a:solidFill>
                <a:latin typeface="Aptos"/>
              </a:defRPr>
            </a:pPr>
            <a:r>
              <a:t>hypothetical write</a:t>
            </a:r>
          </a:p>
        </p:txBody>
      </p:sp>
      <p:sp>
        <p:nvSpPr>
          <p:cNvPr id="24" name="TextBox 23"/>
          <p:cNvSpPr txBox="1"/>
          <p:nvPr/>
        </p:nvSpPr>
        <p:spPr>
          <a:xfrm>
            <a:off x="4334256" y="3474720"/>
            <a:ext cx="1572768" cy="265176"/>
          </a:xfrm>
          <a:prstGeom prst="rect">
            <a:avLst/>
          </a:prstGeom>
          <a:noFill/>
        </p:spPr>
        <p:txBody>
          <a:bodyPr wrap="square" lIns="36576" rIns="36576" tIns="18288" bIns="18288">
            <a:spAutoFit/>
          </a:bodyPr>
          <a:lstStyle/>
          <a:p>
            <a:pPr algn="ctr">
              <a:defRPr sz="1400" b="1">
                <a:solidFill>
                  <a:srgbClr val="2F7775"/>
                </a:solidFill>
                <a:latin typeface="Aptos"/>
              </a:defRPr>
            </a:pPr>
            <a:r>
              <a:t>PostgreSQL</a:t>
            </a:r>
          </a:p>
        </p:txBody>
      </p:sp>
      <p:sp>
        <p:nvSpPr>
          <p:cNvPr id="25" name="Rounded Rectangle 24"/>
          <p:cNvSpPr/>
          <p:nvPr/>
        </p:nvSpPr>
        <p:spPr>
          <a:xfrm>
            <a:off x="6126480" y="2724912"/>
            <a:ext cx="1719072" cy="1207008"/>
          </a:xfrm>
          <a:prstGeom prst="roundRect">
            <a:avLst/>
          </a:prstGeom>
          <a:solidFill>
            <a:srgbClr val="FFFFFF"/>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26480" y="2724912"/>
            <a:ext cx="1719072" cy="384048"/>
          </a:xfrm>
          <a:prstGeom prst="roundRect">
            <a:avLst/>
          </a:prstGeom>
          <a:solidFill>
            <a:srgbClr val="D87965"/>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1344" y="2798064"/>
            <a:ext cx="1609344" cy="228600"/>
          </a:xfrm>
          <a:prstGeom prst="rect">
            <a:avLst/>
          </a:prstGeom>
          <a:noFill/>
        </p:spPr>
        <p:txBody>
          <a:bodyPr wrap="square" lIns="36576" rIns="36576" tIns="18288" bIns="18288">
            <a:spAutoFit/>
          </a:bodyPr>
          <a:lstStyle/>
          <a:p>
            <a:pPr algn="ctr">
              <a:defRPr sz="1200" b="1">
                <a:solidFill>
                  <a:srgbClr val="FFFFFF"/>
                </a:solidFill>
                <a:latin typeface="Aptos"/>
              </a:defRPr>
            </a:pPr>
            <a:r>
              <a:t>Harkpro</a:t>
            </a:r>
          </a:p>
        </p:txBody>
      </p:sp>
      <p:sp>
        <p:nvSpPr>
          <p:cNvPr id="28" name="TextBox 27"/>
          <p:cNvSpPr txBox="1"/>
          <p:nvPr/>
        </p:nvSpPr>
        <p:spPr>
          <a:xfrm>
            <a:off x="6199632" y="3200400"/>
            <a:ext cx="1572768" cy="201168"/>
          </a:xfrm>
          <a:prstGeom prst="rect">
            <a:avLst/>
          </a:prstGeom>
          <a:noFill/>
        </p:spPr>
        <p:txBody>
          <a:bodyPr wrap="square" lIns="36576" rIns="36576" tIns="18288" bIns="18288">
            <a:spAutoFit/>
          </a:bodyPr>
          <a:lstStyle/>
          <a:p>
            <a:pPr algn="ctr">
              <a:defRPr sz="1000" b="0">
                <a:solidFill>
                  <a:srgbClr val="64777A"/>
                </a:solidFill>
                <a:latin typeface="Aptos"/>
              </a:defRPr>
            </a:pPr>
            <a:r>
              <a:t>hypothetical write</a:t>
            </a:r>
          </a:p>
        </p:txBody>
      </p:sp>
      <p:sp>
        <p:nvSpPr>
          <p:cNvPr id="29" name="TextBox 28"/>
          <p:cNvSpPr txBox="1"/>
          <p:nvPr/>
        </p:nvSpPr>
        <p:spPr>
          <a:xfrm>
            <a:off x="6199632" y="3474720"/>
            <a:ext cx="1572768" cy="265176"/>
          </a:xfrm>
          <a:prstGeom prst="rect">
            <a:avLst/>
          </a:prstGeom>
          <a:noFill/>
        </p:spPr>
        <p:txBody>
          <a:bodyPr wrap="square" lIns="36576" rIns="36576" tIns="18288" bIns="18288">
            <a:spAutoFit/>
          </a:bodyPr>
          <a:lstStyle/>
          <a:p>
            <a:pPr algn="ctr">
              <a:defRPr sz="1400" b="1">
                <a:solidFill>
                  <a:srgbClr val="D87965"/>
                </a:solidFill>
                <a:latin typeface="Aptos"/>
              </a:defRPr>
            </a:pPr>
            <a:r>
              <a:t>DynamoDB</a:t>
            </a:r>
          </a:p>
        </p:txBody>
      </p:sp>
      <p:sp>
        <p:nvSpPr>
          <p:cNvPr id="30" name="Rounded Rectangle 29"/>
          <p:cNvSpPr/>
          <p:nvPr/>
        </p:nvSpPr>
        <p:spPr>
          <a:xfrm>
            <a:off x="7991856" y="2724912"/>
            <a:ext cx="1719072" cy="1207008"/>
          </a:xfrm>
          <a:prstGeom prst="roundRect">
            <a:avLst/>
          </a:prstGeom>
          <a:solidFill>
            <a:srgbClr val="FFFFFF"/>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991856" y="2724912"/>
            <a:ext cx="1719072" cy="384048"/>
          </a:xfrm>
          <a:prstGeom prst="roundRect">
            <a:avLst/>
          </a:prstGeom>
          <a:solidFill>
            <a:srgbClr val="D87965"/>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0" y="2798064"/>
            <a:ext cx="1609344" cy="228600"/>
          </a:xfrm>
          <a:prstGeom prst="rect">
            <a:avLst/>
          </a:prstGeom>
          <a:noFill/>
        </p:spPr>
        <p:txBody>
          <a:bodyPr wrap="square" lIns="36576" rIns="36576" tIns="18288" bIns="18288">
            <a:spAutoFit/>
          </a:bodyPr>
          <a:lstStyle/>
          <a:p>
            <a:pPr algn="ctr">
              <a:defRPr sz="1200" b="1">
                <a:solidFill>
                  <a:srgbClr val="FFFFFF"/>
                </a:solidFill>
                <a:latin typeface="Aptos"/>
              </a:defRPr>
            </a:pPr>
            <a:r>
              <a:t>Wajo Fo</a:t>
            </a:r>
          </a:p>
        </p:txBody>
      </p:sp>
      <p:sp>
        <p:nvSpPr>
          <p:cNvPr id="33" name="TextBox 32"/>
          <p:cNvSpPr txBox="1"/>
          <p:nvPr/>
        </p:nvSpPr>
        <p:spPr>
          <a:xfrm>
            <a:off x="8065008" y="3200400"/>
            <a:ext cx="1572768" cy="201168"/>
          </a:xfrm>
          <a:prstGeom prst="rect">
            <a:avLst/>
          </a:prstGeom>
          <a:noFill/>
        </p:spPr>
        <p:txBody>
          <a:bodyPr wrap="square" lIns="36576" rIns="36576" tIns="18288" bIns="18288">
            <a:spAutoFit/>
          </a:bodyPr>
          <a:lstStyle/>
          <a:p>
            <a:pPr algn="ctr">
              <a:defRPr sz="1000" b="0">
                <a:solidFill>
                  <a:srgbClr val="64777A"/>
                </a:solidFill>
                <a:latin typeface="Aptos"/>
              </a:defRPr>
            </a:pPr>
            <a:r>
              <a:t>hypothetical write</a:t>
            </a:r>
          </a:p>
        </p:txBody>
      </p:sp>
      <p:sp>
        <p:nvSpPr>
          <p:cNvPr id="34" name="TextBox 33"/>
          <p:cNvSpPr txBox="1"/>
          <p:nvPr/>
        </p:nvSpPr>
        <p:spPr>
          <a:xfrm>
            <a:off x="8065008" y="3474720"/>
            <a:ext cx="1572768" cy="265176"/>
          </a:xfrm>
          <a:prstGeom prst="rect">
            <a:avLst/>
          </a:prstGeom>
          <a:noFill/>
        </p:spPr>
        <p:txBody>
          <a:bodyPr wrap="square" lIns="36576" rIns="36576" tIns="18288" bIns="18288">
            <a:spAutoFit/>
          </a:bodyPr>
          <a:lstStyle/>
          <a:p>
            <a:pPr algn="ctr">
              <a:defRPr sz="1400" b="1">
                <a:solidFill>
                  <a:srgbClr val="D87965"/>
                </a:solidFill>
                <a:latin typeface="Aptos"/>
              </a:defRPr>
            </a:pPr>
            <a:r>
              <a:t>DynamoDB</a:t>
            </a:r>
          </a:p>
        </p:txBody>
      </p:sp>
      <p:sp>
        <p:nvSpPr>
          <p:cNvPr id="35" name="Rounded Rectangle 34"/>
          <p:cNvSpPr/>
          <p:nvPr/>
        </p:nvSpPr>
        <p:spPr>
          <a:xfrm>
            <a:off x="9857232" y="2724912"/>
            <a:ext cx="1719072" cy="1207008"/>
          </a:xfrm>
          <a:prstGeom prst="roundRect">
            <a:avLst/>
          </a:prstGeom>
          <a:solidFill>
            <a:srgbClr val="FFFFFF"/>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857232" y="2724912"/>
            <a:ext cx="1719072" cy="384048"/>
          </a:xfrm>
          <a:prstGeom prst="roundRect">
            <a:avLst/>
          </a:prstGeom>
          <a:solidFill>
            <a:srgbClr val="D87965"/>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12096" y="2798064"/>
            <a:ext cx="1609344" cy="228600"/>
          </a:xfrm>
          <a:prstGeom prst="rect">
            <a:avLst/>
          </a:prstGeom>
          <a:noFill/>
        </p:spPr>
        <p:txBody>
          <a:bodyPr wrap="square" lIns="36576" rIns="36576" tIns="18288" bIns="18288">
            <a:spAutoFit/>
          </a:bodyPr>
          <a:lstStyle/>
          <a:p>
            <a:pPr algn="ctr">
              <a:defRPr sz="1200" b="1">
                <a:solidFill>
                  <a:srgbClr val="FFFFFF"/>
                </a:solidFill>
                <a:latin typeface="Aptos"/>
              </a:defRPr>
            </a:pPr>
            <a:r>
              <a:t>Wabi</a:t>
            </a:r>
          </a:p>
        </p:txBody>
      </p:sp>
      <p:sp>
        <p:nvSpPr>
          <p:cNvPr id="38" name="TextBox 37"/>
          <p:cNvSpPr txBox="1"/>
          <p:nvPr/>
        </p:nvSpPr>
        <p:spPr>
          <a:xfrm>
            <a:off x="9930384" y="3200400"/>
            <a:ext cx="1572768" cy="201168"/>
          </a:xfrm>
          <a:prstGeom prst="rect">
            <a:avLst/>
          </a:prstGeom>
          <a:noFill/>
        </p:spPr>
        <p:txBody>
          <a:bodyPr wrap="square" lIns="36576" rIns="36576" tIns="18288" bIns="18288">
            <a:spAutoFit/>
          </a:bodyPr>
          <a:lstStyle/>
          <a:p>
            <a:pPr algn="ctr">
              <a:defRPr sz="1000" b="0">
                <a:solidFill>
                  <a:srgbClr val="64777A"/>
                </a:solidFill>
                <a:latin typeface="Aptos"/>
              </a:defRPr>
            </a:pPr>
            <a:r>
              <a:t>hypothetical write</a:t>
            </a:r>
          </a:p>
        </p:txBody>
      </p:sp>
      <p:sp>
        <p:nvSpPr>
          <p:cNvPr id="39" name="TextBox 38"/>
          <p:cNvSpPr txBox="1"/>
          <p:nvPr/>
        </p:nvSpPr>
        <p:spPr>
          <a:xfrm>
            <a:off x="9930384" y="3474720"/>
            <a:ext cx="1572768" cy="265176"/>
          </a:xfrm>
          <a:prstGeom prst="rect">
            <a:avLst/>
          </a:prstGeom>
          <a:noFill/>
        </p:spPr>
        <p:txBody>
          <a:bodyPr wrap="square" lIns="36576" rIns="36576" tIns="18288" bIns="18288">
            <a:spAutoFit/>
          </a:bodyPr>
          <a:lstStyle/>
          <a:p>
            <a:pPr algn="ctr">
              <a:defRPr sz="1400" b="1">
                <a:solidFill>
                  <a:srgbClr val="D87965"/>
                </a:solidFill>
                <a:latin typeface="Aptos"/>
              </a:defRPr>
            </a:pPr>
            <a:r>
              <a:t>DynamoDB</a:t>
            </a:r>
          </a:p>
        </p:txBody>
      </p:sp>
      <p:sp>
        <p:nvSpPr>
          <p:cNvPr id="40" name="Rounded Rectangle 39"/>
          <p:cNvSpPr/>
          <p:nvPr/>
        </p:nvSpPr>
        <p:spPr>
          <a:xfrm>
            <a:off x="530352" y="4233672"/>
            <a:ext cx="5376672" cy="1143000"/>
          </a:xfrm>
          <a:prstGeom prst="roundRect">
            <a:avLst/>
          </a:prstGeom>
          <a:solidFill>
            <a:srgbClr val="E8F1EC"/>
          </a:solidFill>
          <a:ln w="19050">
            <a:solidFill>
              <a:srgbClr val="8EB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808" y="4398264"/>
            <a:ext cx="4846320" cy="237744"/>
          </a:xfrm>
          <a:prstGeom prst="rect">
            <a:avLst/>
          </a:prstGeom>
          <a:noFill/>
        </p:spPr>
        <p:txBody>
          <a:bodyPr wrap="square" lIns="36576" rIns="36576" tIns="18288" bIns="18288">
            <a:spAutoFit/>
          </a:bodyPr>
          <a:lstStyle/>
          <a:p>
            <a:pPr algn="l">
              <a:defRPr sz="1700" b="1">
                <a:solidFill>
                  <a:srgbClr val="2F7775"/>
                </a:solidFill>
                <a:latin typeface="Aptos"/>
              </a:defRPr>
            </a:pPr>
            <a:r>
              <a:t>3 candidate writes</a:t>
            </a:r>
          </a:p>
        </p:txBody>
      </p:sp>
      <p:sp>
        <p:nvSpPr>
          <p:cNvPr id="42" name="TextBox 41"/>
          <p:cNvSpPr txBox="1"/>
          <p:nvPr/>
        </p:nvSpPr>
        <p:spPr>
          <a:xfrm>
            <a:off x="749808" y="4736592"/>
            <a:ext cx="4846320" cy="274320"/>
          </a:xfrm>
          <a:prstGeom prst="rect">
            <a:avLst/>
          </a:prstGeom>
          <a:noFill/>
        </p:spPr>
        <p:txBody>
          <a:bodyPr wrap="square" lIns="36576" rIns="36576" tIns="18288" bIns="18288">
            <a:spAutoFit/>
          </a:bodyPr>
          <a:lstStyle/>
          <a:p>
            <a:pPr algn="l">
              <a:defRPr sz="1600" b="0">
                <a:solidFill>
                  <a:srgbClr val="173E45"/>
                </a:solidFill>
                <a:latin typeface="Aptos"/>
              </a:defRPr>
            </a:pPr>
            <a:r>
              <a:t>primary_db = PostgreSQL</a:t>
            </a:r>
          </a:p>
        </p:txBody>
      </p:sp>
      <p:sp>
        <p:nvSpPr>
          <p:cNvPr id="43" name="Rounded Rectangle 42"/>
          <p:cNvSpPr/>
          <p:nvPr/>
        </p:nvSpPr>
        <p:spPr>
          <a:xfrm>
            <a:off x="6199632" y="4233672"/>
            <a:ext cx="5394960" cy="1143000"/>
          </a:xfrm>
          <a:prstGeom prst="roundRect">
            <a:avLst/>
          </a:prstGeom>
          <a:solidFill>
            <a:srgbClr val="F9E8E2"/>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19088" y="4398264"/>
            <a:ext cx="4846320" cy="237744"/>
          </a:xfrm>
          <a:prstGeom prst="rect">
            <a:avLst/>
          </a:prstGeom>
          <a:noFill/>
        </p:spPr>
        <p:txBody>
          <a:bodyPr wrap="square" lIns="36576" rIns="36576" tIns="18288" bIns="18288">
            <a:spAutoFit/>
          </a:bodyPr>
          <a:lstStyle/>
          <a:p>
            <a:pPr algn="l">
              <a:defRPr sz="1700" b="1">
                <a:solidFill>
                  <a:srgbClr val="D87965"/>
                </a:solidFill>
                <a:latin typeface="Aptos"/>
              </a:defRPr>
            </a:pPr>
            <a:r>
              <a:t>3 candidate writes</a:t>
            </a:r>
          </a:p>
        </p:txBody>
      </p:sp>
      <p:sp>
        <p:nvSpPr>
          <p:cNvPr id="45" name="TextBox 44"/>
          <p:cNvSpPr txBox="1"/>
          <p:nvPr/>
        </p:nvSpPr>
        <p:spPr>
          <a:xfrm>
            <a:off x="6419088" y="4736592"/>
            <a:ext cx="4846320" cy="274320"/>
          </a:xfrm>
          <a:prstGeom prst="rect">
            <a:avLst/>
          </a:prstGeom>
          <a:noFill/>
        </p:spPr>
        <p:txBody>
          <a:bodyPr wrap="square" lIns="36576" rIns="36576" tIns="18288" bIns="18288">
            <a:spAutoFit/>
          </a:bodyPr>
          <a:lstStyle/>
          <a:p>
            <a:pPr algn="l">
              <a:defRPr sz="1600" b="0">
                <a:solidFill>
                  <a:srgbClr val="173E45"/>
                </a:solidFill>
                <a:latin typeface="Aptos"/>
              </a:defRPr>
            </a:pPr>
            <a:r>
              <a:t>primary_db = DynamoDB</a:t>
            </a:r>
          </a:p>
        </p:txBody>
      </p:sp>
      <p:sp>
        <p:nvSpPr>
          <p:cNvPr id="46" name="TextBox 45"/>
          <p:cNvSpPr txBox="1"/>
          <p:nvPr/>
        </p:nvSpPr>
        <p:spPr>
          <a:xfrm>
            <a:off x="685800" y="5596128"/>
            <a:ext cx="10881360" cy="566928"/>
          </a:xfrm>
          <a:prstGeom prst="rect">
            <a:avLst/>
          </a:prstGeom>
          <a:noFill/>
        </p:spPr>
        <p:txBody>
          <a:bodyPr wrap="square" lIns="36576" rIns="36576" tIns="18288" bIns="18288">
            <a:spAutoFit/>
          </a:bodyPr>
          <a:lstStyle/>
          <a:p>
            <a:pPr algn="ctr">
              <a:defRPr sz="1500" b="1">
                <a:solidFill>
                  <a:srgbClr val="173E45"/>
                </a:solidFill>
                <a:latin typeface="Aptos"/>
              </a:defRPr>
            </a:pPr>
            <a:r>
              <a:t>Same declared key + scope + interval: equal values may be equivalent; the two values cannot both occupy a single-valued key.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3E9"/>
        </a:solidFill>
        <a:effectLst/>
      </p:bgPr>
    </p:bg>
    <p:spTree>
      <p:nvGrpSpPr>
        <p:cNvPr id="1" name=""/>
        <p:cNvGrpSpPr/>
        <p:nvPr/>
      </p:nvGrpSpPr>
      <p:grpSpPr/>
      <p:sp>
        <p:nvSpPr>
          <p:cNvPr id="2" name="TextBox 1"/>
          <p:cNvSpPr txBox="1"/>
          <p:nvPr/>
        </p:nvSpPr>
        <p:spPr>
          <a:xfrm>
            <a:off x="502920" y="219456"/>
            <a:ext cx="11155680" cy="274320"/>
          </a:xfrm>
          <a:prstGeom prst="rect">
            <a:avLst/>
          </a:prstGeom>
          <a:noFill/>
        </p:spPr>
        <p:txBody>
          <a:bodyPr wrap="square" lIns="36576" rIns="36576" tIns="18288" bIns="18288">
            <a:spAutoFit/>
          </a:bodyPr>
          <a:lstStyle/>
          <a:p>
            <a:pPr algn="l">
              <a:defRPr sz="1200" b="1">
                <a:solidFill>
                  <a:srgbClr val="2F7775"/>
                </a:solidFill>
                <a:latin typeface="Aptos"/>
              </a:defRPr>
            </a:pPr>
            <a:r>
              <a:t>AVA EVALUATION • MONDAY REVIEW • PROVISIONAL PACK</a:t>
            </a:r>
          </a:p>
        </p:txBody>
      </p:sp>
      <p:sp>
        <p:nvSpPr>
          <p:cNvPr id="3" name="TextBox 2"/>
          <p:cNvSpPr txBox="1"/>
          <p:nvPr/>
        </p:nvSpPr>
        <p:spPr>
          <a:xfrm>
            <a:off x="502920" y="603504"/>
            <a:ext cx="11155680" cy="566928"/>
          </a:xfrm>
          <a:prstGeom prst="rect">
            <a:avLst/>
          </a:prstGeom>
          <a:noFill/>
        </p:spPr>
        <p:txBody>
          <a:bodyPr wrap="square" lIns="36576" rIns="36576" tIns="18288" bIns="18288">
            <a:spAutoFit/>
          </a:bodyPr>
          <a:lstStyle/>
          <a:p>
            <a:pPr algn="l">
              <a:defRPr sz="2700" b="1">
                <a:solidFill>
                  <a:srgbClr val="173E45"/>
                </a:solidFill>
                <a:latin typeface="Aptos"/>
              </a:defRPr>
            </a:pPr>
            <a:r>
              <a:t>Do not collapse four different questions</a:t>
            </a:r>
          </a:p>
        </p:txBody>
      </p:sp>
      <p:sp>
        <p:nvSpPr>
          <p:cNvPr id="4" name="TextBox 3"/>
          <p:cNvSpPr txBox="1"/>
          <p:nvPr/>
        </p:nvSpPr>
        <p:spPr>
          <a:xfrm>
            <a:off x="530352" y="1197864"/>
            <a:ext cx="10972800" cy="384048"/>
          </a:xfrm>
          <a:prstGeom prst="rect">
            <a:avLst/>
          </a:prstGeom>
          <a:noFill/>
        </p:spPr>
        <p:txBody>
          <a:bodyPr wrap="square" lIns="36576" rIns="36576" tIns="18288" bIns="18288">
            <a:spAutoFit/>
          </a:bodyPr>
          <a:lstStyle/>
          <a:p>
            <a:pPr algn="l">
              <a:defRPr sz="1400" b="0">
                <a:solidFill>
                  <a:srgbClr val="64777A"/>
                </a:solidFill>
                <a:latin typeface="Aptos"/>
              </a:defRPr>
            </a:pPr>
            <a:r>
              <a:t>In the example, disagreement is not “solved” by counting agents or choosing the last arrival.</a:t>
            </a:r>
          </a:p>
        </p:txBody>
      </p:sp>
      <p:sp>
        <p:nvSpPr>
          <p:cNvPr id="5" name="Rectangle 4"/>
          <p:cNvSpPr/>
          <p:nvPr/>
        </p:nvSpPr>
        <p:spPr>
          <a:xfrm>
            <a:off x="502920" y="1088136"/>
            <a:ext cx="11155680" cy="22860"/>
          </a:xfrm>
          <a:prstGeom prst="rect">
            <a:avLst/>
          </a:prstGeom>
          <a:solidFill>
            <a:srgbClr val="2F7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492240"/>
            <a:ext cx="9875520" cy="182880"/>
          </a:xfrm>
          <a:prstGeom prst="rect">
            <a:avLst/>
          </a:prstGeom>
          <a:noFill/>
        </p:spPr>
        <p:txBody>
          <a:bodyPr wrap="square" lIns="36576" rIns="36576" tIns="18288" bIns="18288">
            <a:spAutoFit/>
          </a:bodyPr>
          <a:lstStyle/>
          <a:p>
            <a:pPr algn="l">
              <a:defRPr sz="900" b="0">
                <a:solidFill>
                  <a:srgbClr val="64777A"/>
                </a:solidFill>
                <a:latin typeface="Aptos"/>
              </a:defRPr>
            </a:pPr>
            <a:r>
              <a:t>Review aid only • novelty unresolved • no implementation authorized</a:t>
            </a:r>
          </a:p>
        </p:txBody>
      </p:sp>
      <p:sp>
        <p:nvSpPr>
          <p:cNvPr id="7" name="Rounded Rectangle 6"/>
          <p:cNvSpPr/>
          <p:nvPr/>
        </p:nvSpPr>
        <p:spPr>
          <a:xfrm>
            <a:off x="530352" y="1865376"/>
            <a:ext cx="2560320" cy="3108960"/>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352" y="1865376"/>
            <a:ext cx="2560320" cy="530352"/>
          </a:xfrm>
          <a:prstGeom prst="roundRect">
            <a:avLst/>
          </a:prstGeom>
          <a:solidFill>
            <a:srgbClr val="2F7775"/>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84248"/>
            <a:ext cx="2377440" cy="292608"/>
          </a:xfrm>
          <a:prstGeom prst="rect">
            <a:avLst/>
          </a:prstGeom>
          <a:noFill/>
        </p:spPr>
        <p:txBody>
          <a:bodyPr wrap="square" lIns="36576" rIns="36576" tIns="18288" bIns="18288">
            <a:spAutoFit/>
          </a:bodyPr>
          <a:lstStyle/>
          <a:p>
            <a:pPr algn="ctr">
              <a:defRPr sz="1500" b="1">
                <a:solidFill>
                  <a:srgbClr val="FFFFFF"/>
                </a:solidFill>
                <a:latin typeface="Aptos"/>
              </a:defRPr>
            </a:pPr>
            <a:r>
              <a:t>1  PROVENANCE</a:t>
            </a:r>
          </a:p>
        </p:txBody>
      </p:sp>
      <p:sp>
        <p:nvSpPr>
          <p:cNvPr id="10" name="TextBox 9"/>
          <p:cNvSpPr txBox="1"/>
          <p:nvPr/>
        </p:nvSpPr>
        <p:spPr>
          <a:xfrm>
            <a:off x="694944" y="2688336"/>
            <a:ext cx="2240280" cy="1261872"/>
          </a:xfrm>
          <a:prstGeom prst="rect">
            <a:avLst/>
          </a:prstGeom>
          <a:noFill/>
        </p:spPr>
        <p:txBody>
          <a:bodyPr wrap="square" lIns="36576" rIns="36576" tIns="18288" bIns="18288">
            <a:spAutoFit/>
          </a:bodyPr>
          <a:lstStyle/>
          <a:p>
            <a:pPr algn="ctr">
              <a:defRPr sz="1500" b="1">
                <a:solidFill>
                  <a:srgbClr val="173E45"/>
                </a:solidFill>
                <a:latin typeface="Aptos"/>
              </a:defRPr>
            </a:pPr>
            <a:r>
              <a:t>Six hypothetical labels</a:t>
            </a:r>
          </a:p>
          <a:p>
            <a:pPr algn="ctr">
              <a:defRPr sz="1500" b="1">
                <a:solidFill>
                  <a:srgbClr val="173E45"/>
                </a:solidFill>
                <a:latin typeface="Aptos"/>
              </a:defRPr>
            </a:pPr>
            <a:r>
              <a:t>Each write stays attached to its source.</a:t>
            </a:r>
          </a:p>
        </p:txBody>
      </p:sp>
      <p:sp>
        <p:nvSpPr>
          <p:cNvPr id="11" name="TextBox 10"/>
          <p:cNvSpPr txBox="1"/>
          <p:nvPr/>
        </p:nvSpPr>
        <p:spPr>
          <a:xfrm>
            <a:off x="667512" y="4306824"/>
            <a:ext cx="2286000" cy="438912"/>
          </a:xfrm>
          <a:prstGeom prst="rect">
            <a:avLst/>
          </a:prstGeom>
          <a:noFill/>
        </p:spPr>
        <p:txBody>
          <a:bodyPr wrap="square" lIns="36576" rIns="36576" tIns="18288" bIns="18288">
            <a:spAutoFit/>
          </a:bodyPr>
          <a:lstStyle/>
          <a:p>
            <a:pPr algn="ctr">
              <a:defRPr sz="1200" b="0">
                <a:solidFill>
                  <a:srgbClr val="64777A"/>
                </a:solidFill>
                <a:latin typeface="Aptos"/>
              </a:defRPr>
            </a:pPr>
            <a:r>
              <a:t>Who said which value?</a:t>
            </a:r>
          </a:p>
        </p:txBody>
      </p:sp>
      <p:sp>
        <p:nvSpPr>
          <p:cNvPr id="12" name="TextBox 11"/>
          <p:cNvSpPr txBox="1"/>
          <p:nvPr/>
        </p:nvSpPr>
        <p:spPr>
          <a:xfrm>
            <a:off x="3108960" y="3246120"/>
            <a:ext cx="228600" cy="411480"/>
          </a:xfrm>
          <a:prstGeom prst="rect">
            <a:avLst/>
          </a:prstGeom>
          <a:noFill/>
        </p:spPr>
        <p:txBody>
          <a:bodyPr wrap="square" lIns="36576" rIns="36576" tIns="18288" bIns="18288">
            <a:spAutoFit/>
          </a:bodyPr>
          <a:lstStyle/>
          <a:p>
            <a:pPr algn="ctr">
              <a:defRPr sz="2400" b="1">
                <a:solidFill>
                  <a:srgbClr val="2F7775"/>
                </a:solidFill>
                <a:latin typeface="Aptos"/>
              </a:defRPr>
            </a:pPr>
          </a:p>
        </p:txBody>
      </p:sp>
      <p:sp>
        <p:nvSpPr>
          <p:cNvPr id="13" name="Rounded Rectangle 12"/>
          <p:cNvSpPr/>
          <p:nvPr/>
        </p:nvSpPr>
        <p:spPr>
          <a:xfrm>
            <a:off x="3346704" y="1865376"/>
            <a:ext cx="2560320" cy="3108960"/>
          </a:xfrm>
          <a:prstGeom prst="roundRect">
            <a:avLst/>
          </a:prstGeom>
          <a:solidFill>
            <a:srgbClr val="FFFFFF"/>
          </a:solidFill>
          <a:ln w="19050">
            <a:solidFill>
              <a:srgbClr val="E8B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46704" y="1865376"/>
            <a:ext cx="2560320" cy="530352"/>
          </a:xfrm>
          <a:prstGeom prst="roundRect">
            <a:avLst/>
          </a:prstGeom>
          <a:solidFill>
            <a:srgbClr val="E8B653"/>
          </a:solidFill>
          <a:ln w="19050">
            <a:solidFill>
              <a:srgbClr val="E8B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38144" y="1984248"/>
            <a:ext cx="2377440" cy="292608"/>
          </a:xfrm>
          <a:prstGeom prst="rect">
            <a:avLst/>
          </a:prstGeom>
          <a:noFill/>
        </p:spPr>
        <p:txBody>
          <a:bodyPr wrap="square" lIns="36576" rIns="36576" tIns="18288" bIns="18288">
            <a:spAutoFit/>
          </a:bodyPr>
          <a:lstStyle/>
          <a:p>
            <a:pPr algn="ctr">
              <a:defRPr sz="1500" b="1">
                <a:solidFill>
                  <a:srgbClr val="FFFFFF"/>
                </a:solidFill>
                <a:latin typeface="Aptos"/>
              </a:defRPr>
            </a:pPr>
            <a:r>
              <a:t>2  RELATION</a:t>
            </a:r>
          </a:p>
        </p:txBody>
      </p:sp>
      <p:sp>
        <p:nvSpPr>
          <p:cNvPr id="16" name="TextBox 15"/>
          <p:cNvSpPr txBox="1"/>
          <p:nvPr/>
        </p:nvSpPr>
        <p:spPr>
          <a:xfrm>
            <a:off x="3511296" y="2688336"/>
            <a:ext cx="2240280" cy="1261872"/>
          </a:xfrm>
          <a:prstGeom prst="rect">
            <a:avLst/>
          </a:prstGeom>
          <a:noFill/>
        </p:spPr>
        <p:txBody>
          <a:bodyPr wrap="square" lIns="36576" rIns="36576" tIns="18288" bIns="18288">
            <a:spAutoFit/>
          </a:bodyPr>
          <a:lstStyle/>
          <a:p>
            <a:pPr algn="ctr">
              <a:defRPr sz="1500" b="1">
                <a:solidFill>
                  <a:srgbClr val="173E45"/>
                </a:solidFill>
                <a:latin typeface="Aptos"/>
              </a:defRPr>
            </a:pPr>
            <a:r>
              <a:t>Same-key / same-scope</a:t>
            </a:r>
          </a:p>
          <a:p>
            <a:pPr algn="ctr">
              <a:defRPr sz="1500" b="1">
                <a:solidFill>
                  <a:srgbClr val="173E45"/>
                </a:solidFill>
                <a:latin typeface="Aptos"/>
              </a:defRPr>
            </a:pPr>
            <a:r>
              <a:t>PostgreSQL vs DynamoDB = hard-conflict candidate.</a:t>
            </a:r>
          </a:p>
        </p:txBody>
      </p:sp>
      <p:sp>
        <p:nvSpPr>
          <p:cNvPr id="17" name="TextBox 16"/>
          <p:cNvSpPr txBox="1"/>
          <p:nvPr/>
        </p:nvSpPr>
        <p:spPr>
          <a:xfrm>
            <a:off x="3483864" y="4306824"/>
            <a:ext cx="2286000" cy="438912"/>
          </a:xfrm>
          <a:prstGeom prst="rect">
            <a:avLst/>
          </a:prstGeom>
          <a:noFill/>
        </p:spPr>
        <p:txBody>
          <a:bodyPr wrap="square" lIns="36576" rIns="36576" tIns="18288" bIns="18288">
            <a:spAutoFit/>
          </a:bodyPr>
          <a:lstStyle/>
          <a:p>
            <a:pPr algn="ctr">
              <a:defRPr sz="1200" b="0">
                <a:solidFill>
                  <a:srgbClr val="64777A"/>
                </a:solidFill>
                <a:latin typeface="Aptos"/>
              </a:defRPr>
            </a:pPr>
            <a:r>
              <a:t>Can both be true?</a:t>
            </a:r>
          </a:p>
        </p:txBody>
      </p:sp>
      <p:sp>
        <p:nvSpPr>
          <p:cNvPr id="18" name="TextBox 17"/>
          <p:cNvSpPr txBox="1"/>
          <p:nvPr/>
        </p:nvSpPr>
        <p:spPr>
          <a:xfrm>
            <a:off x="5925312" y="3246120"/>
            <a:ext cx="228600" cy="411480"/>
          </a:xfrm>
          <a:prstGeom prst="rect">
            <a:avLst/>
          </a:prstGeom>
          <a:noFill/>
        </p:spPr>
        <p:txBody>
          <a:bodyPr wrap="square" lIns="36576" rIns="36576" tIns="18288" bIns="18288">
            <a:spAutoFit/>
          </a:bodyPr>
          <a:lstStyle/>
          <a:p>
            <a:pPr algn="ctr">
              <a:defRPr sz="2400" b="1">
                <a:solidFill>
                  <a:srgbClr val="2F7775"/>
                </a:solidFill>
                <a:latin typeface="Aptos"/>
              </a:defRPr>
            </a:pPr>
          </a:p>
        </p:txBody>
      </p:sp>
      <p:sp>
        <p:nvSpPr>
          <p:cNvPr id="19" name="Rounded Rectangle 18"/>
          <p:cNvSpPr/>
          <p:nvPr/>
        </p:nvSpPr>
        <p:spPr>
          <a:xfrm>
            <a:off x="6163056" y="1865376"/>
            <a:ext cx="2560320" cy="3108960"/>
          </a:xfrm>
          <a:prstGeom prst="roundRect">
            <a:avLst/>
          </a:prstGeom>
          <a:solidFill>
            <a:srgbClr val="FFFFFF"/>
          </a:solidFill>
          <a:ln w="19050">
            <a:solidFill>
              <a:srgbClr val="7186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63056" y="1865376"/>
            <a:ext cx="2560320" cy="530352"/>
          </a:xfrm>
          <a:prstGeom prst="roundRect">
            <a:avLst/>
          </a:prstGeom>
          <a:solidFill>
            <a:srgbClr val="7186A4"/>
          </a:solidFill>
          <a:ln w="19050">
            <a:solidFill>
              <a:srgbClr val="7186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6" y="1984248"/>
            <a:ext cx="2377440" cy="292608"/>
          </a:xfrm>
          <a:prstGeom prst="rect">
            <a:avLst/>
          </a:prstGeom>
          <a:noFill/>
        </p:spPr>
        <p:txBody>
          <a:bodyPr wrap="square" lIns="36576" rIns="36576" tIns="18288" bIns="18288">
            <a:spAutoFit/>
          </a:bodyPr>
          <a:lstStyle/>
          <a:p>
            <a:pPr algn="ctr">
              <a:defRPr sz="1500" b="1">
                <a:solidFill>
                  <a:srgbClr val="FFFFFF"/>
                </a:solidFill>
                <a:latin typeface="Aptos"/>
              </a:defRPr>
            </a:pPr>
            <a:r>
              <a:t>3  POLICY ACTION</a:t>
            </a:r>
          </a:p>
        </p:txBody>
      </p:sp>
      <p:sp>
        <p:nvSpPr>
          <p:cNvPr id="22" name="TextBox 21"/>
          <p:cNvSpPr txBox="1"/>
          <p:nvPr/>
        </p:nvSpPr>
        <p:spPr>
          <a:xfrm>
            <a:off x="6327648" y="2688336"/>
            <a:ext cx="2240280" cy="1261872"/>
          </a:xfrm>
          <a:prstGeom prst="rect">
            <a:avLst/>
          </a:prstGeom>
          <a:noFill/>
        </p:spPr>
        <p:txBody>
          <a:bodyPr wrap="square" lIns="36576" rIns="36576" tIns="18288" bIns="18288">
            <a:spAutoFit/>
          </a:bodyPr>
          <a:lstStyle/>
          <a:p>
            <a:pPr algn="ctr">
              <a:defRPr sz="1500" b="1">
                <a:solidFill>
                  <a:srgbClr val="173E45"/>
                </a:solidFill>
                <a:latin typeface="Aptos"/>
              </a:defRPr>
            </a:pPr>
            <a:r>
              <a:t>VERIFY</a:t>
            </a:r>
          </a:p>
          <a:p>
            <a:pPr algn="ctr">
              <a:defRPr sz="1500" b="1">
                <a:solidFill>
                  <a:srgbClr val="173E45"/>
                </a:solidFill>
                <a:latin typeface="Aptos"/>
              </a:defRPr>
            </a:pPr>
            <a:r>
              <a:t>Only with a named evidence source + deterministic rule.</a:t>
            </a:r>
          </a:p>
        </p:txBody>
      </p:sp>
      <p:sp>
        <p:nvSpPr>
          <p:cNvPr id="23" name="TextBox 22"/>
          <p:cNvSpPr txBox="1"/>
          <p:nvPr/>
        </p:nvSpPr>
        <p:spPr>
          <a:xfrm>
            <a:off x="6300216" y="4306824"/>
            <a:ext cx="2286000" cy="438912"/>
          </a:xfrm>
          <a:prstGeom prst="rect">
            <a:avLst/>
          </a:prstGeom>
          <a:noFill/>
        </p:spPr>
        <p:txBody>
          <a:bodyPr wrap="square" lIns="36576" rIns="36576" tIns="18288" bIns="18288">
            <a:spAutoFit/>
          </a:bodyPr>
          <a:lstStyle/>
          <a:p>
            <a:pPr algn="ctr">
              <a:defRPr sz="1200" b="0">
                <a:solidFill>
                  <a:srgbClr val="64777A"/>
                </a:solidFill>
                <a:latin typeface="Aptos"/>
              </a:defRPr>
            </a:pPr>
            <a:r>
              <a:t>What should happen?</a:t>
            </a:r>
          </a:p>
        </p:txBody>
      </p:sp>
      <p:sp>
        <p:nvSpPr>
          <p:cNvPr id="24" name="TextBox 23"/>
          <p:cNvSpPr txBox="1"/>
          <p:nvPr/>
        </p:nvSpPr>
        <p:spPr>
          <a:xfrm>
            <a:off x="8741664" y="3246120"/>
            <a:ext cx="228600" cy="411480"/>
          </a:xfrm>
          <a:prstGeom prst="rect">
            <a:avLst/>
          </a:prstGeom>
          <a:noFill/>
        </p:spPr>
        <p:txBody>
          <a:bodyPr wrap="square" lIns="36576" rIns="36576" tIns="18288" bIns="18288">
            <a:spAutoFit/>
          </a:bodyPr>
          <a:lstStyle/>
          <a:p>
            <a:pPr algn="ctr">
              <a:defRPr sz="2400" b="1">
                <a:solidFill>
                  <a:srgbClr val="2F7775"/>
                </a:solidFill>
                <a:latin typeface="Aptos"/>
              </a:defRPr>
            </a:pPr>
          </a:p>
        </p:txBody>
      </p:sp>
      <p:sp>
        <p:nvSpPr>
          <p:cNvPr id="25" name="Rounded Rectangle 24"/>
          <p:cNvSpPr/>
          <p:nvPr/>
        </p:nvSpPr>
        <p:spPr>
          <a:xfrm>
            <a:off x="8979408" y="1865376"/>
            <a:ext cx="2560320" cy="3108960"/>
          </a:xfrm>
          <a:prstGeom prst="roundRect">
            <a:avLst/>
          </a:prstGeom>
          <a:solidFill>
            <a:srgbClr val="FFFFFF"/>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979408" y="1865376"/>
            <a:ext cx="2560320" cy="530352"/>
          </a:xfrm>
          <a:prstGeom prst="roundRect">
            <a:avLst/>
          </a:prstGeom>
          <a:solidFill>
            <a:srgbClr val="D87965"/>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70848" y="1984248"/>
            <a:ext cx="2377440" cy="292608"/>
          </a:xfrm>
          <a:prstGeom prst="rect">
            <a:avLst/>
          </a:prstGeom>
          <a:noFill/>
        </p:spPr>
        <p:txBody>
          <a:bodyPr wrap="square" lIns="36576" rIns="36576" tIns="18288" bIns="18288">
            <a:spAutoFit/>
          </a:bodyPr>
          <a:lstStyle/>
          <a:p>
            <a:pPr algn="ctr">
              <a:defRPr sz="1500" b="1">
                <a:solidFill>
                  <a:srgbClr val="FFFFFF"/>
                </a:solidFill>
                <a:latin typeface="Aptos"/>
              </a:defRPr>
            </a:pPr>
            <a:r>
              <a:t>4  RESULTING STATE</a:t>
            </a:r>
          </a:p>
        </p:txBody>
      </p:sp>
      <p:sp>
        <p:nvSpPr>
          <p:cNvPr id="28" name="TextBox 27"/>
          <p:cNvSpPr txBox="1"/>
          <p:nvPr/>
        </p:nvSpPr>
        <p:spPr>
          <a:xfrm>
            <a:off x="9144000" y="2688336"/>
            <a:ext cx="2240280" cy="1261872"/>
          </a:xfrm>
          <a:prstGeom prst="rect">
            <a:avLst/>
          </a:prstGeom>
          <a:noFill/>
        </p:spPr>
        <p:txBody>
          <a:bodyPr wrap="square" lIns="36576" rIns="36576" tIns="18288" bIns="18288">
            <a:spAutoFit/>
          </a:bodyPr>
          <a:lstStyle/>
          <a:p>
            <a:pPr algn="ctr">
              <a:defRPr sz="1500" b="1">
                <a:solidFill>
                  <a:srgbClr val="173E45"/>
                </a:solidFill>
                <a:latin typeface="Aptos"/>
              </a:defRPr>
            </a:pPr>
            <a:r>
              <a:t>Evidence not supplied</a:t>
            </a:r>
          </a:p>
          <a:p>
            <a:pPr algn="ctr">
              <a:defRPr sz="1500" b="1">
                <a:solidFill>
                  <a:srgbClr val="173E45"/>
                </a:solidFill>
                <a:latin typeface="Aptos"/>
              </a:defRPr>
            </a:pPr>
            <a:r>
              <a:t>→ UNRESOLVED; keep claims + provenance.</a:t>
            </a:r>
          </a:p>
        </p:txBody>
      </p:sp>
      <p:sp>
        <p:nvSpPr>
          <p:cNvPr id="29" name="TextBox 28"/>
          <p:cNvSpPr txBox="1"/>
          <p:nvPr/>
        </p:nvSpPr>
        <p:spPr>
          <a:xfrm>
            <a:off x="9116568" y="4306824"/>
            <a:ext cx="2286000" cy="438912"/>
          </a:xfrm>
          <a:prstGeom prst="rect">
            <a:avLst/>
          </a:prstGeom>
          <a:noFill/>
        </p:spPr>
        <p:txBody>
          <a:bodyPr wrap="square" lIns="36576" rIns="36576" tIns="18288" bIns="18288">
            <a:spAutoFit/>
          </a:bodyPr>
          <a:lstStyle/>
          <a:p>
            <a:pPr algn="ctr">
              <a:defRPr sz="1200" b="0">
                <a:solidFill>
                  <a:srgbClr val="64777A"/>
                </a:solidFill>
                <a:latin typeface="Aptos"/>
              </a:defRPr>
            </a:pPr>
            <a:r>
              <a:t>What gets published?</a:t>
            </a:r>
          </a:p>
        </p:txBody>
      </p:sp>
      <p:sp>
        <p:nvSpPr>
          <p:cNvPr id="30" name="Rounded Rectangle 29"/>
          <p:cNvSpPr/>
          <p:nvPr/>
        </p:nvSpPr>
        <p:spPr>
          <a:xfrm>
            <a:off x="914400" y="5330952"/>
            <a:ext cx="10332720" cy="621792"/>
          </a:xfrm>
          <a:prstGeom prst="roundRect">
            <a:avLst/>
          </a:prstGeom>
          <a:solidFill>
            <a:srgbClr val="F9E8E2"/>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992" y="5504688"/>
            <a:ext cx="10012680" cy="228600"/>
          </a:xfrm>
          <a:prstGeom prst="rect">
            <a:avLst/>
          </a:prstGeom>
          <a:noFill/>
        </p:spPr>
        <p:txBody>
          <a:bodyPr wrap="square" lIns="36576" rIns="36576" tIns="18288" bIns="18288">
            <a:spAutoFit/>
          </a:bodyPr>
          <a:lstStyle/>
          <a:p>
            <a:pPr algn="ctr">
              <a:defRPr sz="1300" b="1">
                <a:solidFill>
                  <a:srgbClr val="173E45"/>
                </a:solidFill>
                <a:latin typeface="Aptos"/>
              </a:defRPr>
            </a:pPr>
            <a:r>
              <a:t>TURTLE ANALOGY: pause when evidence is missing — teaching analogy only, not a protocol component.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3E9"/>
        </a:solidFill>
        <a:effectLst/>
      </p:bgPr>
    </p:bg>
    <p:spTree>
      <p:nvGrpSpPr>
        <p:cNvPr id="1" name=""/>
        <p:cNvGrpSpPr/>
        <p:nvPr/>
      </p:nvGrpSpPr>
      <p:grpSpPr/>
      <p:sp>
        <p:nvSpPr>
          <p:cNvPr id="2" name="TextBox 1"/>
          <p:cNvSpPr txBox="1"/>
          <p:nvPr/>
        </p:nvSpPr>
        <p:spPr>
          <a:xfrm>
            <a:off x="502920" y="219456"/>
            <a:ext cx="11155680" cy="274320"/>
          </a:xfrm>
          <a:prstGeom prst="rect">
            <a:avLst/>
          </a:prstGeom>
          <a:noFill/>
        </p:spPr>
        <p:txBody>
          <a:bodyPr wrap="square" lIns="36576" rIns="36576" tIns="18288" bIns="18288">
            <a:spAutoFit/>
          </a:bodyPr>
          <a:lstStyle/>
          <a:p>
            <a:pPr algn="l">
              <a:defRPr sz="1200" b="1">
                <a:solidFill>
                  <a:srgbClr val="2F7775"/>
                </a:solidFill>
                <a:latin typeface="Aptos"/>
              </a:defRPr>
            </a:pPr>
            <a:r>
              <a:t>AVA EVALUATION • MONDAY REVIEW • PROVISIONAL PACK</a:t>
            </a:r>
          </a:p>
        </p:txBody>
      </p:sp>
      <p:sp>
        <p:nvSpPr>
          <p:cNvPr id="3" name="TextBox 2"/>
          <p:cNvSpPr txBox="1"/>
          <p:nvPr/>
        </p:nvSpPr>
        <p:spPr>
          <a:xfrm>
            <a:off x="502920" y="603504"/>
            <a:ext cx="11155680" cy="566928"/>
          </a:xfrm>
          <a:prstGeom prst="rect">
            <a:avLst/>
          </a:prstGeom>
          <a:noFill/>
        </p:spPr>
        <p:txBody>
          <a:bodyPr wrap="square" lIns="36576" rIns="36576" tIns="18288" bIns="18288">
            <a:spAutoFit/>
          </a:bodyPr>
          <a:lstStyle/>
          <a:p>
            <a:pPr algn="l">
              <a:defRPr sz="2700" b="1">
                <a:solidFill>
                  <a:srgbClr val="173E45"/>
                </a:solidFill>
                <a:latin typeface="Aptos"/>
              </a:defRPr>
            </a:pPr>
            <a:r>
              <a:t>Key design points to get right before any build</a:t>
            </a:r>
          </a:p>
        </p:txBody>
      </p:sp>
      <p:sp>
        <p:nvSpPr>
          <p:cNvPr id="4" name="TextBox 3"/>
          <p:cNvSpPr txBox="1"/>
          <p:nvPr/>
        </p:nvSpPr>
        <p:spPr>
          <a:xfrm>
            <a:off x="530352" y="1197864"/>
            <a:ext cx="10972800" cy="384048"/>
          </a:xfrm>
          <a:prstGeom prst="rect">
            <a:avLst/>
          </a:prstGeom>
          <a:noFill/>
        </p:spPr>
        <p:txBody>
          <a:bodyPr wrap="square" lIns="36576" rIns="36576" tIns="18288" bIns="18288">
            <a:spAutoFit/>
          </a:bodyPr>
          <a:lstStyle/>
          <a:p>
            <a:pPr algn="l">
              <a:defRPr sz="1400" b="0">
                <a:solidFill>
                  <a:srgbClr val="64777A"/>
                </a:solidFill>
                <a:latin typeface="Aptos"/>
              </a:defRPr>
            </a:pPr>
            <a:r>
              <a:t>These are open design questions, not claims that the design is already settled.</a:t>
            </a:r>
          </a:p>
        </p:txBody>
      </p:sp>
      <p:sp>
        <p:nvSpPr>
          <p:cNvPr id="5" name="Rectangle 4"/>
          <p:cNvSpPr/>
          <p:nvPr/>
        </p:nvSpPr>
        <p:spPr>
          <a:xfrm>
            <a:off x="502920" y="1088136"/>
            <a:ext cx="11155680" cy="22860"/>
          </a:xfrm>
          <a:prstGeom prst="rect">
            <a:avLst/>
          </a:prstGeom>
          <a:solidFill>
            <a:srgbClr val="2F7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492240"/>
            <a:ext cx="9875520" cy="182880"/>
          </a:xfrm>
          <a:prstGeom prst="rect">
            <a:avLst/>
          </a:prstGeom>
          <a:noFill/>
        </p:spPr>
        <p:txBody>
          <a:bodyPr wrap="square" lIns="36576" rIns="36576" tIns="18288" bIns="18288">
            <a:spAutoFit/>
          </a:bodyPr>
          <a:lstStyle/>
          <a:p>
            <a:pPr algn="l">
              <a:defRPr sz="900" b="0">
                <a:solidFill>
                  <a:srgbClr val="64777A"/>
                </a:solidFill>
                <a:latin typeface="Aptos"/>
              </a:defRPr>
            </a:pPr>
            <a:r>
              <a:t>Review aid only • novelty unresolved • no implementation authorized</a:t>
            </a:r>
          </a:p>
        </p:txBody>
      </p:sp>
      <p:sp>
        <p:nvSpPr>
          <p:cNvPr id="7" name="Rounded Rectangle 6"/>
          <p:cNvSpPr/>
          <p:nvPr/>
        </p:nvSpPr>
        <p:spPr>
          <a:xfrm>
            <a:off x="594360" y="1700784"/>
            <a:ext cx="5257800" cy="932688"/>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46320" cy="256032"/>
          </a:xfrm>
          <a:prstGeom prst="rect">
            <a:avLst/>
          </a:prstGeom>
          <a:noFill/>
        </p:spPr>
        <p:txBody>
          <a:bodyPr wrap="square" lIns="36576" rIns="36576" tIns="18288" bIns="18288">
            <a:spAutoFit/>
          </a:bodyPr>
          <a:lstStyle/>
          <a:p>
            <a:pPr algn="l">
              <a:defRPr sz="1600" b="1">
                <a:solidFill>
                  <a:srgbClr val="2F7775"/>
                </a:solidFill>
                <a:latin typeface="Aptos"/>
              </a:defRPr>
            </a:pPr>
            <a:r>
              <a:t>Same-key contract</a:t>
            </a:r>
          </a:p>
        </p:txBody>
      </p:sp>
      <p:sp>
        <p:nvSpPr>
          <p:cNvPr id="9" name="TextBox 8"/>
          <p:cNvSpPr txBox="1"/>
          <p:nvPr/>
        </p:nvSpPr>
        <p:spPr>
          <a:xfrm>
            <a:off x="777240" y="2185416"/>
            <a:ext cx="4846320" cy="274320"/>
          </a:xfrm>
          <a:prstGeom prst="rect">
            <a:avLst/>
          </a:prstGeom>
          <a:noFill/>
        </p:spPr>
        <p:txBody>
          <a:bodyPr wrap="square" lIns="36576" rIns="36576" tIns="18288" bIns="18288">
            <a:spAutoFit/>
          </a:bodyPr>
          <a:lstStyle/>
          <a:p>
            <a:pPr algn="l">
              <a:defRPr sz="1300" b="0">
                <a:solidFill>
                  <a:srgbClr val="173E45"/>
                </a:solidFill>
                <a:latin typeface="Aptos"/>
              </a:defRPr>
            </a:pPr>
            <a:r>
              <a:t>Key, type, role, time window, cardinality</a:t>
            </a:r>
          </a:p>
        </p:txBody>
      </p:sp>
      <p:sp>
        <p:nvSpPr>
          <p:cNvPr id="10" name="Rounded Rectangle 9"/>
          <p:cNvSpPr/>
          <p:nvPr/>
        </p:nvSpPr>
        <p:spPr>
          <a:xfrm>
            <a:off x="6217920" y="1700784"/>
            <a:ext cx="5257800" cy="932688"/>
          </a:xfrm>
          <a:prstGeom prst="roundRect">
            <a:avLst/>
          </a:prstGeom>
          <a:solidFill>
            <a:srgbClr val="FFFFFF"/>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28800"/>
            <a:ext cx="4846320" cy="256032"/>
          </a:xfrm>
          <a:prstGeom prst="rect">
            <a:avLst/>
          </a:prstGeom>
          <a:noFill/>
        </p:spPr>
        <p:txBody>
          <a:bodyPr wrap="square" lIns="36576" rIns="36576" tIns="18288" bIns="18288">
            <a:spAutoFit/>
          </a:bodyPr>
          <a:lstStyle/>
          <a:p>
            <a:pPr algn="l">
              <a:defRPr sz="1600" b="1">
                <a:solidFill>
                  <a:srgbClr val="D87965"/>
                </a:solidFill>
                <a:latin typeface="Aptos"/>
              </a:defRPr>
            </a:pPr>
            <a:r>
              <a:t>Layer separation</a:t>
            </a:r>
          </a:p>
        </p:txBody>
      </p:sp>
      <p:sp>
        <p:nvSpPr>
          <p:cNvPr id="12" name="TextBox 11"/>
          <p:cNvSpPr txBox="1"/>
          <p:nvPr/>
        </p:nvSpPr>
        <p:spPr>
          <a:xfrm>
            <a:off x="6400800" y="2185416"/>
            <a:ext cx="4846320" cy="274320"/>
          </a:xfrm>
          <a:prstGeom prst="rect">
            <a:avLst/>
          </a:prstGeom>
          <a:noFill/>
        </p:spPr>
        <p:txBody>
          <a:bodyPr wrap="square" lIns="36576" rIns="36576" tIns="18288" bIns="18288">
            <a:spAutoFit/>
          </a:bodyPr>
          <a:lstStyle/>
          <a:p>
            <a:pPr algn="l">
              <a:defRPr sz="1300" b="0">
                <a:solidFill>
                  <a:srgbClr val="173E45"/>
                </a:solidFill>
                <a:latin typeface="Aptos"/>
              </a:defRPr>
            </a:pPr>
            <a:r>
              <a:t>Provenance → relation label → action → output state</a:t>
            </a:r>
          </a:p>
        </p:txBody>
      </p:sp>
      <p:sp>
        <p:nvSpPr>
          <p:cNvPr id="13" name="Rounded Rectangle 12"/>
          <p:cNvSpPr/>
          <p:nvPr/>
        </p:nvSpPr>
        <p:spPr>
          <a:xfrm>
            <a:off x="594360" y="2889504"/>
            <a:ext cx="5257800" cy="932688"/>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017520"/>
            <a:ext cx="4846320" cy="256032"/>
          </a:xfrm>
          <a:prstGeom prst="rect">
            <a:avLst/>
          </a:prstGeom>
          <a:noFill/>
        </p:spPr>
        <p:txBody>
          <a:bodyPr wrap="square" lIns="36576" rIns="36576" tIns="18288" bIns="18288">
            <a:spAutoFit/>
          </a:bodyPr>
          <a:lstStyle/>
          <a:p>
            <a:pPr algn="l">
              <a:defRPr sz="1600" b="1">
                <a:solidFill>
                  <a:srgbClr val="2F7775"/>
                </a:solidFill>
                <a:latin typeface="Aptos"/>
              </a:defRPr>
            </a:pPr>
            <a:r>
              <a:t>Verify rule</a:t>
            </a:r>
          </a:p>
        </p:txBody>
      </p:sp>
      <p:sp>
        <p:nvSpPr>
          <p:cNvPr id="15" name="TextBox 14"/>
          <p:cNvSpPr txBox="1"/>
          <p:nvPr/>
        </p:nvSpPr>
        <p:spPr>
          <a:xfrm>
            <a:off x="777240" y="3374136"/>
            <a:ext cx="4846320" cy="274320"/>
          </a:xfrm>
          <a:prstGeom prst="rect">
            <a:avLst/>
          </a:prstGeom>
          <a:noFill/>
        </p:spPr>
        <p:txBody>
          <a:bodyPr wrap="square" lIns="36576" rIns="36576" tIns="18288" bIns="18288">
            <a:spAutoFit/>
          </a:bodyPr>
          <a:lstStyle/>
          <a:p>
            <a:pPr algn="l">
              <a:defRPr sz="1300" b="0">
                <a:solidFill>
                  <a:srgbClr val="173E45"/>
                </a:solidFill>
                <a:latin typeface="Aptos"/>
              </a:defRPr>
            </a:pPr>
            <a:r>
              <a:t>Allowed evidence, freshness, deterministic tie behavior</a:t>
            </a:r>
          </a:p>
        </p:txBody>
      </p:sp>
      <p:sp>
        <p:nvSpPr>
          <p:cNvPr id="16" name="Rounded Rectangle 15"/>
          <p:cNvSpPr/>
          <p:nvPr/>
        </p:nvSpPr>
        <p:spPr>
          <a:xfrm>
            <a:off x="6217920" y="2889504"/>
            <a:ext cx="5257800" cy="932688"/>
          </a:xfrm>
          <a:prstGeom prst="roundRect">
            <a:avLst/>
          </a:prstGeom>
          <a:solidFill>
            <a:srgbClr val="FFFFFF"/>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017520"/>
            <a:ext cx="4846320" cy="256032"/>
          </a:xfrm>
          <a:prstGeom prst="rect">
            <a:avLst/>
          </a:prstGeom>
          <a:noFill/>
        </p:spPr>
        <p:txBody>
          <a:bodyPr wrap="square" lIns="36576" rIns="36576" tIns="18288" bIns="18288">
            <a:spAutoFit/>
          </a:bodyPr>
          <a:lstStyle/>
          <a:p>
            <a:pPr algn="l">
              <a:defRPr sz="1600" b="1">
                <a:solidFill>
                  <a:srgbClr val="D87965"/>
                </a:solidFill>
                <a:latin typeface="Aptos"/>
              </a:defRPr>
            </a:pPr>
            <a:r>
              <a:t>Fair comparison</a:t>
            </a:r>
          </a:p>
        </p:txBody>
      </p:sp>
      <p:sp>
        <p:nvSpPr>
          <p:cNvPr id="18" name="TextBox 17"/>
          <p:cNvSpPr txBox="1"/>
          <p:nvPr/>
        </p:nvSpPr>
        <p:spPr>
          <a:xfrm>
            <a:off x="6400800" y="3374136"/>
            <a:ext cx="4846320" cy="274320"/>
          </a:xfrm>
          <a:prstGeom prst="rect">
            <a:avLst/>
          </a:prstGeom>
          <a:noFill/>
        </p:spPr>
        <p:txBody>
          <a:bodyPr wrap="square" lIns="36576" rIns="36576" tIns="18288" bIns="18288">
            <a:spAutoFit/>
          </a:bodyPr>
          <a:lstStyle/>
          <a:p>
            <a:pPr algn="l">
              <a:defRPr sz="1300" b="0">
                <a:solidFill>
                  <a:srgbClr val="173E45"/>
                </a:solidFill>
                <a:latin typeface="Aptos"/>
              </a:defRPr>
            </a:pPr>
            <a:r>
              <a:t>Same inputs; classifier scores separate from policy outcomes</a:t>
            </a:r>
          </a:p>
        </p:txBody>
      </p:sp>
      <p:sp>
        <p:nvSpPr>
          <p:cNvPr id="19" name="Rounded Rectangle 18"/>
          <p:cNvSpPr/>
          <p:nvPr/>
        </p:nvSpPr>
        <p:spPr>
          <a:xfrm>
            <a:off x="594360" y="4078224"/>
            <a:ext cx="5257800" cy="932688"/>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206240"/>
            <a:ext cx="4846320" cy="256032"/>
          </a:xfrm>
          <a:prstGeom prst="rect">
            <a:avLst/>
          </a:prstGeom>
          <a:noFill/>
        </p:spPr>
        <p:txBody>
          <a:bodyPr wrap="square" lIns="36576" rIns="36576" tIns="18288" bIns="18288">
            <a:spAutoFit/>
          </a:bodyPr>
          <a:lstStyle/>
          <a:p>
            <a:pPr algn="l">
              <a:defRPr sz="1600" b="1">
                <a:solidFill>
                  <a:srgbClr val="2F7775"/>
                </a:solidFill>
                <a:latin typeface="Aptos"/>
              </a:defRPr>
            </a:pPr>
            <a:r>
              <a:t>Safety first</a:t>
            </a:r>
          </a:p>
        </p:txBody>
      </p:sp>
      <p:sp>
        <p:nvSpPr>
          <p:cNvPr id="21" name="TextBox 20"/>
          <p:cNvSpPr txBox="1"/>
          <p:nvPr/>
        </p:nvSpPr>
        <p:spPr>
          <a:xfrm>
            <a:off x="777240" y="4562856"/>
            <a:ext cx="4846320" cy="274320"/>
          </a:xfrm>
          <a:prstGeom prst="rect">
            <a:avLst/>
          </a:prstGeom>
          <a:noFill/>
        </p:spPr>
        <p:txBody>
          <a:bodyPr wrap="square" lIns="36576" rIns="36576" tIns="18288" bIns="18288">
            <a:spAutoFit/>
          </a:bodyPr>
          <a:lstStyle/>
          <a:p>
            <a:pPr algn="l">
              <a:defRPr sz="1300" b="0">
                <a:solidFill>
                  <a:srgbClr val="173E45"/>
                </a:solidFill>
                <a:latin typeface="Aptos"/>
              </a:defRPr>
            </a:pPr>
            <a:r>
              <a:t>False merges, false conflicts, abstention, calibration, cost</a:t>
            </a:r>
          </a:p>
        </p:txBody>
      </p:sp>
      <p:sp>
        <p:nvSpPr>
          <p:cNvPr id="22" name="Rounded Rectangle 21"/>
          <p:cNvSpPr/>
          <p:nvPr/>
        </p:nvSpPr>
        <p:spPr>
          <a:xfrm>
            <a:off x="6217920" y="4078224"/>
            <a:ext cx="5257800" cy="932688"/>
          </a:xfrm>
          <a:prstGeom prst="roundRect">
            <a:avLst/>
          </a:prstGeom>
          <a:solidFill>
            <a:srgbClr val="FFFFFF"/>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206240"/>
            <a:ext cx="4846320" cy="256032"/>
          </a:xfrm>
          <a:prstGeom prst="rect">
            <a:avLst/>
          </a:prstGeom>
          <a:noFill/>
        </p:spPr>
        <p:txBody>
          <a:bodyPr wrap="square" lIns="36576" rIns="36576" tIns="18288" bIns="18288">
            <a:spAutoFit/>
          </a:bodyPr>
          <a:lstStyle/>
          <a:p>
            <a:pPr algn="l">
              <a:defRPr sz="1600" b="1">
                <a:solidFill>
                  <a:srgbClr val="D87965"/>
                </a:solidFill>
                <a:latin typeface="Aptos"/>
              </a:defRPr>
            </a:pPr>
            <a:r>
              <a:t>M.E. feasibility</a:t>
            </a:r>
          </a:p>
        </p:txBody>
      </p:sp>
      <p:sp>
        <p:nvSpPr>
          <p:cNvPr id="24" name="TextBox 23"/>
          <p:cNvSpPr txBox="1"/>
          <p:nvPr/>
        </p:nvSpPr>
        <p:spPr>
          <a:xfrm>
            <a:off x="6400800" y="4562856"/>
            <a:ext cx="4846320" cy="274320"/>
          </a:xfrm>
          <a:prstGeom prst="rect">
            <a:avLst/>
          </a:prstGeom>
          <a:noFill/>
        </p:spPr>
        <p:txBody>
          <a:bodyPr wrap="square" lIns="36576" rIns="36576" tIns="18288" bIns="18288">
            <a:spAutoFit/>
          </a:bodyPr>
          <a:lstStyle/>
          <a:p>
            <a:pPr algn="l">
              <a:defRPr sz="1300" b="0">
                <a:solidFill>
                  <a:srgbClr val="173E45"/>
                </a:solidFill>
                <a:latin typeface="Aptos"/>
              </a:defRPr>
            </a:pPr>
            <a:r>
              <a:t>Prioritize a small core; stage simulator/scaling</a:t>
            </a:r>
          </a:p>
        </p:txBody>
      </p:sp>
      <p:sp>
        <p:nvSpPr>
          <p:cNvPr id="25" name="TextBox 24"/>
          <p:cNvSpPr txBox="1"/>
          <p:nvPr/>
        </p:nvSpPr>
        <p:spPr>
          <a:xfrm>
            <a:off x="676656" y="5367528"/>
            <a:ext cx="2926080" cy="320040"/>
          </a:xfrm>
          <a:prstGeom prst="rect">
            <a:avLst/>
          </a:prstGeom>
          <a:noFill/>
        </p:spPr>
        <p:txBody>
          <a:bodyPr wrap="square" lIns="36576" rIns="36576" tIns="18288" bIns="18288">
            <a:spAutoFit/>
          </a:bodyPr>
          <a:lstStyle/>
          <a:p>
            <a:pPr algn="l">
              <a:defRPr sz="1800" b="1">
                <a:solidFill>
                  <a:srgbClr val="173E45"/>
                </a:solidFill>
                <a:latin typeface="Aptos"/>
              </a:defRPr>
            </a:pPr>
            <a:r>
              <a:t>Likely questions</a:t>
            </a:r>
          </a:p>
        </p:txBody>
      </p:sp>
      <p:sp>
        <p:nvSpPr>
          <p:cNvPr id="26" name="TextBox 25"/>
          <p:cNvSpPr txBox="1"/>
          <p:nvPr/>
        </p:nvSpPr>
        <p:spPr>
          <a:xfrm>
            <a:off x="685800" y="5724144"/>
            <a:ext cx="10881360" cy="502920"/>
          </a:xfrm>
          <a:prstGeom prst="rect">
            <a:avLst/>
          </a:prstGeom>
          <a:noFill/>
        </p:spPr>
        <p:txBody>
          <a:bodyPr wrap="square" lIns="36576" rIns="36576" tIns="18288" bIns="18288">
            <a:spAutoFit/>
          </a:bodyPr>
          <a:lstStyle/>
          <a:p>
            <a:pPr algn="l">
              <a:defRPr sz="1300" b="0">
                <a:solidFill>
                  <a:srgbClr val="173E45"/>
                </a:solidFill>
                <a:latin typeface="Aptos"/>
              </a:defRPr>
            </a:pPr>
            <a:r>
              <a:t>Why not newest-wins? Arrival order is not truth.   •   Does Verify guarantee correctness? No.   •   Is novelty established? No—Pass 3 is incomplete.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3E9"/>
        </a:solidFill>
        <a:effectLst/>
      </p:bgPr>
    </p:bg>
    <p:spTree>
      <p:nvGrpSpPr>
        <p:cNvPr id="1" name=""/>
        <p:cNvGrpSpPr/>
        <p:nvPr/>
      </p:nvGrpSpPr>
      <p:grpSpPr/>
      <p:sp>
        <p:nvSpPr>
          <p:cNvPr id="2" name="TextBox 1"/>
          <p:cNvSpPr txBox="1"/>
          <p:nvPr/>
        </p:nvSpPr>
        <p:spPr>
          <a:xfrm>
            <a:off x="502920" y="219456"/>
            <a:ext cx="11155680" cy="274320"/>
          </a:xfrm>
          <a:prstGeom prst="rect">
            <a:avLst/>
          </a:prstGeom>
          <a:noFill/>
        </p:spPr>
        <p:txBody>
          <a:bodyPr wrap="square" lIns="36576" rIns="36576" tIns="18288" bIns="18288">
            <a:spAutoFit/>
          </a:bodyPr>
          <a:lstStyle/>
          <a:p>
            <a:pPr algn="l">
              <a:defRPr sz="1200" b="1">
                <a:solidFill>
                  <a:srgbClr val="2F7775"/>
                </a:solidFill>
                <a:latin typeface="Aptos"/>
              </a:defRPr>
            </a:pPr>
            <a:r>
              <a:t>AVA EVALUATION • MONDAY REVIEW • PROVISIONAL PACK</a:t>
            </a:r>
          </a:p>
        </p:txBody>
      </p:sp>
      <p:sp>
        <p:nvSpPr>
          <p:cNvPr id="3" name="TextBox 2"/>
          <p:cNvSpPr txBox="1"/>
          <p:nvPr/>
        </p:nvSpPr>
        <p:spPr>
          <a:xfrm>
            <a:off x="502920" y="603504"/>
            <a:ext cx="11155680" cy="566928"/>
          </a:xfrm>
          <a:prstGeom prst="rect">
            <a:avLst/>
          </a:prstGeom>
          <a:noFill/>
        </p:spPr>
        <p:txBody>
          <a:bodyPr wrap="square" lIns="36576" rIns="36576" tIns="18288" bIns="18288">
            <a:spAutoFit/>
          </a:bodyPr>
          <a:lstStyle/>
          <a:p>
            <a:pPr algn="l">
              <a:defRPr sz="2700" b="1">
                <a:solidFill>
                  <a:srgbClr val="173E45"/>
                </a:solidFill>
                <a:latin typeface="Aptos"/>
              </a:defRPr>
            </a:pPr>
            <a:r>
              <a:t>Monday 26 October — ready-to-present checklist</a:t>
            </a:r>
          </a:p>
        </p:txBody>
      </p:sp>
      <p:sp>
        <p:nvSpPr>
          <p:cNvPr id="4" name="TextBox 3"/>
          <p:cNvSpPr txBox="1"/>
          <p:nvPr/>
        </p:nvSpPr>
        <p:spPr>
          <a:xfrm>
            <a:off x="530352" y="1197864"/>
            <a:ext cx="10972800" cy="384048"/>
          </a:xfrm>
          <a:prstGeom prst="rect">
            <a:avLst/>
          </a:prstGeom>
          <a:noFill/>
        </p:spPr>
        <p:txBody>
          <a:bodyPr wrap="square" lIns="36576" rIns="36576" tIns="18288" bIns="18288">
            <a:spAutoFit/>
          </a:bodyPr>
          <a:lstStyle/>
          <a:p>
            <a:pPr algn="l">
              <a:defRPr sz="1400" b="0">
                <a:solidFill>
                  <a:srgbClr val="64777A"/>
                </a:solidFill>
                <a:latin typeface="Aptos"/>
              </a:defRPr>
            </a:pPr>
            <a:r>
              <a:t>No review time or official KEC module titles were supplied; confirm those with the reviewer.</a:t>
            </a:r>
          </a:p>
        </p:txBody>
      </p:sp>
      <p:sp>
        <p:nvSpPr>
          <p:cNvPr id="5" name="Rectangle 4"/>
          <p:cNvSpPr/>
          <p:nvPr/>
        </p:nvSpPr>
        <p:spPr>
          <a:xfrm>
            <a:off x="502920" y="1088136"/>
            <a:ext cx="11155680" cy="22860"/>
          </a:xfrm>
          <a:prstGeom prst="rect">
            <a:avLst/>
          </a:prstGeom>
          <a:solidFill>
            <a:srgbClr val="2F77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492240"/>
            <a:ext cx="9875520" cy="182880"/>
          </a:xfrm>
          <a:prstGeom prst="rect">
            <a:avLst/>
          </a:prstGeom>
          <a:noFill/>
        </p:spPr>
        <p:txBody>
          <a:bodyPr wrap="square" lIns="36576" rIns="36576" tIns="18288" bIns="18288">
            <a:spAutoFit/>
          </a:bodyPr>
          <a:lstStyle/>
          <a:p>
            <a:pPr algn="l">
              <a:defRPr sz="900" b="0">
                <a:solidFill>
                  <a:srgbClr val="64777A"/>
                </a:solidFill>
                <a:latin typeface="Aptos"/>
              </a:defRPr>
            </a:pPr>
            <a:r>
              <a:t>Review aid only • novelty unresolved • no implementation authorized</a:t>
            </a:r>
          </a:p>
        </p:txBody>
      </p:sp>
      <p:sp>
        <p:nvSpPr>
          <p:cNvPr id="7" name="Rounded Rectangle 6"/>
          <p:cNvSpPr/>
          <p:nvPr/>
        </p:nvSpPr>
        <p:spPr>
          <a:xfrm>
            <a:off x="566928" y="1700784"/>
            <a:ext cx="6583680" cy="4251960"/>
          </a:xfrm>
          <a:prstGeom prst="roundRect">
            <a:avLst/>
          </a:prstGeom>
          <a:solidFill>
            <a:srgbClr val="FFFFFF"/>
          </a:solidFill>
          <a:ln w="19050">
            <a:solidFill>
              <a:srgbClr val="2F77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938528"/>
            <a:ext cx="5852160" cy="365760"/>
          </a:xfrm>
          <a:prstGeom prst="rect">
            <a:avLst/>
          </a:prstGeom>
          <a:noFill/>
        </p:spPr>
        <p:txBody>
          <a:bodyPr wrap="square" lIns="36576" rIns="36576" tIns="18288" bIns="18288">
            <a:spAutoFit/>
          </a:bodyPr>
          <a:lstStyle/>
          <a:p>
            <a:pPr algn="l">
              <a:defRPr sz="2100" b="1">
                <a:solidFill>
                  <a:srgbClr val="2F7775"/>
                </a:solidFill>
                <a:latin typeface="Aptos"/>
              </a:defRPr>
            </a:pPr>
            <a:r>
              <a:t>Before the review</a:t>
            </a:r>
          </a:p>
        </p:txBody>
      </p:sp>
      <p:sp>
        <p:nvSpPr>
          <p:cNvPr id="9" name="TextBox 8"/>
          <p:cNvSpPr txBox="1"/>
          <p:nvPr/>
        </p:nvSpPr>
        <p:spPr>
          <a:xfrm>
            <a:off x="905256" y="2487168"/>
            <a:ext cx="237744" cy="265176"/>
          </a:xfrm>
          <a:prstGeom prst="rect">
            <a:avLst/>
          </a:prstGeom>
          <a:noFill/>
        </p:spPr>
        <p:txBody>
          <a:bodyPr wrap="square" lIns="36576" rIns="36576" tIns="18288" bIns="18288">
            <a:spAutoFit/>
          </a:bodyPr>
          <a:lstStyle/>
          <a:p>
            <a:pPr algn="l">
              <a:defRPr sz="1800" b="1">
                <a:solidFill>
                  <a:srgbClr val="E8B653"/>
                </a:solidFill>
                <a:latin typeface="Aptos"/>
              </a:defRPr>
            </a:pPr>
            <a:r>
              <a:t>□</a:t>
            </a:r>
          </a:p>
        </p:txBody>
      </p:sp>
      <p:sp>
        <p:nvSpPr>
          <p:cNvPr id="10" name="TextBox 9"/>
          <p:cNvSpPr txBox="1"/>
          <p:nvPr/>
        </p:nvSpPr>
        <p:spPr>
          <a:xfrm>
            <a:off x="1225296" y="2487168"/>
            <a:ext cx="5577840" cy="493776"/>
          </a:xfrm>
          <a:prstGeom prst="rect">
            <a:avLst/>
          </a:prstGeom>
          <a:noFill/>
        </p:spPr>
        <p:txBody>
          <a:bodyPr wrap="square" lIns="36576" rIns="36576" tIns="18288" bIns="18288">
            <a:spAutoFit/>
          </a:bodyPr>
          <a:lstStyle/>
          <a:p>
            <a:pPr algn="l">
              <a:defRPr sz="1300" b="0">
                <a:solidFill>
                  <a:srgbClr val="173E45"/>
                </a:solidFill>
                <a:latin typeface="Aptos"/>
              </a:defRPr>
            </a:pPr>
            <a:r>
              <a:t>Open the PDF once; check slide order and diagrams on the presentation device.</a:t>
            </a:r>
          </a:p>
        </p:txBody>
      </p:sp>
      <p:sp>
        <p:nvSpPr>
          <p:cNvPr id="11" name="TextBox 10"/>
          <p:cNvSpPr txBox="1"/>
          <p:nvPr/>
        </p:nvSpPr>
        <p:spPr>
          <a:xfrm>
            <a:off x="905256" y="2999232"/>
            <a:ext cx="237744" cy="265176"/>
          </a:xfrm>
          <a:prstGeom prst="rect">
            <a:avLst/>
          </a:prstGeom>
          <a:noFill/>
        </p:spPr>
        <p:txBody>
          <a:bodyPr wrap="square" lIns="36576" rIns="36576" tIns="18288" bIns="18288">
            <a:spAutoFit/>
          </a:bodyPr>
          <a:lstStyle/>
          <a:p>
            <a:pPr algn="l">
              <a:defRPr sz="1800" b="1">
                <a:solidFill>
                  <a:srgbClr val="E8B653"/>
                </a:solidFill>
                <a:latin typeface="Aptos"/>
              </a:defRPr>
            </a:pPr>
            <a:r>
              <a:t>□</a:t>
            </a:r>
          </a:p>
        </p:txBody>
      </p:sp>
      <p:sp>
        <p:nvSpPr>
          <p:cNvPr id="12" name="TextBox 11"/>
          <p:cNvSpPr txBox="1"/>
          <p:nvPr/>
        </p:nvSpPr>
        <p:spPr>
          <a:xfrm>
            <a:off x="1225296" y="2999232"/>
            <a:ext cx="5577840" cy="493776"/>
          </a:xfrm>
          <a:prstGeom prst="rect">
            <a:avLst/>
          </a:prstGeom>
          <a:noFill/>
        </p:spPr>
        <p:txBody>
          <a:bodyPr wrap="square" lIns="36576" rIns="36576" tIns="18288" bIns="18288">
            <a:spAutoFit/>
          </a:bodyPr>
          <a:lstStyle/>
          <a:p>
            <a:pPr algn="l">
              <a:defRPr sz="1300" b="0">
                <a:solidFill>
                  <a:srgbClr val="173E45"/>
                </a:solidFill>
                <a:latin typeface="Aptos"/>
              </a:defRPr>
            </a:pPr>
            <a:r>
              <a:t>Keep PPTX + slide PDF together; keep report PDF as backup/reference.</a:t>
            </a:r>
          </a:p>
        </p:txBody>
      </p:sp>
      <p:sp>
        <p:nvSpPr>
          <p:cNvPr id="13" name="TextBox 12"/>
          <p:cNvSpPr txBox="1"/>
          <p:nvPr/>
        </p:nvSpPr>
        <p:spPr>
          <a:xfrm>
            <a:off x="905256" y="3511296"/>
            <a:ext cx="237744" cy="265176"/>
          </a:xfrm>
          <a:prstGeom prst="rect">
            <a:avLst/>
          </a:prstGeom>
          <a:noFill/>
        </p:spPr>
        <p:txBody>
          <a:bodyPr wrap="square" lIns="36576" rIns="36576" tIns="18288" bIns="18288">
            <a:spAutoFit/>
          </a:bodyPr>
          <a:lstStyle/>
          <a:p>
            <a:pPr algn="l">
              <a:defRPr sz="1800" b="1">
                <a:solidFill>
                  <a:srgbClr val="E8B653"/>
                </a:solidFill>
                <a:latin typeface="Aptos"/>
              </a:defRPr>
            </a:pPr>
            <a:r>
              <a:t>□</a:t>
            </a:r>
          </a:p>
        </p:txBody>
      </p:sp>
      <p:sp>
        <p:nvSpPr>
          <p:cNvPr id="14" name="TextBox 13"/>
          <p:cNvSpPr txBox="1"/>
          <p:nvPr/>
        </p:nvSpPr>
        <p:spPr>
          <a:xfrm>
            <a:off x="1225296" y="3511296"/>
            <a:ext cx="5577840" cy="493776"/>
          </a:xfrm>
          <a:prstGeom prst="rect">
            <a:avLst/>
          </a:prstGeom>
          <a:noFill/>
        </p:spPr>
        <p:txBody>
          <a:bodyPr wrap="square" lIns="36576" rIns="36576" tIns="18288" bIns="18288">
            <a:spAutoFit/>
          </a:bodyPr>
          <a:lstStyle/>
          <a:p>
            <a:pPr algn="l">
              <a:defRPr sz="1300" b="0">
                <a:solidFill>
                  <a:srgbClr val="173E45"/>
                </a:solidFill>
                <a:latin typeface="Aptos"/>
              </a:defRPr>
            </a:pPr>
            <a:r>
              <a:t>Rehearse the 90-second opener and the one-key scenario.</a:t>
            </a:r>
          </a:p>
        </p:txBody>
      </p:sp>
      <p:sp>
        <p:nvSpPr>
          <p:cNvPr id="15" name="TextBox 14"/>
          <p:cNvSpPr txBox="1"/>
          <p:nvPr/>
        </p:nvSpPr>
        <p:spPr>
          <a:xfrm>
            <a:off x="905256" y="4023360"/>
            <a:ext cx="237744" cy="265176"/>
          </a:xfrm>
          <a:prstGeom prst="rect">
            <a:avLst/>
          </a:prstGeom>
          <a:noFill/>
        </p:spPr>
        <p:txBody>
          <a:bodyPr wrap="square" lIns="36576" rIns="36576" tIns="18288" bIns="18288">
            <a:spAutoFit/>
          </a:bodyPr>
          <a:lstStyle/>
          <a:p>
            <a:pPr algn="l">
              <a:defRPr sz="1800" b="1">
                <a:solidFill>
                  <a:srgbClr val="E8B653"/>
                </a:solidFill>
                <a:latin typeface="Aptos"/>
              </a:defRPr>
            </a:pPr>
            <a:r>
              <a:t>□</a:t>
            </a:r>
          </a:p>
        </p:txBody>
      </p:sp>
      <p:sp>
        <p:nvSpPr>
          <p:cNvPr id="16" name="TextBox 15"/>
          <p:cNvSpPr txBox="1"/>
          <p:nvPr/>
        </p:nvSpPr>
        <p:spPr>
          <a:xfrm>
            <a:off x="1225296" y="4023360"/>
            <a:ext cx="5577840" cy="493776"/>
          </a:xfrm>
          <a:prstGeom prst="rect">
            <a:avLst/>
          </a:prstGeom>
          <a:noFill/>
        </p:spPr>
        <p:txBody>
          <a:bodyPr wrap="square" lIns="36576" rIns="36576" tIns="18288" bIns="18288">
            <a:spAutoFit/>
          </a:bodyPr>
          <a:lstStyle/>
          <a:p>
            <a:pPr algn="l">
              <a:defRPr sz="1300" b="0">
                <a:solidFill>
                  <a:srgbClr val="173E45"/>
                </a:solidFill>
                <a:latin typeface="Aptos"/>
              </a:defRPr>
            </a:pPr>
            <a:r>
              <a:t>Call the six names hypothetical labels only; assign no real capabilities.</a:t>
            </a:r>
          </a:p>
        </p:txBody>
      </p:sp>
      <p:sp>
        <p:nvSpPr>
          <p:cNvPr id="17" name="TextBox 16"/>
          <p:cNvSpPr txBox="1"/>
          <p:nvPr/>
        </p:nvSpPr>
        <p:spPr>
          <a:xfrm>
            <a:off x="905256" y="4535424"/>
            <a:ext cx="237744" cy="265176"/>
          </a:xfrm>
          <a:prstGeom prst="rect">
            <a:avLst/>
          </a:prstGeom>
          <a:noFill/>
        </p:spPr>
        <p:txBody>
          <a:bodyPr wrap="square" lIns="36576" rIns="36576" tIns="18288" bIns="18288">
            <a:spAutoFit/>
          </a:bodyPr>
          <a:lstStyle/>
          <a:p>
            <a:pPr algn="l">
              <a:defRPr sz="1800" b="1">
                <a:solidFill>
                  <a:srgbClr val="E8B653"/>
                </a:solidFill>
                <a:latin typeface="Aptos"/>
              </a:defRPr>
            </a:pPr>
            <a:r>
              <a:t>□</a:t>
            </a:r>
          </a:p>
        </p:txBody>
      </p:sp>
      <p:sp>
        <p:nvSpPr>
          <p:cNvPr id="18" name="TextBox 17"/>
          <p:cNvSpPr txBox="1"/>
          <p:nvPr/>
        </p:nvSpPr>
        <p:spPr>
          <a:xfrm>
            <a:off x="1225296" y="4535424"/>
            <a:ext cx="5577840" cy="493776"/>
          </a:xfrm>
          <a:prstGeom prst="rect">
            <a:avLst/>
          </a:prstGeom>
          <a:noFill/>
        </p:spPr>
        <p:txBody>
          <a:bodyPr wrap="square" lIns="36576" rIns="36576" tIns="18288" bIns="18288">
            <a:spAutoFit/>
          </a:bodyPr>
          <a:lstStyle/>
          <a:p>
            <a:pPr algn="l">
              <a:defRPr sz="1300" b="0">
                <a:solidFill>
                  <a:srgbClr val="173E45"/>
                </a:solidFill>
                <a:latin typeface="Aptos"/>
              </a:defRPr>
            </a:pPr>
            <a:r>
              <a:t>State the gate honestly: Pass 3 incomplete, novelty unresolved, no implementation.</a:t>
            </a:r>
          </a:p>
        </p:txBody>
      </p:sp>
      <p:sp>
        <p:nvSpPr>
          <p:cNvPr id="19" name="TextBox 18"/>
          <p:cNvSpPr txBox="1"/>
          <p:nvPr/>
        </p:nvSpPr>
        <p:spPr>
          <a:xfrm>
            <a:off x="905256" y="5047488"/>
            <a:ext cx="237744" cy="265176"/>
          </a:xfrm>
          <a:prstGeom prst="rect">
            <a:avLst/>
          </a:prstGeom>
          <a:noFill/>
        </p:spPr>
        <p:txBody>
          <a:bodyPr wrap="square" lIns="36576" rIns="36576" tIns="18288" bIns="18288">
            <a:spAutoFit/>
          </a:bodyPr>
          <a:lstStyle/>
          <a:p>
            <a:pPr algn="l">
              <a:defRPr sz="1800" b="1">
                <a:solidFill>
                  <a:srgbClr val="E8B653"/>
                </a:solidFill>
                <a:latin typeface="Aptos"/>
              </a:defRPr>
            </a:pPr>
            <a:r>
              <a:t>□</a:t>
            </a:r>
          </a:p>
        </p:txBody>
      </p:sp>
      <p:sp>
        <p:nvSpPr>
          <p:cNvPr id="20" name="TextBox 19"/>
          <p:cNvSpPr txBox="1"/>
          <p:nvPr/>
        </p:nvSpPr>
        <p:spPr>
          <a:xfrm>
            <a:off x="1225296" y="5047488"/>
            <a:ext cx="5577840" cy="493776"/>
          </a:xfrm>
          <a:prstGeom prst="rect">
            <a:avLst/>
          </a:prstGeom>
          <a:noFill/>
        </p:spPr>
        <p:txBody>
          <a:bodyPr wrap="square" lIns="36576" rIns="36576" tIns="18288" bIns="18288">
            <a:spAutoFit/>
          </a:bodyPr>
          <a:lstStyle/>
          <a:p>
            <a:pPr algn="l">
              <a:defRPr sz="1300" b="0">
                <a:solidFill>
                  <a:srgbClr val="173E45"/>
                </a:solidFill>
                <a:latin typeface="Aptos"/>
              </a:defRPr>
            </a:pPr>
            <a:r>
              <a:t>Ask which official modules/template and next milestone the college expects.</a:t>
            </a:r>
          </a:p>
        </p:txBody>
      </p:sp>
      <p:sp>
        <p:nvSpPr>
          <p:cNvPr id="21" name="Rounded Rectangle 20"/>
          <p:cNvSpPr/>
          <p:nvPr/>
        </p:nvSpPr>
        <p:spPr>
          <a:xfrm>
            <a:off x="7424927" y="1700784"/>
            <a:ext cx="4160520" cy="2011680"/>
          </a:xfrm>
          <a:prstGeom prst="roundRect">
            <a:avLst/>
          </a:prstGeom>
          <a:solidFill>
            <a:srgbClr val="E8F1EC"/>
          </a:solidFill>
          <a:ln w="19050">
            <a:solidFill>
              <a:srgbClr val="8EB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1929384"/>
            <a:ext cx="3611880" cy="292608"/>
          </a:xfrm>
          <a:prstGeom prst="rect">
            <a:avLst/>
          </a:prstGeom>
          <a:noFill/>
        </p:spPr>
        <p:txBody>
          <a:bodyPr wrap="square" lIns="36576" rIns="36576" tIns="18288" bIns="18288">
            <a:spAutoFit/>
          </a:bodyPr>
          <a:lstStyle/>
          <a:p>
            <a:pPr algn="l">
              <a:defRPr sz="1800" b="1">
                <a:solidFill>
                  <a:srgbClr val="2F7775"/>
                </a:solidFill>
                <a:latin typeface="Aptos"/>
              </a:defRPr>
            </a:pPr>
            <a:r>
              <a:t>Open with this</a:t>
            </a:r>
          </a:p>
        </p:txBody>
      </p:sp>
      <p:sp>
        <p:nvSpPr>
          <p:cNvPr id="23" name="TextBox 22"/>
          <p:cNvSpPr txBox="1"/>
          <p:nvPr/>
        </p:nvSpPr>
        <p:spPr>
          <a:xfrm>
            <a:off x="7699248" y="2377440"/>
            <a:ext cx="3538728" cy="1005840"/>
          </a:xfrm>
          <a:prstGeom prst="rect">
            <a:avLst/>
          </a:prstGeom>
          <a:noFill/>
        </p:spPr>
        <p:txBody>
          <a:bodyPr wrap="square" lIns="36576" rIns="36576" tIns="18288" bIns="18288">
            <a:spAutoFit/>
          </a:bodyPr>
          <a:lstStyle/>
          <a:p>
            <a:pPr algn="l">
              <a:defRPr sz="1400" b="0">
                <a:solidFill>
                  <a:srgbClr val="173E45"/>
                </a:solidFill>
                <a:latin typeface="Aptos"/>
              </a:defRPr>
            </a:pPr>
            <a:r>
              <a:t>“Same events reaching all replicas does not guarantee safe meaning. I’ll test how same-key disagreement should be classified and when to resolve, verify or preserve uncertainty.”</a:t>
            </a:r>
          </a:p>
        </p:txBody>
      </p:sp>
      <p:sp>
        <p:nvSpPr>
          <p:cNvPr id="24" name="Rounded Rectangle 23"/>
          <p:cNvSpPr/>
          <p:nvPr/>
        </p:nvSpPr>
        <p:spPr>
          <a:xfrm>
            <a:off x="7424927" y="3968496"/>
            <a:ext cx="4160520" cy="1984248"/>
          </a:xfrm>
          <a:prstGeom prst="roundRect">
            <a:avLst/>
          </a:prstGeom>
          <a:solidFill>
            <a:srgbClr val="F9E8E2"/>
          </a:solidFill>
          <a:ln w="19050">
            <a:solidFill>
              <a:srgbClr val="D87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99248" y="4215384"/>
            <a:ext cx="3611880" cy="292608"/>
          </a:xfrm>
          <a:prstGeom prst="rect">
            <a:avLst/>
          </a:prstGeom>
          <a:noFill/>
        </p:spPr>
        <p:txBody>
          <a:bodyPr wrap="square" lIns="36576" rIns="36576" tIns="18288" bIns="18288">
            <a:spAutoFit/>
          </a:bodyPr>
          <a:lstStyle/>
          <a:p>
            <a:pPr algn="l">
              <a:defRPr sz="1800" b="1">
                <a:solidFill>
                  <a:srgbClr val="D87965"/>
                </a:solidFill>
                <a:latin typeface="Aptos"/>
              </a:defRPr>
            </a:pPr>
            <a:r>
              <a:t>Ask for feedback</a:t>
            </a:r>
          </a:p>
        </p:txBody>
      </p:sp>
      <p:sp>
        <p:nvSpPr>
          <p:cNvPr id="26" name="TextBox 25"/>
          <p:cNvSpPr txBox="1"/>
          <p:nvPr/>
        </p:nvSpPr>
        <p:spPr>
          <a:xfrm>
            <a:off x="7699248" y="4663440"/>
            <a:ext cx="3520440" cy="987552"/>
          </a:xfrm>
          <a:prstGeom prst="rect">
            <a:avLst/>
          </a:prstGeom>
          <a:noFill/>
        </p:spPr>
        <p:txBody>
          <a:bodyPr wrap="square" lIns="36576" rIns="36576" tIns="18288" bIns="18288">
            <a:spAutoFit/>
          </a:bodyPr>
          <a:lstStyle/>
          <a:p>
            <a:pPr algn="l">
              <a:defRPr sz="1400" b="0">
                <a:solidFill>
                  <a:srgbClr val="173E45"/>
                </a:solidFill>
                <a:latin typeface="Aptos"/>
              </a:defRPr>
            </a:pPr>
            <a:r>
              <a:t>Is the key/scope precise?</a:t>
            </a:r>
          </a:p>
          <a:p>
            <a:pPr algn="l">
              <a:defRPr sz="1400" b="0">
                <a:solidFill>
                  <a:srgbClr val="173E45"/>
                </a:solidFill>
                <a:latin typeface="Aptos"/>
              </a:defRPr>
            </a:pPr>
            <a:r>
              <a:t>Which work should be core vs staged?</a:t>
            </a:r>
          </a:p>
          <a:p>
            <a:pPr algn="l">
              <a:defRPr sz="1400" b="0">
                <a:solidFill>
                  <a:srgbClr val="173E45"/>
                </a:solidFill>
                <a:latin typeface="Aptos"/>
              </a:defRPr>
            </a:pPr>
            <a:r>
              <a:t>What must pass before implementation?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264741"/>
                </a:solidFill>
                <a:latin typeface="Aptos"/>
              </a:rPr>
              <a:t>Pass 3 evidence • close overlaps</a:t>
            </a:r>
          </a:p>
        </p:txBody>
      </p:sp>
      <p:sp>
        <p:nvSpPr>
          <p:cNvPr id="3" name="Content Placeholder 2"/>
          <p:cNvSpPr>
            <a:spLocks noGrp="1"/>
          </p:cNvSpPr>
          <p:nvPr>
            <p:ph idx="1"/>
          </p:nvPr>
        </p:nvSpPr>
        <p:spPr/>
        <p:txBody>
          <a:bodyPr wrap="square"/>
          <a:lstStyle/>
          <a:p>
            <a:pPr>
              <a:spcAft>
                <a:spcPts val="1300"/>
              </a:spcAft>
              <a:defRPr sz="1800">
                <a:solidFill>
                  <a:srgbClr val="233033"/>
                </a:solidFill>
                <a:latin typeface="Aptos"/>
              </a:defRPr>
            </a:pPr>
            <a:r>
              <a:rPr sz="1800" b="1">
                <a:solidFill>
                  <a:srgbClr val="264741"/>
                </a:solidFill>
                <a:latin typeface="Aptos"/>
              </a:rPr>
              <a:t>Same-key commit and memory policy: </a:t>
            </a:r>
            <a:r>
              <a:rPr sz="1700" b="0">
                <a:solidFill>
                  <a:srgbClr val="233033"/>
                </a:solidFill>
                <a:latin typeface="Aptos"/>
              </a:rPr>
              <a:t>MemTX v2: evidence-bearing same-slot conflict gate; 90 cases / 5 backbones. Shared store, not async replica convergence.</a:t>
            </a:r>
          </a:p>
          <a:p>
            <a:pPr>
              <a:spcAft>
                <a:spcPts val="1300"/>
              </a:spcAft>
              <a:defRPr sz="1800">
                <a:solidFill>
                  <a:srgbClr val="233033"/>
                </a:solidFill>
                <a:latin typeface="Aptos"/>
              </a:defRPr>
            </a:pPr>
            <a:r>
              <a:rPr sz="1800" b="1">
                <a:solidFill>
                  <a:srgbClr val="264741"/>
                </a:solidFill>
                <a:latin typeface="Aptos"/>
              </a:rPr>
              <a:t>Deferral is prior art: </a:t>
            </a:r>
            <a:r>
              <a:rPr sz="1700" b="0">
                <a:solidFill>
                  <a:srgbClr val="233033"/>
                </a:solidFill>
                <a:latin typeface="Aptos"/>
              </a:rPr>
              <a:t>TARL v5: append / noop / revise / reject_conflict / defer_verify; 5,422 cases with gold next state.</a:t>
            </a:r>
          </a:p>
          <a:p>
            <a:pPr>
              <a:spcAft>
                <a:spcPts val="1300"/>
              </a:spcAft>
              <a:defRPr sz="1800">
                <a:solidFill>
                  <a:srgbClr val="233033"/>
                </a:solidFill>
                <a:latin typeface="Aptos"/>
              </a:defRPr>
            </a:pPr>
            <a:r>
              <a:rPr sz="1800" b="1">
                <a:solidFill>
                  <a:srgbClr val="264741"/>
                </a:solidFill>
                <a:latin typeface="Aptos"/>
              </a:rPr>
              <a:t>Classify then reconcile: </a:t>
            </a:r>
            <a:r>
              <a:rPr sz="1700" b="0">
                <a:solidFill>
                  <a:srgbClr val="233033"/>
                </a:solidFill>
                <a:latin typeface="Aptos"/>
              </a:rPr>
              <a:t>LatticeMind v1: Credibility vs Coordination; 73/75 on a 75-case ConflictBank set, one model.</a:t>
            </a:r>
          </a:p>
          <a:p>
            <a:pPr>
              <a:spcAft>
                <a:spcPts val="1300"/>
              </a:spcAft>
              <a:defRPr sz="1800">
                <a:solidFill>
                  <a:srgbClr val="233033"/>
                </a:solidFill>
                <a:latin typeface="Aptos"/>
              </a:defRPr>
            </a:pPr>
            <a:r>
              <a:rPr sz="1800" b="1">
                <a:solidFill>
                  <a:srgbClr val="264741"/>
                </a:solidFill>
                <a:latin typeface="Aptos"/>
              </a:rPr>
              <a:t>Sources: </a:t>
            </a:r>
            <a:r>
              <a:rPr sz="1700" b="0">
                <a:solidFill>
                  <a:srgbClr val="233033"/>
                </a:solidFill>
                <a:latin typeface="Aptos"/>
              </a:rPr>
              <a:t>arXiv:2607.23929v2 · 2608.03699v5 · 2608.08236v1</a:t>
            </a:r>
          </a:p>
        </p:txBody>
      </p:sp>
      <p:sp>
        <p:nvSpPr>
          <p:cNvPr id="4" name="TextBox 3"/>
          <p:cNvSpPr txBox="1"/>
          <p:nvPr/>
        </p:nvSpPr>
        <p:spPr>
          <a:xfrm>
            <a:off x="411480" y="6327648"/>
            <a:ext cx="10972800" cy="256032"/>
          </a:xfrm>
          <a:prstGeom prst="rect">
            <a:avLst/>
          </a:prstGeom>
          <a:noFill/>
        </p:spPr>
        <p:txBody>
          <a:bodyPr wrap="none">
            <a:spAutoFit/>
          </a:bodyPr>
          <a:lstStyle/>
          <a:p>
            <a:pPr algn="r"/>
            <a:r>
              <a:rPr sz="900" b="1">
                <a:solidFill>
                  <a:srgbClr val="964630"/>
                </a:solidFill>
                <a:latin typeface="Aptos"/>
              </a:rPr>
              <a:t>CURRENT AUDIT NOTES • SELECTED SOURCES • NOVELTY UNRESOLVED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264741"/>
                </a:solidFill>
                <a:latin typeface="Aptos"/>
              </a:rPr>
              <a:t>Async delivery • measure what converges</a:t>
            </a:r>
          </a:p>
        </p:txBody>
      </p:sp>
      <p:sp>
        <p:nvSpPr>
          <p:cNvPr id="3" name="Content Placeholder 2"/>
          <p:cNvSpPr>
            <a:spLocks noGrp="1"/>
          </p:cNvSpPr>
          <p:nvPr>
            <p:ph idx="1"/>
          </p:nvPr>
        </p:nvSpPr>
        <p:spPr/>
        <p:txBody>
          <a:bodyPr wrap="square"/>
          <a:lstStyle/>
          <a:p>
            <a:pPr>
              <a:spcAft>
                <a:spcPts val="1300"/>
              </a:spcAft>
              <a:defRPr sz="1800">
                <a:solidFill>
                  <a:srgbClr val="233033"/>
                </a:solidFill>
                <a:latin typeface="Aptos"/>
              </a:defRPr>
            </a:pPr>
            <a:r>
              <a:rPr sz="1800" b="1">
                <a:solidFill>
                  <a:srgbClr val="264741"/>
                </a:solidFill>
                <a:latin typeface="Aptos"/>
              </a:rPr>
              <a:t>Direct async example: </a:t>
            </a:r>
            <a:r>
              <a:rPr sz="1700" b="0">
                <a:solidFill>
                  <a:srgbClr val="233033"/>
                </a:solidFill>
                <a:latin typeface="Aptos"/>
              </a:rPr>
              <a:t>Governed Shared Memory v1: supersession 90/90 conditional on both writes landing; 98/200 overall.</a:t>
            </a:r>
          </a:p>
          <a:p>
            <a:pPr>
              <a:spcAft>
                <a:spcPts val="1300"/>
              </a:spcAft>
              <a:defRPr sz="1800">
                <a:solidFill>
                  <a:srgbClr val="233033"/>
                </a:solidFill>
                <a:latin typeface="Aptos"/>
              </a:defRPr>
            </a:pPr>
            <a:r>
              <a:rPr sz="1800" b="1">
                <a:solidFill>
                  <a:srgbClr val="264741"/>
                </a:solidFill>
                <a:latin typeface="Aptos"/>
              </a:rPr>
              <a:t>Admission matters: </a:t>
            </a:r>
            <a:r>
              <a:rPr sz="1700" b="0">
                <a:solidFill>
                  <a:srgbClr val="233033"/>
                </a:solidFill>
                <a:latin typeface="Aptos"/>
              </a:rPr>
              <a:t>A synchronous dedup gate rejected 206/400 writes before the asynchronous detector; report gate and detector separately.</a:t>
            </a:r>
          </a:p>
          <a:p>
            <a:pPr>
              <a:spcAft>
                <a:spcPts val="1300"/>
              </a:spcAft>
              <a:defRPr sz="1800">
                <a:solidFill>
                  <a:srgbClr val="233033"/>
                </a:solidFill>
                <a:latin typeface="Aptos"/>
              </a:defRPr>
            </a:pPr>
            <a:r>
              <a:rPr sz="1800" b="1">
                <a:solidFill>
                  <a:srgbClr val="264741"/>
                </a:solidFill>
                <a:latin typeface="Aptos"/>
              </a:rPr>
              <a:t>Different system questions: </a:t>
            </a:r>
            <a:r>
              <a:rPr sz="1700" b="0">
                <a:solidFill>
                  <a:srgbClr val="233033"/>
                </a:solidFill>
                <a:latin typeface="Aptos"/>
              </a:rPr>
              <a:t>CoAgent repairs plan invalidity; S-Bus rejects structural stale-read/write races; neither is same-key truth adjudication.</a:t>
            </a:r>
          </a:p>
          <a:p>
            <a:pPr>
              <a:spcAft>
                <a:spcPts val="1300"/>
              </a:spcAft>
              <a:defRPr sz="1800">
                <a:solidFill>
                  <a:srgbClr val="233033"/>
                </a:solidFill>
                <a:latin typeface="Aptos"/>
              </a:defRPr>
            </a:pPr>
            <a:r>
              <a:rPr sz="1800" b="1">
                <a:solidFill>
                  <a:srgbClr val="264741"/>
                </a:solidFill>
                <a:latin typeface="Aptos"/>
              </a:rPr>
              <a:t>MELD caution: </a:t>
            </a:r>
            <a:r>
              <a:rPr sz="1700" b="0">
                <a:solidFill>
                  <a:srgbClr val="233033"/>
                </a:solidFill>
                <a:latin typeface="Aptos"/>
              </a:rPr>
              <a:t>Status convergence can coexist with order-sensitive live sets / retrieval: 112/200 orderings changed the live set.</a:t>
            </a:r>
          </a:p>
        </p:txBody>
      </p:sp>
      <p:sp>
        <p:nvSpPr>
          <p:cNvPr id="4" name="TextBox 3"/>
          <p:cNvSpPr txBox="1"/>
          <p:nvPr/>
        </p:nvSpPr>
        <p:spPr>
          <a:xfrm>
            <a:off x="411480" y="6327648"/>
            <a:ext cx="10972800" cy="256032"/>
          </a:xfrm>
          <a:prstGeom prst="rect">
            <a:avLst/>
          </a:prstGeom>
          <a:noFill/>
        </p:spPr>
        <p:txBody>
          <a:bodyPr wrap="none">
            <a:spAutoFit/>
          </a:bodyPr>
          <a:lstStyle/>
          <a:p>
            <a:pPr algn="r"/>
            <a:r>
              <a:rPr sz="900" b="1">
                <a:solidFill>
                  <a:srgbClr val="964630"/>
                </a:solidFill>
                <a:latin typeface="Aptos"/>
              </a:rPr>
              <a:t>CURRENT AUDIT NOTES • SELECTED SOURCES • NOVELTY UNRESOLVED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264741"/>
                </a:solidFill>
                <a:latin typeface="Aptos"/>
              </a:rPr>
              <a:t>Strong overlap ≠ exact experiment</a:t>
            </a:r>
          </a:p>
        </p:txBody>
      </p:sp>
      <p:sp>
        <p:nvSpPr>
          <p:cNvPr id="3" name="Content Placeholder 2"/>
          <p:cNvSpPr>
            <a:spLocks noGrp="1"/>
          </p:cNvSpPr>
          <p:nvPr>
            <p:ph idx="1"/>
          </p:nvPr>
        </p:nvSpPr>
        <p:spPr/>
        <p:txBody>
          <a:bodyPr wrap="square"/>
          <a:lstStyle/>
          <a:p>
            <a:pPr>
              <a:spcAft>
                <a:spcPts val="1300"/>
              </a:spcAft>
              <a:defRPr sz="1800">
                <a:solidFill>
                  <a:srgbClr val="233033"/>
                </a:solidFill>
                <a:latin typeface="Aptos"/>
              </a:defRPr>
            </a:pPr>
            <a:r>
              <a:rPr sz="1800" b="1">
                <a:solidFill>
                  <a:srgbClr val="264741"/>
                </a:solidFill>
                <a:latin typeface="Aptos"/>
              </a:rPr>
              <a:t>StateFuse / TOKI: </a:t>
            </a:r>
            <a:r>
              <a:rPr sz="1700" b="0">
                <a:solidFill>
                  <a:srgbClr val="233033"/>
                </a:solidFill>
                <a:latin typeface="Aptos"/>
              </a:rPr>
              <a:t>Conflict-preserving replicated history, projection/abstention, provenance, time-aware policies and confirmation already appear.</a:t>
            </a:r>
          </a:p>
          <a:p>
            <a:pPr>
              <a:spcAft>
                <a:spcPts val="1300"/>
              </a:spcAft>
              <a:defRPr sz="1800">
                <a:solidFill>
                  <a:srgbClr val="233033"/>
                </a:solidFill>
                <a:latin typeface="Aptos"/>
              </a:defRPr>
            </a:pPr>
            <a:r>
              <a:rPr sz="1800" b="1">
                <a:solidFill>
                  <a:srgbClr val="264741"/>
                </a:solidFill>
                <a:latin typeface="Aptos"/>
              </a:rPr>
              <a:t>StateFuse caveat: </a:t>
            </a:r>
            <a:r>
              <a:rPr sz="1700" b="0">
                <a:solidFill>
                  <a:srgbClr val="233033"/>
                </a:solidFill>
                <a:latin typeface="Aptos"/>
              </a:rPr>
              <a:t>Same 282-case slice: Table 3 says 64.9%; prose says 97.5%. Unresolved discrepancy; controlled-loop numeric table not recovered.</a:t>
            </a:r>
          </a:p>
          <a:p>
            <a:pPr>
              <a:spcAft>
                <a:spcPts val="1300"/>
              </a:spcAft>
              <a:defRPr sz="1800">
                <a:solidFill>
                  <a:srgbClr val="233033"/>
                </a:solidFill>
                <a:latin typeface="Aptos"/>
              </a:defRPr>
            </a:pPr>
            <a:r>
              <a:rPr sz="1800" b="1">
                <a:solidFill>
                  <a:srgbClr val="264741"/>
                </a:solidFill>
                <a:latin typeface="Aptos"/>
              </a:rPr>
              <a:t>SCF scope: </a:t>
            </a:r>
            <a:r>
              <a:rPr sz="1700" b="0">
                <a:solidFill>
                  <a:srgbClr val="233033"/>
                </a:solidFill>
                <a:latin typeface="Aptos"/>
              </a:rPr>
              <a:t>600 simulated workflow runs; 27.9% precision / 65.2% recall / 39.0% F1 / 100% completion. Intent prevention ≠ claim convergence.</a:t>
            </a:r>
          </a:p>
          <a:p>
            <a:pPr>
              <a:spcAft>
                <a:spcPts val="1300"/>
              </a:spcAft>
              <a:defRPr sz="1800">
                <a:solidFill>
                  <a:srgbClr val="233033"/>
                </a:solidFill>
                <a:latin typeface="Aptos"/>
              </a:defRPr>
            </a:pPr>
            <a:r>
              <a:rPr sz="1800" b="1">
                <a:solidFill>
                  <a:srgbClr val="264741"/>
                </a:solidFill>
                <a:latin typeface="Aptos"/>
              </a:rPr>
              <a:t>Survey / code benchmark: </a:t>
            </a:r>
            <a:r>
              <a:rPr sz="1700" b="0">
                <a:solidFill>
                  <a:srgbClr val="233033"/>
                </a:solidFill>
                <a:latin typeface="Aptos"/>
              </a:rPr>
              <a:t>Always-On: scoped 435-work survey, not exhaustive. CodeCRDT 5–10% = preliminary 60/600 manual sample.</a:t>
            </a:r>
          </a:p>
        </p:txBody>
      </p:sp>
      <p:sp>
        <p:nvSpPr>
          <p:cNvPr id="4" name="TextBox 3"/>
          <p:cNvSpPr txBox="1"/>
          <p:nvPr/>
        </p:nvSpPr>
        <p:spPr>
          <a:xfrm>
            <a:off x="411480" y="6327648"/>
            <a:ext cx="10972800" cy="256032"/>
          </a:xfrm>
          <a:prstGeom prst="rect">
            <a:avLst/>
          </a:prstGeom>
          <a:noFill/>
        </p:spPr>
        <p:txBody>
          <a:bodyPr wrap="none">
            <a:spAutoFit/>
          </a:bodyPr>
          <a:lstStyle/>
          <a:p>
            <a:pPr algn="r"/>
            <a:r>
              <a:rPr sz="900" b="1">
                <a:solidFill>
                  <a:srgbClr val="964630"/>
                </a:solidFill>
                <a:latin typeface="Aptos"/>
              </a:rPr>
              <a:t>CURRENT AUDIT NOTES • SELECTED SOURCES • NOVELTY UNRESOLVED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264741"/>
                </a:solidFill>
                <a:latin typeface="Aptos"/>
              </a:rPr>
              <a:t>Verification needs context</a:t>
            </a:r>
          </a:p>
        </p:txBody>
      </p:sp>
      <p:sp>
        <p:nvSpPr>
          <p:cNvPr id="3" name="Content Placeholder 2"/>
          <p:cNvSpPr>
            <a:spLocks noGrp="1"/>
          </p:cNvSpPr>
          <p:nvPr>
            <p:ph idx="1"/>
          </p:nvPr>
        </p:nvSpPr>
        <p:spPr/>
        <p:txBody>
          <a:bodyPr wrap="square"/>
          <a:lstStyle/>
          <a:p>
            <a:pPr>
              <a:spcAft>
                <a:spcPts val="1300"/>
              </a:spcAft>
              <a:defRPr sz="1800">
                <a:solidFill>
                  <a:srgbClr val="233033"/>
                </a:solidFill>
                <a:latin typeface="Aptos"/>
              </a:defRPr>
            </a:pPr>
            <a:r>
              <a:rPr sz="1800" b="1">
                <a:solidFill>
                  <a:srgbClr val="264741"/>
                </a:solidFill>
                <a:latin typeface="Aptos"/>
              </a:rPr>
              <a:t>Evidence-pair errors: </a:t>
            </a:r>
            <a:r>
              <a:rPr sz="1700" b="0">
                <a:solidFill>
                  <a:srgbClr val="233033"/>
                </a:solidFill>
                <a:latin typeface="Aptos"/>
              </a:rPr>
              <a:t>ECon: weak-model recall limits; resolution may be unjustified or prior-informed.</a:t>
            </a:r>
          </a:p>
          <a:p>
            <a:pPr>
              <a:spcAft>
                <a:spcPts val="1300"/>
              </a:spcAft>
              <a:defRPr sz="1800">
                <a:solidFill>
                  <a:srgbClr val="233033"/>
                </a:solidFill>
                <a:latin typeface="Aptos"/>
              </a:defRPr>
            </a:pPr>
            <a:r>
              <a:rPr sz="1800" b="1">
                <a:solidFill>
                  <a:srgbClr val="264741"/>
                </a:solidFill>
                <a:latin typeface="Aptos"/>
              </a:rPr>
              <a:t>Reference mismatch: </a:t>
            </a:r>
            <a:r>
              <a:rPr sz="1700" b="0">
                <a:solidFill>
                  <a:srgbClr val="233033"/>
                </a:solidFill>
                <a:latin typeface="Aptos"/>
              </a:rPr>
              <a:t>REF-NLI: 1,143 claim/evidence pairs, including ambiguous reference/context cases.</a:t>
            </a:r>
          </a:p>
          <a:p>
            <a:pPr>
              <a:spcAft>
                <a:spcPts val="1300"/>
              </a:spcAft>
              <a:defRPr sz="1800">
                <a:solidFill>
                  <a:srgbClr val="233033"/>
                </a:solidFill>
                <a:latin typeface="Aptos"/>
              </a:defRPr>
            </a:pPr>
            <a:r>
              <a:rPr sz="1800" b="1">
                <a:solidFill>
                  <a:srgbClr val="264741"/>
                </a:solidFill>
                <a:latin typeface="Aptos"/>
              </a:rPr>
              <a:t>Adversarial NLI: </a:t>
            </a:r>
            <a:r>
              <a:rPr sz="1700" b="0">
                <a:solidFill>
                  <a:srgbClr val="233033"/>
                </a:solidFill>
                <a:latin typeface="Aptos"/>
              </a:rPr>
              <a:t>ANLI v2: ~19k / 47k / 103k examples; dev/test checked, training not fully verified.</a:t>
            </a:r>
          </a:p>
          <a:p>
            <a:pPr>
              <a:spcAft>
                <a:spcPts val="1300"/>
              </a:spcAft>
              <a:defRPr sz="1800">
                <a:solidFill>
                  <a:srgbClr val="233033"/>
                </a:solidFill>
                <a:latin typeface="Aptos"/>
              </a:defRPr>
            </a:pPr>
            <a:r>
              <a:rPr sz="1800" b="1">
                <a:solidFill>
                  <a:srgbClr val="264741"/>
                </a:solidFill>
                <a:latin typeface="Aptos"/>
              </a:rPr>
              <a:t>Abstention is not verification: </a:t>
            </a:r>
            <a:r>
              <a:rPr sz="1700" b="0">
                <a:solidFill>
                  <a:srgbClr val="233033"/>
                </a:solidFill>
                <a:latin typeface="Aptos"/>
              </a:rPr>
              <a:t>Varshney et al. (17 datasets): no method consistently beats MaxProb across IID/OOD/ADV.</a:t>
            </a:r>
          </a:p>
        </p:txBody>
      </p:sp>
      <p:sp>
        <p:nvSpPr>
          <p:cNvPr id="4" name="TextBox 3"/>
          <p:cNvSpPr txBox="1"/>
          <p:nvPr/>
        </p:nvSpPr>
        <p:spPr>
          <a:xfrm>
            <a:off x="411480" y="6327648"/>
            <a:ext cx="10972800" cy="256032"/>
          </a:xfrm>
          <a:prstGeom prst="rect">
            <a:avLst/>
          </a:prstGeom>
          <a:noFill/>
        </p:spPr>
        <p:txBody>
          <a:bodyPr wrap="none">
            <a:spAutoFit/>
          </a:bodyPr>
          <a:lstStyle/>
          <a:p>
            <a:pPr algn="r"/>
            <a:r>
              <a:rPr sz="900" b="1">
                <a:solidFill>
                  <a:srgbClr val="964630"/>
                </a:solidFill>
                <a:latin typeface="Aptos"/>
              </a:rPr>
              <a:t>CURRENT AUDIT NOTES • SELECTED SOURCES • NOVELTY UNRESOLVED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264741"/>
                </a:solidFill>
                <a:latin typeface="Aptos"/>
              </a:rPr>
              <a:t>Gate stays open • no novelty verdict</a:t>
            </a:r>
          </a:p>
        </p:txBody>
      </p:sp>
      <p:sp>
        <p:nvSpPr>
          <p:cNvPr id="3" name="Content Placeholder 2"/>
          <p:cNvSpPr>
            <a:spLocks noGrp="1"/>
          </p:cNvSpPr>
          <p:nvPr>
            <p:ph idx="1"/>
          </p:nvPr>
        </p:nvSpPr>
        <p:spPr/>
        <p:txBody>
          <a:bodyPr wrap="square"/>
          <a:lstStyle/>
          <a:p>
            <a:pPr>
              <a:spcAft>
                <a:spcPts val="1300"/>
              </a:spcAft>
              <a:defRPr sz="1800">
                <a:solidFill>
                  <a:srgbClr val="233033"/>
                </a:solidFill>
                <a:latin typeface="Aptos"/>
              </a:defRPr>
            </a:pPr>
            <a:r>
              <a:rPr sz="1800" b="1">
                <a:solidFill>
                  <a:srgbClr val="264741"/>
                </a:solidFill>
                <a:latin typeface="Aptos"/>
              </a:rPr>
              <a:t>Broad novelty is unsafe: </a:t>
            </a:r>
            <a:r>
              <a:rPr sz="1700" b="0">
                <a:solidFill>
                  <a:srgbClr val="233033"/>
                </a:solidFill>
                <a:latin typeface="Aptos"/>
              </a:rPr>
              <a:t>Classification, evidence-aware handling, defer/abstain, conflict preservation and async supersession each have close prior art.</a:t>
            </a:r>
          </a:p>
          <a:p>
            <a:pPr>
              <a:spcAft>
                <a:spcPts val="1300"/>
              </a:spcAft>
              <a:defRPr sz="1800">
                <a:solidFill>
                  <a:srgbClr val="233033"/>
                </a:solidFill>
                <a:latin typeface="Aptos"/>
              </a:defRPr>
            </a:pPr>
            <a:r>
              <a:rPr sz="1800" b="1">
                <a:solidFill>
                  <a:srgbClr val="264741"/>
                </a:solidFill>
                <a:latin typeface="Aptos"/>
              </a:rPr>
              <a:t>Candidate comparison remains untested: </a:t>
            </a:r>
            <a:r>
              <a:rPr sz="1700" b="0">
                <a:solidFill>
                  <a:srgbClr val="233033"/>
                </a:solidFill>
                <a:latin typeface="Aptos"/>
              </a:rPr>
              <a:t>Same-key relation + evidence-based Verify vs fixed-winner vs preserve-unresolved under async reordering, with defined convergence outputs.</a:t>
            </a:r>
          </a:p>
          <a:p>
            <a:pPr>
              <a:spcAft>
                <a:spcPts val="1300"/>
              </a:spcAft>
              <a:defRPr sz="1800">
                <a:solidFill>
                  <a:srgbClr val="233033"/>
                </a:solidFill>
                <a:latin typeface="Aptos"/>
              </a:defRPr>
            </a:pPr>
            <a:r>
              <a:rPr sz="1800" b="1">
                <a:solidFill>
                  <a:srgbClr val="264741"/>
                </a:solidFill>
                <a:latin typeface="Aptos"/>
              </a:rPr>
              <a:t>WH-1/2/3: </a:t>
            </a:r>
            <a:r>
              <a:rPr sz="1700" b="0">
                <a:solidFill>
                  <a:srgbClr val="233033"/>
                </a:solidFill>
                <a:latin typeface="Aptos"/>
              </a:rPr>
              <a:t>Exact authoritative definitions are missing; leave undefined and obtain the source wording.</a:t>
            </a:r>
          </a:p>
          <a:p>
            <a:pPr>
              <a:spcAft>
                <a:spcPts val="1300"/>
              </a:spcAft>
              <a:defRPr sz="1800">
                <a:solidFill>
                  <a:srgbClr val="233033"/>
                </a:solidFill>
                <a:latin typeface="Aptos"/>
              </a:defRPr>
            </a:pPr>
            <a:r>
              <a:rPr sz="1800" b="1">
                <a:solidFill>
                  <a:srgbClr val="264741"/>
                </a:solidFill>
                <a:latin typeface="Aptos"/>
              </a:rPr>
              <a:t>Scope of this appendix: </a:t>
            </a:r>
            <a:r>
              <a:rPr sz="1700" b="0">
                <a:solidFill>
                  <a:srgbClr val="233033"/>
                </a:solidFill>
                <a:latin typeface="Aptos"/>
              </a:rPr>
              <a:t>Targeted excerpts, not full source/appendix audits or independent reproduction. Pack remains provisional; no implementation or convergence proof claimed.</a:t>
            </a:r>
          </a:p>
        </p:txBody>
      </p:sp>
      <p:sp>
        <p:nvSpPr>
          <p:cNvPr id="4" name="TextBox 3"/>
          <p:cNvSpPr txBox="1"/>
          <p:nvPr/>
        </p:nvSpPr>
        <p:spPr>
          <a:xfrm>
            <a:off x="411480" y="6327648"/>
            <a:ext cx="10972800" cy="256032"/>
          </a:xfrm>
          <a:prstGeom prst="rect">
            <a:avLst/>
          </a:prstGeom>
          <a:noFill/>
        </p:spPr>
        <p:txBody>
          <a:bodyPr wrap="none">
            <a:spAutoFit/>
          </a:bodyPr>
          <a:lstStyle/>
          <a:p>
            <a:pPr algn="r"/>
            <a:r>
              <a:rPr sz="900" b="1">
                <a:solidFill>
                  <a:srgbClr val="964630"/>
                </a:solidFill>
                <a:latin typeface="Aptos"/>
              </a:rPr>
              <a:t>CURRENT AUDIT NOTES • SELECTED SOURCES • NOVELTY UNRESOLVED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